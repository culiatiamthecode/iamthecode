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8" r:id="rId4"/>
    <p:sldId id="257" r:id="rId5"/>
    <p:sldId id="260" r:id="rId6"/>
    <p:sldId id="261" r:id="rId7"/>
    <p:sldId id="263" r:id="rId8"/>
    <p:sldId id="262" r:id="rId9"/>
    <p:sldId id="265" r:id="rId10"/>
    <p:sldId id="264" r:id="rId11"/>
    <p:sldId id="266" r:id="rId12"/>
    <p:sldId id="270" r:id="rId13"/>
    <p:sldId id="269" r:id="rId14"/>
    <p:sldId id="268" r:id="rId15"/>
    <p:sldId id="267"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C1744-E7B3-463C-5A26-1A3DAA60C0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498C7FC3-9039-C76E-96F1-53549CFBFC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09E446F5-56F7-9198-C8A1-83ED3BAF6B7B}"/>
              </a:ext>
            </a:extLst>
          </p:cNvPr>
          <p:cNvSpPr>
            <a:spLocks noGrp="1"/>
          </p:cNvSpPr>
          <p:nvPr>
            <p:ph type="dt" sz="half" idx="10"/>
          </p:nvPr>
        </p:nvSpPr>
        <p:spPr/>
        <p:txBody>
          <a:bodyPr/>
          <a:lstStyle/>
          <a:p>
            <a:fld id="{0C4ADCBE-05E0-44EB-9963-03A4818ECF35}" type="datetimeFigureOut">
              <a:rPr lang="en-PH" smtClean="0"/>
              <a:t>10/01/2026</a:t>
            </a:fld>
            <a:endParaRPr lang="en-PH"/>
          </a:p>
        </p:txBody>
      </p:sp>
      <p:sp>
        <p:nvSpPr>
          <p:cNvPr id="5" name="Footer Placeholder 4">
            <a:extLst>
              <a:ext uri="{FF2B5EF4-FFF2-40B4-BE49-F238E27FC236}">
                <a16:creationId xmlns:a16="http://schemas.microsoft.com/office/drawing/2014/main" id="{1F56343C-333C-A172-9000-C8CDBD921F03}"/>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AA1F1DD6-5DBF-CD1B-1934-B569BE50638E}"/>
              </a:ext>
            </a:extLst>
          </p:cNvPr>
          <p:cNvSpPr>
            <a:spLocks noGrp="1"/>
          </p:cNvSpPr>
          <p:nvPr>
            <p:ph type="sldNum" sz="quarter" idx="12"/>
          </p:nvPr>
        </p:nvSpPr>
        <p:spPr/>
        <p:txBody>
          <a:bodyPr/>
          <a:lstStyle/>
          <a:p>
            <a:fld id="{8D99BBBF-3C18-4BE3-840B-E0F8DB27E71A}" type="slidenum">
              <a:rPr lang="en-PH" smtClean="0"/>
              <a:t>‹#›</a:t>
            </a:fld>
            <a:endParaRPr lang="en-PH"/>
          </a:p>
        </p:txBody>
      </p:sp>
    </p:spTree>
    <p:extLst>
      <p:ext uri="{BB962C8B-B14F-4D97-AF65-F5344CB8AC3E}">
        <p14:creationId xmlns:p14="http://schemas.microsoft.com/office/powerpoint/2010/main" val="1092780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2FFF1-A5AC-6C62-6965-F19C34426609}"/>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54444DFF-0EF9-57D8-38F5-51FBB4A1E2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D69E25CB-89E1-C922-F8E1-D3BB4A7A642E}"/>
              </a:ext>
            </a:extLst>
          </p:cNvPr>
          <p:cNvSpPr>
            <a:spLocks noGrp="1"/>
          </p:cNvSpPr>
          <p:nvPr>
            <p:ph type="dt" sz="half" idx="10"/>
          </p:nvPr>
        </p:nvSpPr>
        <p:spPr/>
        <p:txBody>
          <a:bodyPr/>
          <a:lstStyle/>
          <a:p>
            <a:fld id="{0C4ADCBE-05E0-44EB-9963-03A4818ECF35}" type="datetimeFigureOut">
              <a:rPr lang="en-PH" smtClean="0"/>
              <a:t>10/01/2026</a:t>
            </a:fld>
            <a:endParaRPr lang="en-PH"/>
          </a:p>
        </p:txBody>
      </p:sp>
      <p:sp>
        <p:nvSpPr>
          <p:cNvPr id="5" name="Footer Placeholder 4">
            <a:extLst>
              <a:ext uri="{FF2B5EF4-FFF2-40B4-BE49-F238E27FC236}">
                <a16:creationId xmlns:a16="http://schemas.microsoft.com/office/drawing/2014/main" id="{4DD42FF6-A042-501E-54C4-C8E9E66D046E}"/>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1F8E917C-E052-494E-4576-A9F37654B313}"/>
              </a:ext>
            </a:extLst>
          </p:cNvPr>
          <p:cNvSpPr>
            <a:spLocks noGrp="1"/>
          </p:cNvSpPr>
          <p:nvPr>
            <p:ph type="sldNum" sz="quarter" idx="12"/>
          </p:nvPr>
        </p:nvSpPr>
        <p:spPr/>
        <p:txBody>
          <a:bodyPr/>
          <a:lstStyle/>
          <a:p>
            <a:fld id="{8D99BBBF-3C18-4BE3-840B-E0F8DB27E71A}" type="slidenum">
              <a:rPr lang="en-PH" smtClean="0"/>
              <a:t>‹#›</a:t>
            </a:fld>
            <a:endParaRPr lang="en-PH"/>
          </a:p>
        </p:txBody>
      </p:sp>
    </p:spTree>
    <p:extLst>
      <p:ext uri="{BB962C8B-B14F-4D97-AF65-F5344CB8AC3E}">
        <p14:creationId xmlns:p14="http://schemas.microsoft.com/office/powerpoint/2010/main" val="28263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08E51-5799-A155-BE4C-55037CA5FE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46B668AB-16DB-D6A2-70A0-91E0542B31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7C415E-39E2-C333-45DC-7C9F3B6BEB45}"/>
              </a:ext>
            </a:extLst>
          </p:cNvPr>
          <p:cNvSpPr>
            <a:spLocks noGrp="1"/>
          </p:cNvSpPr>
          <p:nvPr>
            <p:ph type="dt" sz="half" idx="10"/>
          </p:nvPr>
        </p:nvSpPr>
        <p:spPr/>
        <p:txBody>
          <a:bodyPr/>
          <a:lstStyle/>
          <a:p>
            <a:fld id="{0C4ADCBE-05E0-44EB-9963-03A4818ECF35}" type="datetimeFigureOut">
              <a:rPr lang="en-PH" smtClean="0"/>
              <a:t>10/01/2026</a:t>
            </a:fld>
            <a:endParaRPr lang="en-PH"/>
          </a:p>
        </p:txBody>
      </p:sp>
      <p:sp>
        <p:nvSpPr>
          <p:cNvPr id="5" name="Footer Placeholder 4">
            <a:extLst>
              <a:ext uri="{FF2B5EF4-FFF2-40B4-BE49-F238E27FC236}">
                <a16:creationId xmlns:a16="http://schemas.microsoft.com/office/drawing/2014/main" id="{8AA51180-729A-29EB-CBD6-B62AAC34AD6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7B816E04-4B15-0B49-0B62-1ED491CEE359}"/>
              </a:ext>
            </a:extLst>
          </p:cNvPr>
          <p:cNvSpPr>
            <a:spLocks noGrp="1"/>
          </p:cNvSpPr>
          <p:nvPr>
            <p:ph type="sldNum" sz="quarter" idx="12"/>
          </p:nvPr>
        </p:nvSpPr>
        <p:spPr/>
        <p:txBody>
          <a:bodyPr/>
          <a:lstStyle/>
          <a:p>
            <a:fld id="{8D99BBBF-3C18-4BE3-840B-E0F8DB27E71A}" type="slidenum">
              <a:rPr lang="en-PH" smtClean="0"/>
              <a:t>‹#›</a:t>
            </a:fld>
            <a:endParaRPr lang="en-PH"/>
          </a:p>
        </p:txBody>
      </p:sp>
    </p:spTree>
    <p:extLst>
      <p:ext uri="{BB962C8B-B14F-4D97-AF65-F5344CB8AC3E}">
        <p14:creationId xmlns:p14="http://schemas.microsoft.com/office/powerpoint/2010/main" val="2890553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7CC89-1F76-F793-7C28-FAB3C01208FE}"/>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02A27511-1650-82E5-5E4F-80797DE841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E23B91EF-FB11-585D-B0B2-20DF022E7D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F9E14ABC-2182-08B7-5EAE-C8545A67FED4}"/>
              </a:ext>
            </a:extLst>
          </p:cNvPr>
          <p:cNvSpPr>
            <a:spLocks noGrp="1"/>
          </p:cNvSpPr>
          <p:nvPr>
            <p:ph type="dt" sz="half" idx="10"/>
          </p:nvPr>
        </p:nvSpPr>
        <p:spPr/>
        <p:txBody>
          <a:bodyPr/>
          <a:lstStyle/>
          <a:p>
            <a:fld id="{0C4ADCBE-05E0-44EB-9963-03A4818ECF35}" type="datetimeFigureOut">
              <a:rPr lang="en-PH" smtClean="0"/>
              <a:t>10/01/2026</a:t>
            </a:fld>
            <a:endParaRPr lang="en-PH"/>
          </a:p>
        </p:txBody>
      </p:sp>
      <p:sp>
        <p:nvSpPr>
          <p:cNvPr id="6" name="Footer Placeholder 5">
            <a:extLst>
              <a:ext uri="{FF2B5EF4-FFF2-40B4-BE49-F238E27FC236}">
                <a16:creationId xmlns:a16="http://schemas.microsoft.com/office/drawing/2014/main" id="{2DE9C8AC-6619-00F2-61BF-EE2A8B59B4E9}"/>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CC379310-8507-11DE-3F0B-1C599D6CCB0E}"/>
              </a:ext>
            </a:extLst>
          </p:cNvPr>
          <p:cNvSpPr>
            <a:spLocks noGrp="1"/>
          </p:cNvSpPr>
          <p:nvPr>
            <p:ph type="sldNum" sz="quarter" idx="12"/>
          </p:nvPr>
        </p:nvSpPr>
        <p:spPr/>
        <p:txBody>
          <a:bodyPr/>
          <a:lstStyle/>
          <a:p>
            <a:fld id="{8D99BBBF-3C18-4BE3-840B-E0F8DB27E71A}" type="slidenum">
              <a:rPr lang="en-PH" smtClean="0"/>
              <a:t>‹#›</a:t>
            </a:fld>
            <a:endParaRPr lang="en-PH"/>
          </a:p>
        </p:txBody>
      </p:sp>
    </p:spTree>
    <p:extLst>
      <p:ext uri="{BB962C8B-B14F-4D97-AF65-F5344CB8AC3E}">
        <p14:creationId xmlns:p14="http://schemas.microsoft.com/office/powerpoint/2010/main" val="1868731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BFB2A-5E3A-7042-3DDD-DD7CED9731E9}"/>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A32E7BAC-7CC0-1CCD-B2DB-1BAB425EBB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40547C-B5C4-FAFB-F340-DF17952B50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0FF821C7-DE70-429D-F453-76923CD6F9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1AD013-C5BD-AB4F-9C54-A5DEE56A6A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39E1A095-EDDF-4609-DD40-EF743E8524B5}"/>
              </a:ext>
            </a:extLst>
          </p:cNvPr>
          <p:cNvSpPr>
            <a:spLocks noGrp="1"/>
          </p:cNvSpPr>
          <p:nvPr>
            <p:ph type="dt" sz="half" idx="10"/>
          </p:nvPr>
        </p:nvSpPr>
        <p:spPr/>
        <p:txBody>
          <a:bodyPr/>
          <a:lstStyle/>
          <a:p>
            <a:fld id="{0C4ADCBE-05E0-44EB-9963-03A4818ECF35}" type="datetimeFigureOut">
              <a:rPr lang="en-PH" smtClean="0"/>
              <a:t>10/01/2026</a:t>
            </a:fld>
            <a:endParaRPr lang="en-PH"/>
          </a:p>
        </p:txBody>
      </p:sp>
      <p:sp>
        <p:nvSpPr>
          <p:cNvPr id="8" name="Footer Placeholder 7">
            <a:extLst>
              <a:ext uri="{FF2B5EF4-FFF2-40B4-BE49-F238E27FC236}">
                <a16:creationId xmlns:a16="http://schemas.microsoft.com/office/drawing/2014/main" id="{E1EE7321-2DC2-EC98-2452-F7BBE537F3C3}"/>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5F8EA0AD-36D8-98C1-421C-D90560727937}"/>
              </a:ext>
            </a:extLst>
          </p:cNvPr>
          <p:cNvSpPr>
            <a:spLocks noGrp="1"/>
          </p:cNvSpPr>
          <p:nvPr>
            <p:ph type="sldNum" sz="quarter" idx="12"/>
          </p:nvPr>
        </p:nvSpPr>
        <p:spPr/>
        <p:txBody>
          <a:bodyPr/>
          <a:lstStyle/>
          <a:p>
            <a:fld id="{8D99BBBF-3C18-4BE3-840B-E0F8DB27E71A}" type="slidenum">
              <a:rPr lang="en-PH" smtClean="0"/>
              <a:t>‹#›</a:t>
            </a:fld>
            <a:endParaRPr lang="en-PH"/>
          </a:p>
        </p:txBody>
      </p:sp>
    </p:spTree>
    <p:extLst>
      <p:ext uri="{BB962C8B-B14F-4D97-AF65-F5344CB8AC3E}">
        <p14:creationId xmlns:p14="http://schemas.microsoft.com/office/powerpoint/2010/main" val="3878348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47235-FFCB-50D0-DADA-688A7E43A037}"/>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F7168FB1-0F72-628B-F235-6FEEDED1D1D9}"/>
              </a:ext>
            </a:extLst>
          </p:cNvPr>
          <p:cNvSpPr>
            <a:spLocks noGrp="1"/>
          </p:cNvSpPr>
          <p:nvPr>
            <p:ph type="dt" sz="half" idx="10"/>
          </p:nvPr>
        </p:nvSpPr>
        <p:spPr/>
        <p:txBody>
          <a:bodyPr/>
          <a:lstStyle/>
          <a:p>
            <a:fld id="{0C4ADCBE-05E0-44EB-9963-03A4818ECF35}" type="datetimeFigureOut">
              <a:rPr lang="en-PH" smtClean="0"/>
              <a:t>10/01/2026</a:t>
            </a:fld>
            <a:endParaRPr lang="en-PH"/>
          </a:p>
        </p:txBody>
      </p:sp>
      <p:sp>
        <p:nvSpPr>
          <p:cNvPr id="4" name="Footer Placeholder 3">
            <a:extLst>
              <a:ext uri="{FF2B5EF4-FFF2-40B4-BE49-F238E27FC236}">
                <a16:creationId xmlns:a16="http://schemas.microsoft.com/office/drawing/2014/main" id="{2CA8767F-771B-9AA3-5110-E20AD91414CD}"/>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C2A4CB4C-9AFD-093D-98C9-0982571FEB49}"/>
              </a:ext>
            </a:extLst>
          </p:cNvPr>
          <p:cNvSpPr>
            <a:spLocks noGrp="1"/>
          </p:cNvSpPr>
          <p:nvPr>
            <p:ph type="sldNum" sz="quarter" idx="12"/>
          </p:nvPr>
        </p:nvSpPr>
        <p:spPr/>
        <p:txBody>
          <a:bodyPr/>
          <a:lstStyle/>
          <a:p>
            <a:fld id="{8D99BBBF-3C18-4BE3-840B-E0F8DB27E71A}" type="slidenum">
              <a:rPr lang="en-PH" smtClean="0"/>
              <a:t>‹#›</a:t>
            </a:fld>
            <a:endParaRPr lang="en-PH"/>
          </a:p>
        </p:txBody>
      </p:sp>
    </p:spTree>
    <p:extLst>
      <p:ext uri="{BB962C8B-B14F-4D97-AF65-F5344CB8AC3E}">
        <p14:creationId xmlns:p14="http://schemas.microsoft.com/office/powerpoint/2010/main" val="4177824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21B858-FC35-866D-E8D5-453502047B44}"/>
              </a:ext>
            </a:extLst>
          </p:cNvPr>
          <p:cNvSpPr>
            <a:spLocks noGrp="1"/>
          </p:cNvSpPr>
          <p:nvPr>
            <p:ph type="dt" sz="half" idx="10"/>
          </p:nvPr>
        </p:nvSpPr>
        <p:spPr/>
        <p:txBody>
          <a:bodyPr/>
          <a:lstStyle/>
          <a:p>
            <a:fld id="{0C4ADCBE-05E0-44EB-9963-03A4818ECF35}" type="datetimeFigureOut">
              <a:rPr lang="en-PH" smtClean="0"/>
              <a:t>10/01/2026</a:t>
            </a:fld>
            <a:endParaRPr lang="en-PH"/>
          </a:p>
        </p:txBody>
      </p:sp>
      <p:sp>
        <p:nvSpPr>
          <p:cNvPr id="3" name="Footer Placeholder 2">
            <a:extLst>
              <a:ext uri="{FF2B5EF4-FFF2-40B4-BE49-F238E27FC236}">
                <a16:creationId xmlns:a16="http://schemas.microsoft.com/office/drawing/2014/main" id="{5FD1637E-C6B5-8FE6-F866-4F3A17767C28}"/>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00A4EFA8-EE7D-F88A-BFB6-6858B2A7E0AF}"/>
              </a:ext>
            </a:extLst>
          </p:cNvPr>
          <p:cNvSpPr>
            <a:spLocks noGrp="1"/>
          </p:cNvSpPr>
          <p:nvPr>
            <p:ph type="sldNum" sz="quarter" idx="12"/>
          </p:nvPr>
        </p:nvSpPr>
        <p:spPr/>
        <p:txBody>
          <a:bodyPr/>
          <a:lstStyle/>
          <a:p>
            <a:fld id="{8D99BBBF-3C18-4BE3-840B-E0F8DB27E71A}" type="slidenum">
              <a:rPr lang="en-PH" smtClean="0"/>
              <a:t>‹#›</a:t>
            </a:fld>
            <a:endParaRPr lang="en-PH"/>
          </a:p>
        </p:txBody>
      </p:sp>
    </p:spTree>
    <p:extLst>
      <p:ext uri="{BB962C8B-B14F-4D97-AF65-F5344CB8AC3E}">
        <p14:creationId xmlns:p14="http://schemas.microsoft.com/office/powerpoint/2010/main" val="1867328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F914F-8372-C46B-0F75-081E1FD124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FD3B6E60-96ED-BAF9-6C82-0A651E6D58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8D1502BE-1B58-1266-27BA-F4774318F7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6737A8-727B-78BF-B81E-036C00E7BF4E}"/>
              </a:ext>
            </a:extLst>
          </p:cNvPr>
          <p:cNvSpPr>
            <a:spLocks noGrp="1"/>
          </p:cNvSpPr>
          <p:nvPr>
            <p:ph type="dt" sz="half" idx="10"/>
          </p:nvPr>
        </p:nvSpPr>
        <p:spPr/>
        <p:txBody>
          <a:bodyPr/>
          <a:lstStyle/>
          <a:p>
            <a:fld id="{0C4ADCBE-05E0-44EB-9963-03A4818ECF35}" type="datetimeFigureOut">
              <a:rPr lang="en-PH" smtClean="0"/>
              <a:t>10/01/2026</a:t>
            </a:fld>
            <a:endParaRPr lang="en-PH"/>
          </a:p>
        </p:txBody>
      </p:sp>
      <p:sp>
        <p:nvSpPr>
          <p:cNvPr id="6" name="Footer Placeholder 5">
            <a:extLst>
              <a:ext uri="{FF2B5EF4-FFF2-40B4-BE49-F238E27FC236}">
                <a16:creationId xmlns:a16="http://schemas.microsoft.com/office/drawing/2014/main" id="{4B9B1C67-E794-FFAB-A655-29B4D40F691C}"/>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0B22CC80-95AE-2B38-7D63-A042791A388C}"/>
              </a:ext>
            </a:extLst>
          </p:cNvPr>
          <p:cNvSpPr>
            <a:spLocks noGrp="1"/>
          </p:cNvSpPr>
          <p:nvPr>
            <p:ph type="sldNum" sz="quarter" idx="12"/>
          </p:nvPr>
        </p:nvSpPr>
        <p:spPr/>
        <p:txBody>
          <a:bodyPr/>
          <a:lstStyle/>
          <a:p>
            <a:fld id="{8D99BBBF-3C18-4BE3-840B-E0F8DB27E71A}" type="slidenum">
              <a:rPr lang="en-PH" smtClean="0"/>
              <a:t>‹#›</a:t>
            </a:fld>
            <a:endParaRPr lang="en-PH"/>
          </a:p>
        </p:txBody>
      </p:sp>
    </p:spTree>
    <p:extLst>
      <p:ext uri="{BB962C8B-B14F-4D97-AF65-F5344CB8AC3E}">
        <p14:creationId xmlns:p14="http://schemas.microsoft.com/office/powerpoint/2010/main" val="2612272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283B5-AD8B-F969-7C67-ABD0D775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3B6D8E97-76F0-6670-D8A4-03A3E6C9F4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C13DF740-DD38-685F-6B25-58CDCA39CC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C77D88-2A0F-3788-7CF5-DDADFEE4C264}"/>
              </a:ext>
            </a:extLst>
          </p:cNvPr>
          <p:cNvSpPr>
            <a:spLocks noGrp="1"/>
          </p:cNvSpPr>
          <p:nvPr>
            <p:ph type="dt" sz="half" idx="10"/>
          </p:nvPr>
        </p:nvSpPr>
        <p:spPr/>
        <p:txBody>
          <a:bodyPr/>
          <a:lstStyle/>
          <a:p>
            <a:fld id="{0C4ADCBE-05E0-44EB-9963-03A4818ECF35}" type="datetimeFigureOut">
              <a:rPr lang="en-PH" smtClean="0"/>
              <a:t>10/01/2026</a:t>
            </a:fld>
            <a:endParaRPr lang="en-PH"/>
          </a:p>
        </p:txBody>
      </p:sp>
      <p:sp>
        <p:nvSpPr>
          <p:cNvPr id="6" name="Footer Placeholder 5">
            <a:extLst>
              <a:ext uri="{FF2B5EF4-FFF2-40B4-BE49-F238E27FC236}">
                <a16:creationId xmlns:a16="http://schemas.microsoft.com/office/drawing/2014/main" id="{B08857EE-2CA4-3838-4452-5841E62223E9}"/>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93A1B0B7-626B-25CD-3299-117F379D2593}"/>
              </a:ext>
            </a:extLst>
          </p:cNvPr>
          <p:cNvSpPr>
            <a:spLocks noGrp="1"/>
          </p:cNvSpPr>
          <p:nvPr>
            <p:ph type="sldNum" sz="quarter" idx="12"/>
          </p:nvPr>
        </p:nvSpPr>
        <p:spPr/>
        <p:txBody>
          <a:bodyPr/>
          <a:lstStyle/>
          <a:p>
            <a:fld id="{8D99BBBF-3C18-4BE3-840B-E0F8DB27E71A}" type="slidenum">
              <a:rPr lang="en-PH" smtClean="0"/>
              <a:t>‹#›</a:t>
            </a:fld>
            <a:endParaRPr lang="en-PH"/>
          </a:p>
        </p:txBody>
      </p:sp>
    </p:spTree>
    <p:extLst>
      <p:ext uri="{BB962C8B-B14F-4D97-AF65-F5344CB8AC3E}">
        <p14:creationId xmlns:p14="http://schemas.microsoft.com/office/powerpoint/2010/main" val="71558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254DD-6340-BAF1-29E9-205BED87FFEF}"/>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46BB0F2D-7D35-BE8B-FDF9-507E13F28A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19060BC8-29F2-96FD-1974-A6840271B474}"/>
              </a:ext>
            </a:extLst>
          </p:cNvPr>
          <p:cNvSpPr>
            <a:spLocks noGrp="1"/>
          </p:cNvSpPr>
          <p:nvPr>
            <p:ph type="dt" sz="half" idx="10"/>
          </p:nvPr>
        </p:nvSpPr>
        <p:spPr/>
        <p:txBody>
          <a:bodyPr/>
          <a:lstStyle/>
          <a:p>
            <a:fld id="{0C4ADCBE-05E0-44EB-9963-03A4818ECF35}" type="datetimeFigureOut">
              <a:rPr lang="en-PH" smtClean="0"/>
              <a:t>10/01/2026</a:t>
            </a:fld>
            <a:endParaRPr lang="en-PH"/>
          </a:p>
        </p:txBody>
      </p:sp>
      <p:sp>
        <p:nvSpPr>
          <p:cNvPr id="5" name="Footer Placeholder 4">
            <a:extLst>
              <a:ext uri="{FF2B5EF4-FFF2-40B4-BE49-F238E27FC236}">
                <a16:creationId xmlns:a16="http://schemas.microsoft.com/office/drawing/2014/main" id="{6756F63A-001B-72D3-57DC-7AABB0B5C584}"/>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E22E37F4-350A-2C74-BEEC-06F951999FCC}"/>
              </a:ext>
            </a:extLst>
          </p:cNvPr>
          <p:cNvSpPr>
            <a:spLocks noGrp="1"/>
          </p:cNvSpPr>
          <p:nvPr>
            <p:ph type="sldNum" sz="quarter" idx="12"/>
          </p:nvPr>
        </p:nvSpPr>
        <p:spPr/>
        <p:txBody>
          <a:bodyPr/>
          <a:lstStyle/>
          <a:p>
            <a:fld id="{8D99BBBF-3C18-4BE3-840B-E0F8DB27E71A}" type="slidenum">
              <a:rPr lang="en-PH" smtClean="0"/>
              <a:t>‹#›</a:t>
            </a:fld>
            <a:endParaRPr lang="en-PH"/>
          </a:p>
        </p:txBody>
      </p:sp>
    </p:spTree>
    <p:extLst>
      <p:ext uri="{BB962C8B-B14F-4D97-AF65-F5344CB8AC3E}">
        <p14:creationId xmlns:p14="http://schemas.microsoft.com/office/powerpoint/2010/main" val="3362537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6C4B95-CAB2-2EA0-D5DB-DFB55610CEE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54AF2EF1-31D3-5F97-44A9-05C349DFF0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4730E30C-5CF4-7B51-B66C-8D2D5C1A09FB}"/>
              </a:ext>
            </a:extLst>
          </p:cNvPr>
          <p:cNvSpPr>
            <a:spLocks noGrp="1"/>
          </p:cNvSpPr>
          <p:nvPr>
            <p:ph type="dt" sz="half" idx="10"/>
          </p:nvPr>
        </p:nvSpPr>
        <p:spPr/>
        <p:txBody>
          <a:bodyPr/>
          <a:lstStyle/>
          <a:p>
            <a:fld id="{0C4ADCBE-05E0-44EB-9963-03A4818ECF35}" type="datetimeFigureOut">
              <a:rPr lang="en-PH" smtClean="0"/>
              <a:t>10/01/2026</a:t>
            </a:fld>
            <a:endParaRPr lang="en-PH"/>
          </a:p>
        </p:txBody>
      </p:sp>
      <p:sp>
        <p:nvSpPr>
          <p:cNvPr id="5" name="Footer Placeholder 4">
            <a:extLst>
              <a:ext uri="{FF2B5EF4-FFF2-40B4-BE49-F238E27FC236}">
                <a16:creationId xmlns:a16="http://schemas.microsoft.com/office/drawing/2014/main" id="{93039C7D-3694-C076-4CC7-AD9CC515E0CE}"/>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3285E21C-E372-5360-4DB8-CEE9B0387EE6}"/>
              </a:ext>
            </a:extLst>
          </p:cNvPr>
          <p:cNvSpPr>
            <a:spLocks noGrp="1"/>
          </p:cNvSpPr>
          <p:nvPr>
            <p:ph type="sldNum" sz="quarter" idx="12"/>
          </p:nvPr>
        </p:nvSpPr>
        <p:spPr/>
        <p:txBody>
          <a:bodyPr/>
          <a:lstStyle/>
          <a:p>
            <a:fld id="{8D99BBBF-3C18-4BE3-840B-E0F8DB27E71A}" type="slidenum">
              <a:rPr lang="en-PH" smtClean="0"/>
              <a:t>‹#›</a:t>
            </a:fld>
            <a:endParaRPr lang="en-PH"/>
          </a:p>
        </p:txBody>
      </p:sp>
    </p:spTree>
    <p:extLst>
      <p:ext uri="{BB962C8B-B14F-4D97-AF65-F5344CB8AC3E}">
        <p14:creationId xmlns:p14="http://schemas.microsoft.com/office/powerpoint/2010/main" val="4181231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EA4026-8F2C-1D4E-1DE3-F702191377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702D64AA-A0B9-804C-C250-6B60B6C11F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A61BB099-F769-5F68-38F4-0738B5D9B6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4ADCBE-05E0-44EB-9963-03A4818ECF35}" type="datetimeFigureOut">
              <a:rPr lang="en-PH" smtClean="0"/>
              <a:t>10/01/2026</a:t>
            </a:fld>
            <a:endParaRPr lang="en-PH"/>
          </a:p>
        </p:txBody>
      </p:sp>
      <p:sp>
        <p:nvSpPr>
          <p:cNvPr id="5" name="Footer Placeholder 4">
            <a:extLst>
              <a:ext uri="{FF2B5EF4-FFF2-40B4-BE49-F238E27FC236}">
                <a16:creationId xmlns:a16="http://schemas.microsoft.com/office/drawing/2014/main" id="{0532140B-C943-E456-DCBC-988B531A47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47E20D39-8A1C-8B34-E217-BF67313835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99BBBF-3C18-4BE3-840B-E0F8DB27E71A}" type="slidenum">
              <a:rPr lang="en-PH" smtClean="0"/>
              <a:t>‹#›</a:t>
            </a:fld>
            <a:endParaRPr lang="en-PH"/>
          </a:p>
        </p:txBody>
      </p:sp>
    </p:spTree>
    <p:extLst>
      <p:ext uri="{BB962C8B-B14F-4D97-AF65-F5344CB8AC3E}">
        <p14:creationId xmlns:p14="http://schemas.microsoft.com/office/powerpoint/2010/main" val="28274794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7D8668D-CFAF-026F-E9AC-AE8493076AE1}"/>
              </a:ext>
            </a:extLst>
          </p:cNvPr>
          <p:cNvSpPr txBox="1"/>
          <p:nvPr/>
        </p:nvSpPr>
        <p:spPr>
          <a:xfrm>
            <a:off x="430076" y="264155"/>
            <a:ext cx="11331847" cy="1323439"/>
          </a:xfrm>
          <a:prstGeom prst="rect">
            <a:avLst/>
          </a:prstGeom>
          <a:noFill/>
        </p:spPr>
        <p:txBody>
          <a:bodyPr wrap="square">
            <a:spAutoFit/>
          </a:bodyPr>
          <a:lstStyle/>
          <a:p>
            <a:r>
              <a:rPr lang="en-US" sz="4000" b="0" i="0" dirty="0">
                <a:solidFill>
                  <a:srgbClr val="202124"/>
                </a:solidFill>
                <a:effectLst/>
                <a:latin typeface="docs-Roboto"/>
              </a:rPr>
              <a:t>1.How would you ensure the right security and privacy in your social media account?  </a:t>
            </a:r>
            <a:endParaRPr lang="en-PH" sz="4000" dirty="0"/>
          </a:p>
        </p:txBody>
      </p:sp>
      <p:sp>
        <p:nvSpPr>
          <p:cNvPr id="7" name="TextBox 6">
            <a:extLst>
              <a:ext uri="{FF2B5EF4-FFF2-40B4-BE49-F238E27FC236}">
                <a16:creationId xmlns:a16="http://schemas.microsoft.com/office/drawing/2014/main" id="{8DBFB8D7-A32F-9EDC-81C5-DF9E41A290F2}"/>
              </a:ext>
            </a:extLst>
          </p:cNvPr>
          <p:cNvSpPr txBox="1"/>
          <p:nvPr/>
        </p:nvSpPr>
        <p:spPr>
          <a:xfrm>
            <a:off x="668533" y="1587594"/>
            <a:ext cx="10830739" cy="707886"/>
          </a:xfrm>
          <a:prstGeom prst="rect">
            <a:avLst/>
          </a:prstGeom>
          <a:noFill/>
        </p:spPr>
        <p:txBody>
          <a:bodyPr wrap="square">
            <a:spAutoFit/>
          </a:bodyPr>
          <a:lstStyle/>
          <a:p>
            <a:r>
              <a:rPr lang="en-US" sz="4000" dirty="0" err="1"/>
              <a:t>A.Do</a:t>
            </a:r>
            <a:r>
              <a:rPr lang="en-US" sz="4000" dirty="0"/>
              <a:t> not divulge any information.</a:t>
            </a:r>
            <a:endParaRPr lang="en-PH" sz="4000" dirty="0"/>
          </a:p>
        </p:txBody>
      </p:sp>
      <p:sp>
        <p:nvSpPr>
          <p:cNvPr id="9" name="TextBox 8">
            <a:extLst>
              <a:ext uri="{FF2B5EF4-FFF2-40B4-BE49-F238E27FC236}">
                <a16:creationId xmlns:a16="http://schemas.microsoft.com/office/drawing/2014/main" id="{6BE8F95C-04B0-32A6-A382-65BE4602A35E}"/>
              </a:ext>
            </a:extLst>
          </p:cNvPr>
          <p:cNvSpPr txBox="1"/>
          <p:nvPr/>
        </p:nvSpPr>
        <p:spPr>
          <a:xfrm>
            <a:off x="668533" y="2105561"/>
            <a:ext cx="11398776" cy="1323439"/>
          </a:xfrm>
          <a:prstGeom prst="rect">
            <a:avLst/>
          </a:prstGeom>
          <a:noFill/>
        </p:spPr>
        <p:txBody>
          <a:bodyPr wrap="square">
            <a:spAutoFit/>
          </a:bodyPr>
          <a:lstStyle/>
          <a:p>
            <a:r>
              <a:rPr lang="en-US" sz="4000" dirty="0" err="1"/>
              <a:t>B.Keep</a:t>
            </a:r>
            <a:r>
              <a:rPr lang="en-US" sz="4000" dirty="0"/>
              <a:t> friends that are known to you and do not accept unfamiliar people.</a:t>
            </a:r>
            <a:endParaRPr lang="en-PH" sz="4000" dirty="0"/>
          </a:p>
        </p:txBody>
      </p:sp>
      <p:sp>
        <p:nvSpPr>
          <p:cNvPr id="11" name="TextBox 10">
            <a:extLst>
              <a:ext uri="{FF2B5EF4-FFF2-40B4-BE49-F238E27FC236}">
                <a16:creationId xmlns:a16="http://schemas.microsoft.com/office/drawing/2014/main" id="{83AAE331-52B0-18C9-44BD-6D74B8D157A6}"/>
              </a:ext>
            </a:extLst>
          </p:cNvPr>
          <p:cNvSpPr txBox="1"/>
          <p:nvPr/>
        </p:nvSpPr>
        <p:spPr>
          <a:xfrm>
            <a:off x="557111" y="3300864"/>
            <a:ext cx="11204812" cy="1200329"/>
          </a:xfrm>
          <a:prstGeom prst="rect">
            <a:avLst/>
          </a:prstGeom>
          <a:noFill/>
        </p:spPr>
        <p:txBody>
          <a:bodyPr wrap="square">
            <a:spAutoFit/>
          </a:bodyPr>
          <a:lstStyle/>
          <a:p>
            <a:r>
              <a:rPr lang="en-US" sz="3600" dirty="0" err="1"/>
              <a:t>C.Set</a:t>
            </a:r>
            <a:r>
              <a:rPr lang="en-US" sz="3600" dirty="0"/>
              <a:t> your social media account into invisible so that you are completely  safe.</a:t>
            </a:r>
            <a:endParaRPr lang="en-PH" sz="3600" dirty="0"/>
          </a:p>
        </p:txBody>
      </p:sp>
      <p:sp>
        <p:nvSpPr>
          <p:cNvPr id="15" name="TextBox 14">
            <a:extLst>
              <a:ext uri="{FF2B5EF4-FFF2-40B4-BE49-F238E27FC236}">
                <a16:creationId xmlns:a16="http://schemas.microsoft.com/office/drawing/2014/main" id="{90BE7F58-3187-1A31-E9F0-A88FE47F20D1}"/>
              </a:ext>
            </a:extLst>
          </p:cNvPr>
          <p:cNvSpPr txBox="1"/>
          <p:nvPr/>
        </p:nvSpPr>
        <p:spPr>
          <a:xfrm>
            <a:off x="543842" y="4492036"/>
            <a:ext cx="10955430" cy="1323439"/>
          </a:xfrm>
          <a:prstGeom prst="rect">
            <a:avLst/>
          </a:prstGeom>
          <a:noFill/>
        </p:spPr>
        <p:txBody>
          <a:bodyPr wrap="square">
            <a:spAutoFit/>
          </a:bodyPr>
          <a:lstStyle/>
          <a:p>
            <a:r>
              <a:rPr lang="en-US" sz="4000" dirty="0" err="1"/>
              <a:t>D.Set</a:t>
            </a:r>
            <a:r>
              <a:rPr lang="en-US" sz="4000" dirty="0"/>
              <a:t> your social media account into invisible so that you are completely  safe.</a:t>
            </a:r>
            <a:endParaRPr lang="en-PH" sz="4000" dirty="0"/>
          </a:p>
        </p:txBody>
      </p:sp>
      <p:sp>
        <p:nvSpPr>
          <p:cNvPr id="16" name="TextBox 15">
            <a:extLst>
              <a:ext uri="{FF2B5EF4-FFF2-40B4-BE49-F238E27FC236}">
                <a16:creationId xmlns:a16="http://schemas.microsoft.com/office/drawing/2014/main" id="{84E27713-7860-CC07-7047-C7346A3110C8}"/>
              </a:ext>
            </a:extLst>
          </p:cNvPr>
          <p:cNvSpPr txBox="1"/>
          <p:nvPr/>
        </p:nvSpPr>
        <p:spPr>
          <a:xfrm>
            <a:off x="7800107" y="5688931"/>
            <a:ext cx="4156365" cy="923330"/>
          </a:xfrm>
          <a:prstGeom prst="rect">
            <a:avLst/>
          </a:prstGeom>
          <a:noFill/>
        </p:spPr>
        <p:txBody>
          <a:bodyPr wrap="square" rtlCol="0">
            <a:spAutoFit/>
          </a:bodyPr>
          <a:lstStyle/>
          <a:p>
            <a:r>
              <a:rPr lang="en-PH" sz="5400" dirty="0">
                <a:solidFill>
                  <a:srgbClr val="FF0000"/>
                </a:solidFill>
              </a:rPr>
              <a:t>ANSWER: D</a:t>
            </a:r>
          </a:p>
        </p:txBody>
      </p:sp>
    </p:spTree>
    <p:extLst>
      <p:ext uri="{BB962C8B-B14F-4D97-AF65-F5344CB8AC3E}">
        <p14:creationId xmlns:p14="http://schemas.microsoft.com/office/powerpoint/2010/main" val="2938565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ircle(in)">
                                      <p:cBhvr>
                                        <p:cTn id="7"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26E039-2A44-9ED5-152E-F4CCBCDC7C68}"/>
              </a:ext>
            </a:extLst>
          </p:cNvPr>
          <p:cNvSpPr txBox="1"/>
          <p:nvPr/>
        </p:nvSpPr>
        <p:spPr>
          <a:xfrm>
            <a:off x="360218" y="290945"/>
            <a:ext cx="11637818" cy="1323439"/>
          </a:xfrm>
          <a:prstGeom prst="rect">
            <a:avLst/>
          </a:prstGeom>
          <a:noFill/>
        </p:spPr>
        <p:txBody>
          <a:bodyPr wrap="square">
            <a:spAutoFit/>
          </a:bodyPr>
          <a:lstStyle/>
          <a:p>
            <a:r>
              <a:rPr lang="en-US" sz="4000" b="0" i="0" dirty="0">
                <a:solidFill>
                  <a:srgbClr val="202124"/>
                </a:solidFill>
                <a:effectLst/>
                <a:latin typeface="docs-Roboto"/>
              </a:rPr>
              <a:t>2.Which of the following is NOT true about plagiarism?  </a:t>
            </a:r>
            <a:endParaRPr lang="en-PH" sz="4000" dirty="0"/>
          </a:p>
        </p:txBody>
      </p:sp>
      <p:sp>
        <p:nvSpPr>
          <p:cNvPr id="5" name="TextBox 4">
            <a:extLst>
              <a:ext uri="{FF2B5EF4-FFF2-40B4-BE49-F238E27FC236}">
                <a16:creationId xmlns:a16="http://schemas.microsoft.com/office/drawing/2014/main" id="{8BC35B45-556C-AC3E-DA2E-A61364CBC12D}"/>
              </a:ext>
            </a:extLst>
          </p:cNvPr>
          <p:cNvSpPr txBox="1"/>
          <p:nvPr/>
        </p:nvSpPr>
        <p:spPr>
          <a:xfrm>
            <a:off x="879763" y="1637368"/>
            <a:ext cx="10030692" cy="707886"/>
          </a:xfrm>
          <a:prstGeom prst="rect">
            <a:avLst/>
          </a:prstGeom>
          <a:noFill/>
        </p:spPr>
        <p:txBody>
          <a:bodyPr wrap="square">
            <a:spAutoFit/>
          </a:bodyPr>
          <a:lstStyle/>
          <a:p>
            <a:r>
              <a:rPr lang="en-US" sz="4000" dirty="0" err="1"/>
              <a:t>A.It</a:t>
            </a:r>
            <a:r>
              <a:rPr lang="en-US" sz="4000" dirty="0"/>
              <a:t> includes other people’s ideas in the paper.</a:t>
            </a:r>
            <a:endParaRPr lang="en-PH" sz="4000" dirty="0"/>
          </a:p>
        </p:txBody>
      </p:sp>
      <p:sp>
        <p:nvSpPr>
          <p:cNvPr id="7" name="TextBox 6">
            <a:extLst>
              <a:ext uri="{FF2B5EF4-FFF2-40B4-BE49-F238E27FC236}">
                <a16:creationId xmlns:a16="http://schemas.microsoft.com/office/drawing/2014/main" id="{6727B7F9-4D09-6254-9B2B-090733FD14BF}"/>
              </a:ext>
            </a:extLst>
          </p:cNvPr>
          <p:cNvSpPr txBox="1"/>
          <p:nvPr/>
        </p:nvSpPr>
        <p:spPr>
          <a:xfrm>
            <a:off x="879763" y="2395992"/>
            <a:ext cx="10432473" cy="1323439"/>
          </a:xfrm>
          <a:prstGeom prst="rect">
            <a:avLst/>
          </a:prstGeom>
          <a:noFill/>
        </p:spPr>
        <p:txBody>
          <a:bodyPr wrap="square">
            <a:spAutoFit/>
          </a:bodyPr>
          <a:lstStyle/>
          <a:p>
            <a:r>
              <a:rPr lang="en-US" sz="4000" dirty="0" err="1"/>
              <a:t>B.It</a:t>
            </a:r>
            <a:r>
              <a:rPr lang="en-US" sz="4000" dirty="0"/>
              <a:t> uses someone’s ideas in the paper without citing the   source.</a:t>
            </a:r>
            <a:endParaRPr lang="en-PH" sz="4000" dirty="0"/>
          </a:p>
        </p:txBody>
      </p:sp>
      <p:sp>
        <p:nvSpPr>
          <p:cNvPr id="9" name="TextBox 8">
            <a:extLst>
              <a:ext uri="{FF2B5EF4-FFF2-40B4-BE49-F238E27FC236}">
                <a16:creationId xmlns:a16="http://schemas.microsoft.com/office/drawing/2014/main" id="{4537583E-16DC-6390-B9F1-E32EFB1B3A58}"/>
              </a:ext>
            </a:extLst>
          </p:cNvPr>
          <p:cNvSpPr txBox="1"/>
          <p:nvPr/>
        </p:nvSpPr>
        <p:spPr>
          <a:xfrm>
            <a:off x="879763" y="3668692"/>
            <a:ext cx="9712036" cy="1323439"/>
          </a:xfrm>
          <a:prstGeom prst="rect">
            <a:avLst/>
          </a:prstGeom>
          <a:noFill/>
        </p:spPr>
        <p:txBody>
          <a:bodyPr wrap="square">
            <a:spAutoFit/>
          </a:bodyPr>
          <a:lstStyle/>
          <a:p>
            <a:r>
              <a:rPr lang="en-US" sz="4000" dirty="0" err="1"/>
              <a:t>C.It</a:t>
            </a:r>
            <a:r>
              <a:rPr lang="en-US" sz="4000" dirty="0"/>
              <a:t> directly quotes a source instead    of using one’s own words.</a:t>
            </a:r>
            <a:endParaRPr lang="en-PH" sz="4000" dirty="0"/>
          </a:p>
        </p:txBody>
      </p:sp>
      <p:sp>
        <p:nvSpPr>
          <p:cNvPr id="11" name="TextBox 10">
            <a:extLst>
              <a:ext uri="{FF2B5EF4-FFF2-40B4-BE49-F238E27FC236}">
                <a16:creationId xmlns:a16="http://schemas.microsoft.com/office/drawing/2014/main" id="{C75BE1E4-CD44-1335-A500-15EB8CDD6E6A}"/>
              </a:ext>
            </a:extLst>
          </p:cNvPr>
          <p:cNvSpPr txBox="1"/>
          <p:nvPr/>
        </p:nvSpPr>
        <p:spPr>
          <a:xfrm>
            <a:off x="879763" y="4966569"/>
            <a:ext cx="11049001" cy="1323439"/>
          </a:xfrm>
          <a:prstGeom prst="rect">
            <a:avLst/>
          </a:prstGeom>
          <a:noFill/>
        </p:spPr>
        <p:txBody>
          <a:bodyPr wrap="square">
            <a:spAutoFit/>
          </a:bodyPr>
          <a:lstStyle/>
          <a:p>
            <a:r>
              <a:rPr lang="en-US" sz="4000" dirty="0" err="1"/>
              <a:t>D.It</a:t>
            </a:r>
            <a:r>
              <a:rPr lang="en-US" sz="4000" dirty="0"/>
              <a:t> is a form of harassment using    electronic forms of contact</a:t>
            </a:r>
            <a:endParaRPr lang="en-PH" sz="4000" dirty="0"/>
          </a:p>
        </p:txBody>
      </p:sp>
      <p:sp>
        <p:nvSpPr>
          <p:cNvPr id="12" name="TextBox 11">
            <a:extLst>
              <a:ext uri="{FF2B5EF4-FFF2-40B4-BE49-F238E27FC236}">
                <a16:creationId xmlns:a16="http://schemas.microsoft.com/office/drawing/2014/main" id="{E8864C92-8778-61FD-0F95-5DA4F5DEE1F5}"/>
              </a:ext>
            </a:extLst>
          </p:cNvPr>
          <p:cNvSpPr txBox="1"/>
          <p:nvPr/>
        </p:nvSpPr>
        <p:spPr>
          <a:xfrm>
            <a:off x="7772399" y="5828343"/>
            <a:ext cx="4156365" cy="923330"/>
          </a:xfrm>
          <a:prstGeom prst="rect">
            <a:avLst/>
          </a:prstGeom>
          <a:noFill/>
        </p:spPr>
        <p:txBody>
          <a:bodyPr wrap="square" rtlCol="0">
            <a:spAutoFit/>
          </a:bodyPr>
          <a:lstStyle/>
          <a:p>
            <a:r>
              <a:rPr lang="en-PH" sz="5400" dirty="0">
                <a:solidFill>
                  <a:srgbClr val="FF0000"/>
                </a:solidFill>
              </a:rPr>
              <a:t>ANSWER: D</a:t>
            </a:r>
          </a:p>
        </p:txBody>
      </p:sp>
    </p:spTree>
    <p:extLst>
      <p:ext uri="{BB962C8B-B14F-4D97-AF65-F5344CB8AC3E}">
        <p14:creationId xmlns:p14="http://schemas.microsoft.com/office/powerpoint/2010/main" val="1397763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898921-0F97-8290-B04D-347CEC925433}"/>
              </a:ext>
            </a:extLst>
          </p:cNvPr>
          <p:cNvSpPr txBox="1"/>
          <p:nvPr/>
        </p:nvSpPr>
        <p:spPr>
          <a:xfrm>
            <a:off x="0" y="110836"/>
            <a:ext cx="12067309" cy="2308324"/>
          </a:xfrm>
          <a:prstGeom prst="rect">
            <a:avLst/>
          </a:prstGeom>
          <a:noFill/>
        </p:spPr>
        <p:txBody>
          <a:bodyPr wrap="square">
            <a:spAutoFit/>
          </a:bodyPr>
          <a:lstStyle/>
          <a:p>
            <a:pPr algn="l"/>
            <a:r>
              <a:rPr lang="en-US" sz="2400" b="0" i="0" dirty="0">
                <a:solidFill>
                  <a:srgbClr val="202124"/>
                </a:solidFill>
                <a:effectLst/>
                <a:latin typeface="docs-Roboto"/>
              </a:rPr>
              <a:t>3. Maria sees a post on social media claiming that </a:t>
            </a:r>
            <a:r>
              <a:rPr lang="en-US" sz="2400" b="1" i="0" dirty="0">
                <a:solidFill>
                  <a:srgbClr val="202124"/>
                </a:solidFill>
                <a:effectLst/>
                <a:latin typeface="docs-Roboto"/>
              </a:rPr>
              <a:t>“Drinking a special herbal tea can cure dengue fever in 24 hours.”</a:t>
            </a:r>
            <a:br>
              <a:rPr lang="en-US" sz="2400" dirty="0"/>
            </a:br>
            <a:r>
              <a:rPr lang="en-US" sz="2400" b="0" i="0" dirty="0">
                <a:solidFill>
                  <a:srgbClr val="202124"/>
                </a:solidFill>
                <a:effectLst/>
                <a:latin typeface="docs-Roboto"/>
              </a:rPr>
              <a:t>The post has thousands of likes and shares but does not mention any doctor, hospital, or scientific study. The image used looks professional and includes a logo that resembles a health organization.  What is the </a:t>
            </a:r>
            <a:r>
              <a:rPr lang="en-US" sz="2400" b="1" i="0" dirty="0">
                <a:solidFill>
                  <a:srgbClr val="202124"/>
                </a:solidFill>
                <a:effectLst/>
                <a:latin typeface="docs-Roboto"/>
              </a:rPr>
              <a:t>most important reason</a:t>
            </a:r>
            <a:r>
              <a:rPr lang="en-US" sz="2400" b="0" i="0" dirty="0">
                <a:solidFill>
                  <a:srgbClr val="202124"/>
                </a:solidFill>
                <a:effectLst/>
                <a:latin typeface="docs-Roboto"/>
              </a:rPr>
              <a:t> Maria should be cautious about sharing this post?</a:t>
            </a:r>
          </a:p>
        </p:txBody>
      </p:sp>
      <p:sp>
        <p:nvSpPr>
          <p:cNvPr id="5" name="TextBox 4">
            <a:extLst>
              <a:ext uri="{FF2B5EF4-FFF2-40B4-BE49-F238E27FC236}">
                <a16:creationId xmlns:a16="http://schemas.microsoft.com/office/drawing/2014/main" id="{36AF6898-8CC1-1E3D-9119-4423E9C5088F}"/>
              </a:ext>
            </a:extLst>
          </p:cNvPr>
          <p:cNvSpPr txBox="1"/>
          <p:nvPr/>
        </p:nvSpPr>
        <p:spPr>
          <a:xfrm>
            <a:off x="1783773" y="2499565"/>
            <a:ext cx="9334500" cy="707886"/>
          </a:xfrm>
          <a:prstGeom prst="rect">
            <a:avLst/>
          </a:prstGeom>
          <a:noFill/>
        </p:spPr>
        <p:txBody>
          <a:bodyPr wrap="square">
            <a:spAutoFit/>
          </a:bodyPr>
          <a:lstStyle/>
          <a:p>
            <a:r>
              <a:rPr lang="en-PH" sz="4000" dirty="0" err="1"/>
              <a:t>A.The</a:t>
            </a:r>
            <a:r>
              <a:rPr lang="en-PH" sz="4000" dirty="0"/>
              <a:t> image looks edited</a:t>
            </a:r>
          </a:p>
        </p:txBody>
      </p:sp>
      <p:sp>
        <p:nvSpPr>
          <p:cNvPr id="7" name="TextBox 6">
            <a:extLst>
              <a:ext uri="{FF2B5EF4-FFF2-40B4-BE49-F238E27FC236}">
                <a16:creationId xmlns:a16="http://schemas.microsoft.com/office/drawing/2014/main" id="{C8266BFD-7249-80A5-3D83-EB28597E7CA0}"/>
              </a:ext>
            </a:extLst>
          </p:cNvPr>
          <p:cNvSpPr txBox="1"/>
          <p:nvPr/>
        </p:nvSpPr>
        <p:spPr>
          <a:xfrm>
            <a:off x="1714500" y="3289826"/>
            <a:ext cx="9473046" cy="707886"/>
          </a:xfrm>
          <a:prstGeom prst="rect">
            <a:avLst/>
          </a:prstGeom>
          <a:noFill/>
        </p:spPr>
        <p:txBody>
          <a:bodyPr wrap="square">
            <a:spAutoFit/>
          </a:bodyPr>
          <a:lstStyle/>
          <a:p>
            <a:r>
              <a:rPr lang="en-US" sz="4000" dirty="0" err="1"/>
              <a:t>B.The</a:t>
            </a:r>
            <a:r>
              <a:rPr lang="en-US" sz="4000" dirty="0"/>
              <a:t> claim is about health, not news</a:t>
            </a:r>
            <a:endParaRPr lang="en-PH" sz="4000" dirty="0"/>
          </a:p>
        </p:txBody>
      </p:sp>
      <p:sp>
        <p:nvSpPr>
          <p:cNvPr id="9" name="TextBox 8">
            <a:extLst>
              <a:ext uri="{FF2B5EF4-FFF2-40B4-BE49-F238E27FC236}">
                <a16:creationId xmlns:a16="http://schemas.microsoft.com/office/drawing/2014/main" id="{9F570996-94FA-072F-3A0D-155DF61AB74F}"/>
              </a:ext>
            </a:extLst>
          </p:cNvPr>
          <p:cNvSpPr txBox="1"/>
          <p:nvPr/>
        </p:nvSpPr>
        <p:spPr>
          <a:xfrm>
            <a:off x="1655619" y="4080087"/>
            <a:ext cx="9729354" cy="707886"/>
          </a:xfrm>
          <a:prstGeom prst="rect">
            <a:avLst/>
          </a:prstGeom>
          <a:noFill/>
        </p:spPr>
        <p:txBody>
          <a:bodyPr wrap="square">
            <a:spAutoFit/>
          </a:bodyPr>
          <a:lstStyle/>
          <a:p>
            <a:r>
              <a:rPr lang="en-US" sz="4000" dirty="0" err="1"/>
              <a:t>C.the</a:t>
            </a:r>
            <a:r>
              <a:rPr lang="en-US" sz="4000" dirty="0"/>
              <a:t> information may cause harm if it is false</a:t>
            </a:r>
            <a:endParaRPr lang="en-PH" sz="4000" dirty="0"/>
          </a:p>
        </p:txBody>
      </p:sp>
      <p:sp>
        <p:nvSpPr>
          <p:cNvPr id="11" name="TextBox 10">
            <a:extLst>
              <a:ext uri="{FF2B5EF4-FFF2-40B4-BE49-F238E27FC236}">
                <a16:creationId xmlns:a16="http://schemas.microsoft.com/office/drawing/2014/main" id="{14463332-B58A-52E1-EA5A-F3107836255D}"/>
              </a:ext>
            </a:extLst>
          </p:cNvPr>
          <p:cNvSpPr txBox="1"/>
          <p:nvPr/>
        </p:nvSpPr>
        <p:spPr>
          <a:xfrm>
            <a:off x="1783773" y="4851155"/>
            <a:ext cx="9473046" cy="707886"/>
          </a:xfrm>
          <a:prstGeom prst="rect">
            <a:avLst/>
          </a:prstGeom>
          <a:noFill/>
        </p:spPr>
        <p:txBody>
          <a:bodyPr wrap="square">
            <a:spAutoFit/>
          </a:bodyPr>
          <a:lstStyle/>
          <a:p>
            <a:r>
              <a:rPr lang="en-US" sz="4000" dirty="0" err="1"/>
              <a:t>D.The</a:t>
            </a:r>
            <a:r>
              <a:rPr lang="en-US" sz="4000" dirty="0"/>
              <a:t> post has too many likes and shares</a:t>
            </a:r>
            <a:endParaRPr lang="en-PH" sz="4000" dirty="0"/>
          </a:p>
        </p:txBody>
      </p:sp>
      <p:sp>
        <p:nvSpPr>
          <p:cNvPr id="12" name="TextBox 11">
            <a:extLst>
              <a:ext uri="{FF2B5EF4-FFF2-40B4-BE49-F238E27FC236}">
                <a16:creationId xmlns:a16="http://schemas.microsoft.com/office/drawing/2014/main" id="{0B462565-4A79-4B53-8C84-CE5B0A9F852D}"/>
              </a:ext>
            </a:extLst>
          </p:cNvPr>
          <p:cNvSpPr txBox="1"/>
          <p:nvPr/>
        </p:nvSpPr>
        <p:spPr>
          <a:xfrm>
            <a:off x="7744690" y="5559041"/>
            <a:ext cx="4156365" cy="923330"/>
          </a:xfrm>
          <a:prstGeom prst="rect">
            <a:avLst/>
          </a:prstGeom>
          <a:noFill/>
        </p:spPr>
        <p:txBody>
          <a:bodyPr wrap="square" rtlCol="0">
            <a:spAutoFit/>
          </a:bodyPr>
          <a:lstStyle/>
          <a:p>
            <a:r>
              <a:rPr lang="en-PH" sz="5400" dirty="0">
                <a:solidFill>
                  <a:srgbClr val="FF0000"/>
                </a:solidFill>
              </a:rPr>
              <a:t>ANSWER: C</a:t>
            </a:r>
          </a:p>
        </p:txBody>
      </p:sp>
    </p:spTree>
    <p:extLst>
      <p:ext uri="{BB962C8B-B14F-4D97-AF65-F5344CB8AC3E}">
        <p14:creationId xmlns:p14="http://schemas.microsoft.com/office/powerpoint/2010/main" val="1166048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093B45-1F21-8D58-A552-BBDF99DA1F22}"/>
              </a:ext>
            </a:extLst>
          </p:cNvPr>
          <p:cNvSpPr txBox="1"/>
          <p:nvPr/>
        </p:nvSpPr>
        <p:spPr>
          <a:xfrm>
            <a:off x="166254" y="166255"/>
            <a:ext cx="11859491" cy="2062103"/>
          </a:xfrm>
          <a:prstGeom prst="rect">
            <a:avLst/>
          </a:prstGeom>
          <a:noFill/>
        </p:spPr>
        <p:txBody>
          <a:bodyPr wrap="square">
            <a:spAutoFit/>
          </a:bodyPr>
          <a:lstStyle/>
          <a:p>
            <a:pPr algn="l"/>
            <a:r>
              <a:rPr lang="en-US" sz="3200" b="0" i="0" dirty="0">
                <a:solidFill>
                  <a:srgbClr val="202124"/>
                </a:solidFill>
                <a:effectLst/>
                <a:latin typeface="docs-Roboto"/>
              </a:rPr>
              <a:t>4.A viral video claims that a famous public figure said something controversial. Later, it is revealed that the video was </a:t>
            </a:r>
            <a:r>
              <a:rPr lang="en-US" sz="3200" b="1" i="0" dirty="0">
                <a:solidFill>
                  <a:srgbClr val="202124"/>
                </a:solidFill>
                <a:effectLst/>
                <a:latin typeface="docs-Roboto"/>
              </a:rPr>
              <a:t>edited</a:t>
            </a:r>
            <a:r>
              <a:rPr lang="en-US" sz="3200" b="0" i="0" dirty="0">
                <a:solidFill>
                  <a:srgbClr val="202124"/>
                </a:solidFill>
                <a:effectLst/>
                <a:latin typeface="docs-Roboto"/>
              </a:rPr>
              <a:t> and taken out of context.</a:t>
            </a:r>
            <a:br>
              <a:rPr lang="en-US" sz="3200" b="0" i="0" dirty="0">
                <a:solidFill>
                  <a:srgbClr val="202124"/>
                </a:solidFill>
                <a:effectLst/>
                <a:latin typeface="docs-Roboto"/>
              </a:rPr>
            </a:br>
            <a:r>
              <a:rPr lang="en-US" sz="3200" b="0" i="0" dirty="0">
                <a:solidFill>
                  <a:srgbClr val="202124"/>
                </a:solidFill>
                <a:effectLst/>
                <a:latin typeface="docs-Roboto"/>
              </a:rPr>
              <a:t>This situation best illustrates which media issue?</a:t>
            </a:r>
          </a:p>
        </p:txBody>
      </p:sp>
      <p:sp>
        <p:nvSpPr>
          <p:cNvPr id="5" name="TextBox 4">
            <a:extLst>
              <a:ext uri="{FF2B5EF4-FFF2-40B4-BE49-F238E27FC236}">
                <a16:creationId xmlns:a16="http://schemas.microsoft.com/office/drawing/2014/main" id="{302B75E6-FB9E-BEB6-3534-9A1F0AB1CC30}"/>
              </a:ext>
            </a:extLst>
          </p:cNvPr>
          <p:cNvSpPr txBox="1"/>
          <p:nvPr/>
        </p:nvSpPr>
        <p:spPr>
          <a:xfrm>
            <a:off x="2175163" y="2385353"/>
            <a:ext cx="6096000" cy="707886"/>
          </a:xfrm>
          <a:prstGeom prst="rect">
            <a:avLst/>
          </a:prstGeom>
          <a:noFill/>
        </p:spPr>
        <p:txBody>
          <a:bodyPr wrap="square">
            <a:spAutoFit/>
          </a:bodyPr>
          <a:lstStyle/>
          <a:p>
            <a:r>
              <a:rPr lang="en-PH" sz="4000" dirty="0" err="1"/>
              <a:t>A.Digital</a:t>
            </a:r>
            <a:r>
              <a:rPr lang="en-PH" sz="4000" dirty="0"/>
              <a:t> divide</a:t>
            </a:r>
          </a:p>
        </p:txBody>
      </p:sp>
      <p:sp>
        <p:nvSpPr>
          <p:cNvPr id="7" name="TextBox 6">
            <a:extLst>
              <a:ext uri="{FF2B5EF4-FFF2-40B4-BE49-F238E27FC236}">
                <a16:creationId xmlns:a16="http://schemas.microsoft.com/office/drawing/2014/main" id="{C4D68FF3-E4E0-DA12-D57E-8CF49EFB5351}"/>
              </a:ext>
            </a:extLst>
          </p:cNvPr>
          <p:cNvSpPr txBox="1"/>
          <p:nvPr/>
        </p:nvSpPr>
        <p:spPr>
          <a:xfrm>
            <a:off x="2175164" y="3093239"/>
            <a:ext cx="7079672" cy="707886"/>
          </a:xfrm>
          <a:prstGeom prst="rect">
            <a:avLst/>
          </a:prstGeom>
          <a:noFill/>
        </p:spPr>
        <p:txBody>
          <a:bodyPr wrap="square">
            <a:spAutoFit/>
          </a:bodyPr>
          <a:lstStyle/>
          <a:p>
            <a:r>
              <a:rPr lang="en-PH" sz="4000" dirty="0" err="1"/>
              <a:t>B.Copyright</a:t>
            </a:r>
            <a:r>
              <a:rPr lang="en-PH" sz="4000" dirty="0"/>
              <a:t> violation</a:t>
            </a:r>
          </a:p>
        </p:txBody>
      </p:sp>
      <p:sp>
        <p:nvSpPr>
          <p:cNvPr id="9" name="TextBox 8">
            <a:extLst>
              <a:ext uri="{FF2B5EF4-FFF2-40B4-BE49-F238E27FC236}">
                <a16:creationId xmlns:a16="http://schemas.microsoft.com/office/drawing/2014/main" id="{B9BE39F4-B8EC-DA8A-1DAD-8496FBEB8FA7}"/>
              </a:ext>
            </a:extLst>
          </p:cNvPr>
          <p:cNvSpPr txBox="1"/>
          <p:nvPr/>
        </p:nvSpPr>
        <p:spPr>
          <a:xfrm>
            <a:off x="2022764" y="3764762"/>
            <a:ext cx="6982691" cy="707886"/>
          </a:xfrm>
          <a:prstGeom prst="rect">
            <a:avLst/>
          </a:prstGeom>
          <a:noFill/>
        </p:spPr>
        <p:txBody>
          <a:bodyPr wrap="square">
            <a:spAutoFit/>
          </a:bodyPr>
          <a:lstStyle/>
          <a:p>
            <a:r>
              <a:rPr lang="en-PH" sz="4000" dirty="0" err="1"/>
              <a:t>C.Freedom</a:t>
            </a:r>
            <a:r>
              <a:rPr lang="en-PH" sz="4000" dirty="0"/>
              <a:t> of expression</a:t>
            </a:r>
          </a:p>
        </p:txBody>
      </p:sp>
      <p:sp>
        <p:nvSpPr>
          <p:cNvPr id="11" name="TextBox 10">
            <a:extLst>
              <a:ext uri="{FF2B5EF4-FFF2-40B4-BE49-F238E27FC236}">
                <a16:creationId xmlns:a16="http://schemas.microsoft.com/office/drawing/2014/main" id="{D2112FAB-8DD9-B9E1-EC15-8D5DE962532B}"/>
              </a:ext>
            </a:extLst>
          </p:cNvPr>
          <p:cNvSpPr txBox="1"/>
          <p:nvPr/>
        </p:nvSpPr>
        <p:spPr>
          <a:xfrm>
            <a:off x="2022764" y="4497381"/>
            <a:ext cx="9227128" cy="707886"/>
          </a:xfrm>
          <a:prstGeom prst="rect">
            <a:avLst/>
          </a:prstGeom>
          <a:noFill/>
        </p:spPr>
        <p:txBody>
          <a:bodyPr wrap="square">
            <a:spAutoFit/>
          </a:bodyPr>
          <a:lstStyle/>
          <a:p>
            <a:r>
              <a:rPr lang="en-PH" sz="4000" dirty="0" err="1"/>
              <a:t>D.Manipulation</a:t>
            </a:r>
            <a:r>
              <a:rPr lang="en-PH" sz="4000" dirty="0"/>
              <a:t> of media content</a:t>
            </a:r>
          </a:p>
        </p:txBody>
      </p:sp>
      <p:sp>
        <p:nvSpPr>
          <p:cNvPr id="12" name="TextBox 11">
            <a:extLst>
              <a:ext uri="{FF2B5EF4-FFF2-40B4-BE49-F238E27FC236}">
                <a16:creationId xmlns:a16="http://schemas.microsoft.com/office/drawing/2014/main" id="{33E7F0DA-9B45-10E8-7869-F423DE03E489}"/>
              </a:ext>
            </a:extLst>
          </p:cNvPr>
          <p:cNvSpPr txBox="1"/>
          <p:nvPr/>
        </p:nvSpPr>
        <p:spPr>
          <a:xfrm>
            <a:off x="7703127" y="5362262"/>
            <a:ext cx="4156365" cy="923330"/>
          </a:xfrm>
          <a:prstGeom prst="rect">
            <a:avLst/>
          </a:prstGeom>
          <a:noFill/>
        </p:spPr>
        <p:txBody>
          <a:bodyPr wrap="square" rtlCol="0">
            <a:spAutoFit/>
          </a:bodyPr>
          <a:lstStyle/>
          <a:p>
            <a:r>
              <a:rPr lang="en-PH" sz="5400" dirty="0">
                <a:solidFill>
                  <a:srgbClr val="FF0000"/>
                </a:solidFill>
              </a:rPr>
              <a:t>ANSWER: B</a:t>
            </a:r>
          </a:p>
        </p:txBody>
      </p:sp>
    </p:spTree>
    <p:extLst>
      <p:ext uri="{BB962C8B-B14F-4D97-AF65-F5344CB8AC3E}">
        <p14:creationId xmlns:p14="http://schemas.microsoft.com/office/powerpoint/2010/main" val="475555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31650F-0B9A-DF17-A266-E1B23E5443B5}"/>
              </a:ext>
            </a:extLst>
          </p:cNvPr>
          <p:cNvSpPr txBox="1"/>
          <p:nvPr/>
        </p:nvSpPr>
        <p:spPr>
          <a:xfrm>
            <a:off x="318654" y="224089"/>
            <a:ext cx="11055928" cy="1323439"/>
          </a:xfrm>
          <a:prstGeom prst="rect">
            <a:avLst/>
          </a:prstGeom>
          <a:noFill/>
        </p:spPr>
        <p:txBody>
          <a:bodyPr wrap="square">
            <a:spAutoFit/>
          </a:bodyPr>
          <a:lstStyle/>
          <a:p>
            <a:r>
              <a:rPr lang="en-US" sz="4000" b="0" i="0" dirty="0">
                <a:solidFill>
                  <a:srgbClr val="202124"/>
                </a:solidFill>
                <a:effectLst/>
                <a:latin typeface="docs-Roboto"/>
              </a:rPr>
              <a:t>5. A student reposts a viral news story without checking its accuracy. This behavior shows a lack of:</a:t>
            </a:r>
            <a:endParaRPr lang="en-PH" sz="4000" dirty="0"/>
          </a:p>
        </p:txBody>
      </p:sp>
      <p:sp>
        <p:nvSpPr>
          <p:cNvPr id="5" name="TextBox 4">
            <a:extLst>
              <a:ext uri="{FF2B5EF4-FFF2-40B4-BE49-F238E27FC236}">
                <a16:creationId xmlns:a16="http://schemas.microsoft.com/office/drawing/2014/main" id="{13E36402-3974-E3C1-10F3-336533BC96A7}"/>
              </a:ext>
            </a:extLst>
          </p:cNvPr>
          <p:cNvSpPr txBox="1"/>
          <p:nvPr/>
        </p:nvSpPr>
        <p:spPr>
          <a:xfrm>
            <a:off x="1496291" y="1791233"/>
            <a:ext cx="6096000" cy="707886"/>
          </a:xfrm>
          <a:prstGeom prst="rect">
            <a:avLst/>
          </a:prstGeom>
          <a:noFill/>
        </p:spPr>
        <p:txBody>
          <a:bodyPr wrap="square">
            <a:spAutoFit/>
          </a:bodyPr>
          <a:lstStyle/>
          <a:p>
            <a:r>
              <a:rPr lang="en-PH" sz="4000" dirty="0" err="1"/>
              <a:t>A.Creativity</a:t>
            </a:r>
            <a:endParaRPr lang="en-PH" sz="4000" dirty="0"/>
          </a:p>
        </p:txBody>
      </p:sp>
      <p:sp>
        <p:nvSpPr>
          <p:cNvPr id="7" name="TextBox 6">
            <a:extLst>
              <a:ext uri="{FF2B5EF4-FFF2-40B4-BE49-F238E27FC236}">
                <a16:creationId xmlns:a16="http://schemas.microsoft.com/office/drawing/2014/main" id="{59887C75-815F-A174-A517-77FA2C98A9E1}"/>
              </a:ext>
            </a:extLst>
          </p:cNvPr>
          <p:cNvSpPr txBox="1"/>
          <p:nvPr/>
        </p:nvSpPr>
        <p:spPr>
          <a:xfrm>
            <a:off x="1496291" y="2491686"/>
            <a:ext cx="6096000" cy="707886"/>
          </a:xfrm>
          <a:prstGeom prst="rect">
            <a:avLst/>
          </a:prstGeom>
          <a:noFill/>
        </p:spPr>
        <p:txBody>
          <a:bodyPr wrap="square">
            <a:spAutoFit/>
          </a:bodyPr>
          <a:lstStyle/>
          <a:p>
            <a:r>
              <a:rPr lang="en-PH" sz="4000" dirty="0" err="1"/>
              <a:t>B.Digital</a:t>
            </a:r>
            <a:r>
              <a:rPr lang="en-PH" sz="4000" dirty="0"/>
              <a:t> skills</a:t>
            </a:r>
          </a:p>
        </p:txBody>
      </p:sp>
      <p:sp>
        <p:nvSpPr>
          <p:cNvPr id="9" name="TextBox 8">
            <a:extLst>
              <a:ext uri="{FF2B5EF4-FFF2-40B4-BE49-F238E27FC236}">
                <a16:creationId xmlns:a16="http://schemas.microsoft.com/office/drawing/2014/main" id="{EDC69FEB-EBDF-5A72-1E06-2AD5B44735DB}"/>
              </a:ext>
            </a:extLst>
          </p:cNvPr>
          <p:cNvSpPr txBox="1"/>
          <p:nvPr/>
        </p:nvSpPr>
        <p:spPr>
          <a:xfrm>
            <a:off x="1496291" y="3383458"/>
            <a:ext cx="6096000" cy="707886"/>
          </a:xfrm>
          <a:prstGeom prst="rect">
            <a:avLst/>
          </a:prstGeom>
          <a:noFill/>
        </p:spPr>
        <p:txBody>
          <a:bodyPr wrap="square">
            <a:spAutoFit/>
          </a:bodyPr>
          <a:lstStyle/>
          <a:p>
            <a:r>
              <a:rPr lang="en-PH" sz="4000" dirty="0" err="1"/>
              <a:t>C.Media</a:t>
            </a:r>
            <a:r>
              <a:rPr lang="en-PH" sz="4000" dirty="0"/>
              <a:t> access</a:t>
            </a:r>
          </a:p>
        </p:txBody>
      </p:sp>
      <p:sp>
        <p:nvSpPr>
          <p:cNvPr id="11" name="TextBox 10">
            <a:extLst>
              <a:ext uri="{FF2B5EF4-FFF2-40B4-BE49-F238E27FC236}">
                <a16:creationId xmlns:a16="http://schemas.microsoft.com/office/drawing/2014/main" id="{E11EB671-A05A-359A-7C71-180BEC84A8D4}"/>
              </a:ext>
            </a:extLst>
          </p:cNvPr>
          <p:cNvSpPr txBox="1"/>
          <p:nvPr/>
        </p:nvSpPr>
        <p:spPr>
          <a:xfrm>
            <a:off x="1496291" y="4132201"/>
            <a:ext cx="8950036" cy="707886"/>
          </a:xfrm>
          <a:prstGeom prst="rect">
            <a:avLst/>
          </a:prstGeom>
          <a:noFill/>
        </p:spPr>
        <p:txBody>
          <a:bodyPr wrap="square">
            <a:spAutoFit/>
          </a:bodyPr>
          <a:lstStyle/>
          <a:p>
            <a:r>
              <a:rPr lang="en-PH" sz="4000" dirty="0" err="1"/>
              <a:t>D.Responsible</a:t>
            </a:r>
            <a:r>
              <a:rPr lang="en-PH" sz="4000" dirty="0"/>
              <a:t> information use</a:t>
            </a:r>
          </a:p>
        </p:txBody>
      </p:sp>
      <p:sp>
        <p:nvSpPr>
          <p:cNvPr id="12" name="TextBox 11">
            <a:extLst>
              <a:ext uri="{FF2B5EF4-FFF2-40B4-BE49-F238E27FC236}">
                <a16:creationId xmlns:a16="http://schemas.microsoft.com/office/drawing/2014/main" id="{840777D7-160A-4F28-D252-D12A6EFD0A92}"/>
              </a:ext>
            </a:extLst>
          </p:cNvPr>
          <p:cNvSpPr txBox="1"/>
          <p:nvPr/>
        </p:nvSpPr>
        <p:spPr>
          <a:xfrm>
            <a:off x="7592291" y="5322580"/>
            <a:ext cx="4156365" cy="923330"/>
          </a:xfrm>
          <a:prstGeom prst="rect">
            <a:avLst/>
          </a:prstGeom>
          <a:noFill/>
        </p:spPr>
        <p:txBody>
          <a:bodyPr wrap="square" rtlCol="0">
            <a:spAutoFit/>
          </a:bodyPr>
          <a:lstStyle/>
          <a:p>
            <a:r>
              <a:rPr lang="en-PH" sz="5400" dirty="0">
                <a:solidFill>
                  <a:srgbClr val="FF0000"/>
                </a:solidFill>
              </a:rPr>
              <a:t>ANSWER: D</a:t>
            </a:r>
          </a:p>
        </p:txBody>
      </p:sp>
    </p:spTree>
    <p:extLst>
      <p:ext uri="{BB962C8B-B14F-4D97-AF65-F5344CB8AC3E}">
        <p14:creationId xmlns:p14="http://schemas.microsoft.com/office/powerpoint/2010/main" val="1146842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A25F4D-0444-6DDD-65B2-4286DEDB1F51}"/>
              </a:ext>
            </a:extLst>
          </p:cNvPr>
          <p:cNvSpPr txBox="1"/>
          <p:nvPr/>
        </p:nvSpPr>
        <p:spPr>
          <a:xfrm>
            <a:off x="277091" y="249382"/>
            <a:ext cx="11360727" cy="1323439"/>
          </a:xfrm>
          <a:prstGeom prst="rect">
            <a:avLst/>
          </a:prstGeom>
          <a:noFill/>
        </p:spPr>
        <p:txBody>
          <a:bodyPr wrap="square">
            <a:spAutoFit/>
          </a:bodyPr>
          <a:lstStyle/>
          <a:p>
            <a:r>
              <a:rPr lang="en-US" sz="4000" b="0" i="0" dirty="0">
                <a:solidFill>
                  <a:srgbClr val="202124"/>
                </a:solidFill>
                <a:effectLst/>
                <a:latin typeface="docs-Roboto"/>
              </a:rPr>
              <a:t>6.Which skill is MOST important in detecting fake or manipulated media?</a:t>
            </a:r>
            <a:endParaRPr lang="en-PH" sz="4000" dirty="0"/>
          </a:p>
        </p:txBody>
      </p:sp>
      <p:sp>
        <p:nvSpPr>
          <p:cNvPr id="5" name="TextBox 4">
            <a:extLst>
              <a:ext uri="{FF2B5EF4-FFF2-40B4-BE49-F238E27FC236}">
                <a16:creationId xmlns:a16="http://schemas.microsoft.com/office/drawing/2014/main" id="{D1385EDF-1DA2-558B-BA53-778C70044876}"/>
              </a:ext>
            </a:extLst>
          </p:cNvPr>
          <p:cNvSpPr txBox="1"/>
          <p:nvPr/>
        </p:nvSpPr>
        <p:spPr>
          <a:xfrm>
            <a:off x="1233054" y="2355998"/>
            <a:ext cx="6096000" cy="707886"/>
          </a:xfrm>
          <a:prstGeom prst="rect">
            <a:avLst/>
          </a:prstGeom>
          <a:noFill/>
        </p:spPr>
        <p:txBody>
          <a:bodyPr wrap="square">
            <a:spAutoFit/>
          </a:bodyPr>
          <a:lstStyle/>
          <a:p>
            <a:r>
              <a:rPr lang="en-PH" sz="4000" dirty="0" err="1"/>
              <a:t>B.Critical</a:t>
            </a:r>
            <a:r>
              <a:rPr lang="en-PH" sz="4000" dirty="0"/>
              <a:t> thinking</a:t>
            </a:r>
          </a:p>
        </p:txBody>
      </p:sp>
      <p:sp>
        <p:nvSpPr>
          <p:cNvPr id="7" name="TextBox 6">
            <a:extLst>
              <a:ext uri="{FF2B5EF4-FFF2-40B4-BE49-F238E27FC236}">
                <a16:creationId xmlns:a16="http://schemas.microsoft.com/office/drawing/2014/main" id="{B1CF4D2C-300D-2A03-E974-CE1783C0DCBA}"/>
              </a:ext>
            </a:extLst>
          </p:cNvPr>
          <p:cNvSpPr txBox="1"/>
          <p:nvPr/>
        </p:nvSpPr>
        <p:spPr>
          <a:xfrm>
            <a:off x="1233054" y="1648112"/>
            <a:ext cx="6096000" cy="707886"/>
          </a:xfrm>
          <a:prstGeom prst="rect">
            <a:avLst/>
          </a:prstGeom>
          <a:noFill/>
        </p:spPr>
        <p:txBody>
          <a:bodyPr wrap="square">
            <a:spAutoFit/>
          </a:bodyPr>
          <a:lstStyle/>
          <a:p>
            <a:r>
              <a:rPr lang="en-PH" sz="4000" dirty="0" err="1"/>
              <a:t>A.Guessing</a:t>
            </a:r>
            <a:endParaRPr lang="en-PH" sz="4000" dirty="0"/>
          </a:p>
        </p:txBody>
      </p:sp>
      <p:sp>
        <p:nvSpPr>
          <p:cNvPr id="9" name="TextBox 8">
            <a:extLst>
              <a:ext uri="{FF2B5EF4-FFF2-40B4-BE49-F238E27FC236}">
                <a16:creationId xmlns:a16="http://schemas.microsoft.com/office/drawing/2014/main" id="{724B3AD8-BB61-9F35-0FF8-4AF3F4867040}"/>
              </a:ext>
            </a:extLst>
          </p:cNvPr>
          <p:cNvSpPr txBox="1"/>
          <p:nvPr/>
        </p:nvSpPr>
        <p:spPr>
          <a:xfrm>
            <a:off x="1233054" y="3073404"/>
            <a:ext cx="6096000" cy="707886"/>
          </a:xfrm>
          <a:prstGeom prst="rect">
            <a:avLst/>
          </a:prstGeom>
          <a:noFill/>
        </p:spPr>
        <p:txBody>
          <a:bodyPr wrap="square">
            <a:spAutoFit/>
          </a:bodyPr>
          <a:lstStyle/>
          <a:p>
            <a:r>
              <a:rPr lang="en-PH" sz="4000" dirty="0" err="1"/>
              <a:t>C.Memorization</a:t>
            </a:r>
            <a:endParaRPr lang="en-PH" sz="4000" dirty="0"/>
          </a:p>
        </p:txBody>
      </p:sp>
      <p:sp>
        <p:nvSpPr>
          <p:cNvPr id="11" name="TextBox 10">
            <a:extLst>
              <a:ext uri="{FF2B5EF4-FFF2-40B4-BE49-F238E27FC236}">
                <a16:creationId xmlns:a16="http://schemas.microsoft.com/office/drawing/2014/main" id="{97D98920-0CD2-F31F-1685-6BD8D73D5069}"/>
              </a:ext>
            </a:extLst>
          </p:cNvPr>
          <p:cNvSpPr txBox="1"/>
          <p:nvPr/>
        </p:nvSpPr>
        <p:spPr>
          <a:xfrm>
            <a:off x="1233054" y="3825160"/>
            <a:ext cx="6096000" cy="707886"/>
          </a:xfrm>
          <a:prstGeom prst="rect">
            <a:avLst/>
          </a:prstGeom>
          <a:noFill/>
        </p:spPr>
        <p:txBody>
          <a:bodyPr wrap="square">
            <a:spAutoFit/>
          </a:bodyPr>
          <a:lstStyle/>
          <a:p>
            <a:r>
              <a:rPr lang="en-PH" sz="4000" dirty="0" err="1"/>
              <a:t>D.Speed</a:t>
            </a:r>
            <a:r>
              <a:rPr lang="en-PH" sz="4000" dirty="0"/>
              <a:t> reading</a:t>
            </a:r>
          </a:p>
        </p:txBody>
      </p:sp>
      <p:sp>
        <p:nvSpPr>
          <p:cNvPr id="12" name="TextBox 11">
            <a:extLst>
              <a:ext uri="{FF2B5EF4-FFF2-40B4-BE49-F238E27FC236}">
                <a16:creationId xmlns:a16="http://schemas.microsoft.com/office/drawing/2014/main" id="{0124A2F8-35B1-8ABC-88E9-9C6E54EB1252}"/>
              </a:ext>
            </a:extLst>
          </p:cNvPr>
          <p:cNvSpPr txBox="1"/>
          <p:nvPr/>
        </p:nvSpPr>
        <p:spPr>
          <a:xfrm>
            <a:off x="7592291" y="5322580"/>
            <a:ext cx="4156365" cy="923330"/>
          </a:xfrm>
          <a:prstGeom prst="rect">
            <a:avLst/>
          </a:prstGeom>
          <a:noFill/>
        </p:spPr>
        <p:txBody>
          <a:bodyPr wrap="square" rtlCol="0">
            <a:spAutoFit/>
          </a:bodyPr>
          <a:lstStyle/>
          <a:p>
            <a:r>
              <a:rPr lang="en-PH" sz="5400" dirty="0">
                <a:solidFill>
                  <a:srgbClr val="FF0000"/>
                </a:solidFill>
              </a:rPr>
              <a:t>ANSWER: B</a:t>
            </a:r>
          </a:p>
        </p:txBody>
      </p:sp>
    </p:spTree>
    <p:extLst>
      <p:ext uri="{BB962C8B-B14F-4D97-AF65-F5344CB8AC3E}">
        <p14:creationId xmlns:p14="http://schemas.microsoft.com/office/powerpoint/2010/main" val="2454757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2D095B-546A-75F9-B0A4-C489DE8A59E9}"/>
              </a:ext>
            </a:extLst>
          </p:cNvPr>
          <p:cNvSpPr txBox="1"/>
          <p:nvPr/>
        </p:nvSpPr>
        <p:spPr>
          <a:xfrm>
            <a:off x="761999" y="279461"/>
            <a:ext cx="10792691" cy="707886"/>
          </a:xfrm>
          <a:prstGeom prst="rect">
            <a:avLst/>
          </a:prstGeom>
          <a:noFill/>
        </p:spPr>
        <p:txBody>
          <a:bodyPr wrap="square">
            <a:spAutoFit/>
          </a:bodyPr>
          <a:lstStyle/>
          <a:p>
            <a:r>
              <a:rPr lang="en-US" sz="4000" b="0" i="0" dirty="0">
                <a:solidFill>
                  <a:srgbClr val="202124"/>
                </a:solidFill>
                <a:effectLst/>
                <a:latin typeface="docs-Roboto"/>
              </a:rPr>
              <a:t>7.Which action shows ethical media use?</a:t>
            </a:r>
            <a:endParaRPr lang="en-PH" sz="4000" dirty="0"/>
          </a:p>
        </p:txBody>
      </p:sp>
      <p:sp>
        <p:nvSpPr>
          <p:cNvPr id="5" name="TextBox 4">
            <a:extLst>
              <a:ext uri="{FF2B5EF4-FFF2-40B4-BE49-F238E27FC236}">
                <a16:creationId xmlns:a16="http://schemas.microsoft.com/office/drawing/2014/main" id="{C1984A56-C165-4384-2B70-FC2F5C01CCAE}"/>
              </a:ext>
            </a:extLst>
          </p:cNvPr>
          <p:cNvSpPr txBox="1"/>
          <p:nvPr/>
        </p:nvSpPr>
        <p:spPr>
          <a:xfrm>
            <a:off x="1066800" y="1296888"/>
            <a:ext cx="9919854" cy="707886"/>
          </a:xfrm>
          <a:prstGeom prst="rect">
            <a:avLst/>
          </a:prstGeom>
          <a:noFill/>
        </p:spPr>
        <p:txBody>
          <a:bodyPr wrap="square">
            <a:spAutoFit/>
          </a:bodyPr>
          <a:lstStyle/>
          <a:p>
            <a:r>
              <a:rPr lang="en-PH" sz="4000" dirty="0" err="1"/>
              <a:t>A.Sharing</a:t>
            </a:r>
            <a:r>
              <a:rPr lang="en-PH" sz="4000" dirty="0"/>
              <a:t> private information</a:t>
            </a:r>
          </a:p>
        </p:txBody>
      </p:sp>
      <p:sp>
        <p:nvSpPr>
          <p:cNvPr id="7" name="TextBox 6">
            <a:extLst>
              <a:ext uri="{FF2B5EF4-FFF2-40B4-BE49-F238E27FC236}">
                <a16:creationId xmlns:a16="http://schemas.microsoft.com/office/drawing/2014/main" id="{FBFF6431-615A-D69A-6E2F-08A8EDDC8C34}"/>
              </a:ext>
            </a:extLst>
          </p:cNvPr>
          <p:cNvSpPr txBox="1"/>
          <p:nvPr/>
        </p:nvSpPr>
        <p:spPr>
          <a:xfrm>
            <a:off x="1066800" y="2109359"/>
            <a:ext cx="10238509" cy="707886"/>
          </a:xfrm>
          <a:prstGeom prst="rect">
            <a:avLst/>
          </a:prstGeom>
          <a:noFill/>
        </p:spPr>
        <p:txBody>
          <a:bodyPr wrap="square">
            <a:spAutoFit/>
          </a:bodyPr>
          <a:lstStyle/>
          <a:p>
            <a:r>
              <a:rPr lang="en-PH" sz="4000" dirty="0" err="1"/>
              <a:t>B.Respecting</a:t>
            </a:r>
            <a:r>
              <a:rPr lang="en-PH" sz="4000" dirty="0"/>
              <a:t> intellectual property</a:t>
            </a:r>
          </a:p>
        </p:txBody>
      </p:sp>
      <p:sp>
        <p:nvSpPr>
          <p:cNvPr id="9" name="TextBox 8">
            <a:extLst>
              <a:ext uri="{FF2B5EF4-FFF2-40B4-BE49-F238E27FC236}">
                <a16:creationId xmlns:a16="http://schemas.microsoft.com/office/drawing/2014/main" id="{255FB8E9-6AF8-DD5D-CBFB-EE52A80C0B92}"/>
              </a:ext>
            </a:extLst>
          </p:cNvPr>
          <p:cNvSpPr txBox="1"/>
          <p:nvPr/>
        </p:nvSpPr>
        <p:spPr>
          <a:xfrm>
            <a:off x="928254" y="3008083"/>
            <a:ext cx="9905999" cy="707886"/>
          </a:xfrm>
          <a:prstGeom prst="rect">
            <a:avLst/>
          </a:prstGeom>
          <a:noFill/>
        </p:spPr>
        <p:txBody>
          <a:bodyPr wrap="square">
            <a:spAutoFit/>
          </a:bodyPr>
          <a:lstStyle/>
          <a:p>
            <a:r>
              <a:rPr lang="en-US" sz="4000" dirty="0" err="1"/>
              <a:t>C.Editing</a:t>
            </a:r>
            <a:r>
              <a:rPr lang="en-US" sz="4000" dirty="0"/>
              <a:t> photos to mislead others</a:t>
            </a:r>
            <a:endParaRPr lang="en-PH" sz="4000" dirty="0"/>
          </a:p>
        </p:txBody>
      </p:sp>
      <p:sp>
        <p:nvSpPr>
          <p:cNvPr id="11" name="TextBox 10">
            <a:extLst>
              <a:ext uri="{FF2B5EF4-FFF2-40B4-BE49-F238E27FC236}">
                <a16:creationId xmlns:a16="http://schemas.microsoft.com/office/drawing/2014/main" id="{405CEA50-66E1-A861-C198-D6BC0FD54262}"/>
              </a:ext>
            </a:extLst>
          </p:cNvPr>
          <p:cNvSpPr txBox="1"/>
          <p:nvPr/>
        </p:nvSpPr>
        <p:spPr>
          <a:xfrm>
            <a:off x="928254" y="3906632"/>
            <a:ext cx="8783782" cy="707886"/>
          </a:xfrm>
          <a:prstGeom prst="rect">
            <a:avLst/>
          </a:prstGeom>
          <a:noFill/>
        </p:spPr>
        <p:txBody>
          <a:bodyPr wrap="square">
            <a:spAutoFit/>
          </a:bodyPr>
          <a:lstStyle/>
          <a:p>
            <a:r>
              <a:rPr lang="en-PH" sz="4000" dirty="0" err="1"/>
              <a:t>D.Posting</a:t>
            </a:r>
            <a:r>
              <a:rPr lang="en-PH" sz="4000" dirty="0"/>
              <a:t> without checking facts</a:t>
            </a:r>
          </a:p>
        </p:txBody>
      </p:sp>
      <p:sp>
        <p:nvSpPr>
          <p:cNvPr id="12" name="TextBox 11">
            <a:extLst>
              <a:ext uri="{FF2B5EF4-FFF2-40B4-BE49-F238E27FC236}">
                <a16:creationId xmlns:a16="http://schemas.microsoft.com/office/drawing/2014/main" id="{08A4D682-3813-2CB3-BB14-3F5A3A4FDDBB}"/>
              </a:ext>
            </a:extLst>
          </p:cNvPr>
          <p:cNvSpPr txBox="1"/>
          <p:nvPr/>
        </p:nvSpPr>
        <p:spPr>
          <a:xfrm>
            <a:off x="7592291" y="5322580"/>
            <a:ext cx="4156365" cy="923330"/>
          </a:xfrm>
          <a:prstGeom prst="rect">
            <a:avLst/>
          </a:prstGeom>
          <a:noFill/>
        </p:spPr>
        <p:txBody>
          <a:bodyPr wrap="square" rtlCol="0">
            <a:spAutoFit/>
          </a:bodyPr>
          <a:lstStyle/>
          <a:p>
            <a:r>
              <a:rPr lang="en-PH" sz="5400" dirty="0">
                <a:solidFill>
                  <a:srgbClr val="FF0000"/>
                </a:solidFill>
              </a:rPr>
              <a:t>ANSWER: B</a:t>
            </a:r>
          </a:p>
        </p:txBody>
      </p:sp>
    </p:spTree>
    <p:extLst>
      <p:ext uri="{BB962C8B-B14F-4D97-AF65-F5344CB8AC3E}">
        <p14:creationId xmlns:p14="http://schemas.microsoft.com/office/powerpoint/2010/main" val="1388275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64D3AC-05A7-14D5-F76E-CD8242BC86C8}"/>
              </a:ext>
            </a:extLst>
          </p:cNvPr>
          <p:cNvSpPr txBox="1"/>
          <p:nvPr/>
        </p:nvSpPr>
        <p:spPr>
          <a:xfrm>
            <a:off x="374073" y="207818"/>
            <a:ext cx="11471563" cy="1938992"/>
          </a:xfrm>
          <a:prstGeom prst="rect">
            <a:avLst/>
          </a:prstGeom>
          <a:noFill/>
        </p:spPr>
        <p:txBody>
          <a:bodyPr wrap="square">
            <a:spAutoFit/>
          </a:bodyPr>
          <a:lstStyle/>
          <a:p>
            <a:r>
              <a:rPr lang="en-US" sz="4000" b="0" i="0" dirty="0">
                <a:solidFill>
                  <a:srgbClr val="202124"/>
                </a:solidFill>
                <a:effectLst/>
                <a:latin typeface="docs-Roboto"/>
              </a:rPr>
              <a:t>8.Kyle wants to reach a vast number of people through his campaign advocacy. What do you think should he use to reach the global community?</a:t>
            </a:r>
            <a:endParaRPr lang="en-PH" sz="4000" dirty="0"/>
          </a:p>
        </p:txBody>
      </p:sp>
      <p:sp>
        <p:nvSpPr>
          <p:cNvPr id="5" name="TextBox 4">
            <a:extLst>
              <a:ext uri="{FF2B5EF4-FFF2-40B4-BE49-F238E27FC236}">
                <a16:creationId xmlns:a16="http://schemas.microsoft.com/office/drawing/2014/main" id="{DCEA1C32-321F-8A2B-3DA5-7E5C3240C235}"/>
              </a:ext>
            </a:extLst>
          </p:cNvPr>
          <p:cNvSpPr txBox="1"/>
          <p:nvPr/>
        </p:nvSpPr>
        <p:spPr>
          <a:xfrm>
            <a:off x="3048000" y="2769228"/>
            <a:ext cx="6096000" cy="707886"/>
          </a:xfrm>
          <a:prstGeom prst="rect">
            <a:avLst/>
          </a:prstGeom>
          <a:noFill/>
        </p:spPr>
        <p:txBody>
          <a:bodyPr wrap="square">
            <a:spAutoFit/>
          </a:bodyPr>
          <a:lstStyle/>
          <a:p>
            <a:r>
              <a:rPr lang="en-PH" sz="4000" dirty="0" err="1"/>
              <a:t>A.Internet</a:t>
            </a:r>
            <a:endParaRPr lang="en-PH" sz="4000" dirty="0"/>
          </a:p>
        </p:txBody>
      </p:sp>
      <p:sp>
        <p:nvSpPr>
          <p:cNvPr id="7" name="TextBox 6">
            <a:extLst>
              <a:ext uri="{FF2B5EF4-FFF2-40B4-BE49-F238E27FC236}">
                <a16:creationId xmlns:a16="http://schemas.microsoft.com/office/drawing/2014/main" id="{62031C19-A78E-841E-7DBA-C3D5B0C2A1A0}"/>
              </a:ext>
            </a:extLst>
          </p:cNvPr>
          <p:cNvSpPr txBox="1"/>
          <p:nvPr/>
        </p:nvSpPr>
        <p:spPr>
          <a:xfrm>
            <a:off x="3048000" y="3518395"/>
            <a:ext cx="6096000" cy="707886"/>
          </a:xfrm>
          <a:prstGeom prst="rect">
            <a:avLst/>
          </a:prstGeom>
          <a:noFill/>
        </p:spPr>
        <p:txBody>
          <a:bodyPr wrap="square">
            <a:spAutoFit/>
          </a:bodyPr>
          <a:lstStyle/>
          <a:p>
            <a:r>
              <a:rPr lang="en-PH" sz="4000" dirty="0" err="1"/>
              <a:t>B.Newspaper</a:t>
            </a:r>
            <a:endParaRPr lang="en-PH" sz="4000" dirty="0"/>
          </a:p>
        </p:txBody>
      </p:sp>
      <p:sp>
        <p:nvSpPr>
          <p:cNvPr id="9" name="TextBox 8">
            <a:extLst>
              <a:ext uri="{FF2B5EF4-FFF2-40B4-BE49-F238E27FC236}">
                <a16:creationId xmlns:a16="http://schemas.microsoft.com/office/drawing/2014/main" id="{9045A8E8-89F7-3B3E-9ADE-676EF2E22CCB}"/>
              </a:ext>
            </a:extLst>
          </p:cNvPr>
          <p:cNvSpPr txBox="1"/>
          <p:nvPr/>
        </p:nvSpPr>
        <p:spPr>
          <a:xfrm>
            <a:off x="3061854" y="4357248"/>
            <a:ext cx="6096000" cy="707886"/>
          </a:xfrm>
          <a:prstGeom prst="rect">
            <a:avLst/>
          </a:prstGeom>
          <a:noFill/>
        </p:spPr>
        <p:txBody>
          <a:bodyPr wrap="square">
            <a:spAutoFit/>
          </a:bodyPr>
          <a:lstStyle/>
          <a:p>
            <a:r>
              <a:rPr lang="en-PH" sz="4000" dirty="0" err="1"/>
              <a:t>C.Radio</a:t>
            </a:r>
            <a:endParaRPr lang="en-PH" sz="4000" dirty="0"/>
          </a:p>
        </p:txBody>
      </p:sp>
      <p:sp>
        <p:nvSpPr>
          <p:cNvPr id="11" name="TextBox 10">
            <a:extLst>
              <a:ext uri="{FF2B5EF4-FFF2-40B4-BE49-F238E27FC236}">
                <a16:creationId xmlns:a16="http://schemas.microsoft.com/office/drawing/2014/main" id="{6164411C-901E-2E71-C633-556C5D9AE785}"/>
              </a:ext>
            </a:extLst>
          </p:cNvPr>
          <p:cNvSpPr txBox="1"/>
          <p:nvPr/>
        </p:nvSpPr>
        <p:spPr>
          <a:xfrm>
            <a:off x="3061854" y="5182610"/>
            <a:ext cx="6096000" cy="707886"/>
          </a:xfrm>
          <a:prstGeom prst="rect">
            <a:avLst/>
          </a:prstGeom>
          <a:noFill/>
        </p:spPr>
        <p:txBody>
          <a:bodyPr wrap="square">
            <a:spAutoFit/>
          </a:bodyPr>
          <a:lstStyle/>
          <a:p>
            <a:r>
              <a:rPr lang="en-PH" sz="4000" dirty="0" err="1"/>
              <a:t>D.Television</a:t>
            </a:r>
            <a:endParaRPr lang="en-PH" sz="4000" dirty="0"/>
          </a:p>
        </p:txBody>
      </p:sp>
      <p:sp>
        <p:nvSpPr>
          <p:cNvPr id="12" name="TextBox 11">
            <a:extLst>
              <a:ext uri="{FF2B5EF4-FFF2-40B4-BE49-F238E27FC236}">
                <a16:creationId xmlns:a16="http://schemas.microsoft.com/office/drawing/2014/main" id="{22967ED3-C88B-9043-BD60-B73F54009FE5}"/>
              </a:ext>
            </a:extLst>
          </p:cNvPr>
          <p:cNvSpPr txBox="1"/>
          <p:nvPr/>
        </p:nvSpPr>
        <p:spPr>
          <a:xfrm>
            <a:off x="7592291" y="5322580"/>
            <a:ext cx="4156365" cy="923330"/>
          </a:xfrm>
          <a:prstGeom prst="rect">
            <a:avLst/>
          </a:prstGeom>
          <a:noFill/>
        </p:spPr>
        <p:txBody>
          <a:bodyPr wrap="square" rtlCol="0">
            <a:spAutoFit/>
          </a:bodyPr>
          <a:lstStyle/>
          <a:p>
            <a:r>
              <a:rPr lang="en-PH" sz="5400" dirty="0">
                <a:solidFill>
                  <a:srgbClr val="FF0000"/>
                </a:solidFill>
              </a:rPr>
              <a:t>ANSWER: A</a:t>
            </a:r>
          </a:p>
        </p:txBody>
      </p:sp>
    </p:spTree>
    <p:extLst>
      <p:ext uri="{BB962C8B-B14F-4D97-AF65-F5344CB8AC3E}">
        <p14:creationId xmlns:p14="http://schemas.microsoft.com/office/powerpoint/2010/main" val="3372885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45506E-6F2D-5240-68A9-658B0738E368}"/>
              </a:ext>
            </a:extLst>
          </p:cNvPr>
          <p:cNvSpPr txBox="1"/>
          <p:nvPr/>
        </p:nvSpPr>
        <p:spPr>
          <a:xfrm>
            <a:off x="263235" y="180109"/>
            <a:ext cx="11762510" cy="2554545"/>
          </a:xfrm>
          <a:prstGeom prst="rect">
            <a:avLst/>
          </a:prstGeom>
          <a:noFill/>
        </p:spPr>
        <p:txBody>
          <a:bodyPr wrap="square">
            <a:spAutoFit/>
          </a:bodyPr>
          <a:lstStyle/>
          <a:p>
            <a:r>
              <a:rPr lang="en-US" sz="4000" b="0" i="0" dirty="0">
                <a:solidFill>
                  <a:srgbClr val="202124"/>
                </a:solidFill>
                <a:effectLst/>
                <a:latin typeface="docs-Roboto"/>
              </a:rPr>
              <a:t>9. Noli de Castro is one of the leading broadcast journalists in the country. He is always truthful, reliable, credible, and fair in manner. What do you think does Noli de Castro practice?</a:t>
            </a:r>
            <a:endParaRPr lang="en-PH" sz="4000" dirty="0"/>
          </a:p>
        </p:txBody>
      </p:sp>
      <p:sp>
        <p:nvSpPr>
          <p:cNvPr id="5" name="TextBox 4">
            <a:extLst>
              <a:ext uri="{FF2B5EF4-FFF2-40B4-BE49-F238E27FC236}">
                <a16:creationId xmlns:a16="http://schemas.microsoft.com/office/drawing/2014/main" id="{68697E71-10F3-A957-458A-D8A54F6C0503}"/>
              </a:ext>
            </a:extLst>
          </p:cNvPr>
          <p:cNvSpPr txBox="1"/>
          <p:nvPr/>
        </p:nvSpPr>
        <p:spPr>
          <a:xfrm>
            <a:off x="3054927" y="2960915"/>
            <a:ext cx="6109854" cy="707886"/>
          </a:xfrm>
          <a:prstGeom prst="rect">
            <a:avLst/>
          </a:prstGeom>
          <a:noFill/>
        </p:spPr>
        <p:txBody>
          <a:bodyPr wrap="square">
            <a:spAutoFit/>
          </a:bodyPr>
          <a:lstStyle/>
          <a:p>
            <a:r>
              <a:rPr lang="en-PH" sz="4000" dirty="0" err="1"/>
              <a:t>A.Patience</a:t>
            </a:r>
            <a:endParaRPr lang="en-PH" sz="4000" dirty="0"/>
          </a:p>
        </p:txBody>
      </p:sp>
      <p:sp>
        <p:nvSpPr>
          <p:cNvPr id="7" name="TextBox 6">
            <a:extLst>
              <a:ext uri="{FF2B5EF4-FFF2-40B4-BE49-F238E27FC236}">
                <a16:creationId xmlns:a16="http://schemas.microsoft.com/office/drawing/2014/main" id="{500E0986-4911-458F-7F48-A085E20C2543}"/>
              </a:ext>
            </a:extLst>
          </p:cNvPr>
          <p:cNvSpPr txBox="1"/>
          <p:nvPr/>
        </p:nvSpPr>
        <p:spPr>
          <a:xfrm>
            <a:off x="3054927" y="3663558"/>
            <a:ext cx="6109854" cy="707886"/>
          </a:xfrm>
          <a:prstGeom prst="rect">
            <a:avLst/>
          </a:prstGeom>
          <a:noFill/>
        </p:spPr>
        <p:txBody>
          <a:bodyPr wrap="square">
            <a:spAutoFit/>
          </a:bodyPr>
          <a:lstStyle/>
          <a:p>
            <a:r>
              <a:rPr lang="en-PH" sz="4000" dirty="0" err="1"/>
              <a:t>B.Trustworthy</a:t>
            </a:r>
            <a:endParaRPr lang="en-PH" sz="4000" dirty="0"/>
          </a:p>
        </p:txBody>
      </p:sp>
      <p:sp>
        <p:nvSpPr>
          <p:cNvPr id="9" name="TextBox 8">
            <a:extLst>
              <a:ext uri="{FF2B5EF4-FFF2-40B4-BE49-F238E27FC236}">
                <a16:creationId xmlns:a16="http://schemas.microsoft.com/office/drawing/2014/main" id="{82037C54-A0CF-C339-7570-9EA3FCBFD9D9}"/>
              </a:ext>
            </a:extLst>
          </p:cNvPr>
          <p:cNvSpPr txBox="1"/>
          <p:nvPr/>
        </p:nvSpPr>
        <p:spPr>
          <a:xfrm>
            <a:off x="3041073" y="4293773"/>
            <a:ext cx="6109854" cy="707886"/>
          </a:xfrm>
          <a:prstGeom prst="rect">
            <a:avLst/>
          </a:prstGeom>
          <a:noFill/>
        </p:spPr>
        <p:txBody>
          <a:bodyPr wrap="square">
            <a:spAutoFit/>
          </a:bodyPr>
          <a:lstStyle/>
          <a:p>
            <a:r>
              <a:rPr lang="en-PH" sz="4000" dirty="0" err="1"/>
              <a:t>C.Media</a:t>
            </a:r>
            <a:r>
              <a:rPr lang="en-PH" sz="4000" dirty="0"/>
              <a:t> Ethics</a:t>
            </a:r>
          </a:p>
        </p:txBody>
      </p:sp>
      <p:sp>
        <p:nvSpPr>
          <p:cNvPr id="11" name="TextBox 10">
            <a:extLst>
              <a:ext uri="{FF2B5EF4-FFF2-40B4-BE49-F238E27FC236}">
                <a16:creationId xmlns:a16="http://schemas.microsoft.com/office/drawing/2014/main" id="{6429457A-9D01-CC46-03D4-B9AE2224CE5B}"/>
              </a:ext>
            </a:extLst>
          </p:cNvPr>
          <p:cNvSpPr txBox="1"/>
          <p:nvPr/>
        </p:nvSpPr>
        <p:spPr>
          <a:xfrm>
            <a:off x="3041073" y="4973880"/>
            <a:ext cx="6109854" cy="707886"/>
          </a:xfrm>
          <a:prstGeom prst="rect">
            <a:avLst/>
          </a:prstGeom>
          <a:noFill/>
        </p:spPr>
        <p:txBody>
          <a:bodyPr wrap="square">
            <a:spAutoFit/>
          </a:bodyPr>
          <a:lstStyle/>
          <a:p>
            <a:r>
              <a:rPr lang="en-PH" sz="4000" dirty="0" err="1"/>
              <a:t>D.Responsible</a:t>
            </a:r>
            <a:r>
              <a:rPr lang="en-PH" sz="4000" dirty="0"/>
              <a:t> Citizen</a:t>
            </a:r>
          </a:p>
        </p:txBody>
      </p:sp>
      <p:sp>
        <p:nvSpPr>
          <p:cNvPr id="12" name="TextBox 11">
            <a:extLst>
              <a:ext uri="{FF2B5EF4-FFF2-40B4-BE49-F238E27FC236}">
                <a16:creationId xmlns:a16="http://schemas.microsoft.com/office/drawing/2014/main" id="{252CFBBC-9934-9B42-6D2A-7B99BE6A9B0D}"/>
              </a:ext>
            </a:extLst>
          </p:cNvPr>
          <p:cNvSpPr txBox="1"/>
          <p:nvPr/>
        </p:nvSpPr>
        <p:spPr>
          <a:xfrm>
            <a:off x="7703127" y="5653336"/>
            <a:ext cx="4156365" cy="923330"/>
          </a:xfrm>
          <a:prstGeom prst="rect">
            <a:avLst/>
          </a:prstGeom>
          <a:noFill/>
        </p:spPr>
        <p:txBody>
          <a:bodyPr wrap="square" rtlCol="0">
            <a:spAutoFit/>
          </a:bodyPr>
          <a:lstStyle/>
          <a:p>
            <a:r>
              <a:rPr lang="en-PH" sz="5400" dirty="0">
                <a:solidFill>
                  <a:srgbClr val="FF0000"/>
                </a:solidFill>
              </a:rPr>
              <a:t>ANSWER: C</a:t>
            </a:r>
          </a:p>
        </p:txBody>
      </p:sp>
    </p:spTree>
    <p:extLst>
      <p:ext uri="{BB962C8B-B14F-4D97-AF65-F5344CB8AC3E}">
        <p14:creationId xmlns:p14="http://schemas.microsoft.com/office/powerpoint/2010/main" val="3199728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95534D-AD61-37BF-0035-937F8B352F68}"/>
              </a:ext>
            </a:extLst>
          </p:cNvPr>
          <p:cNvSpPr txBox="1"/>
          <p:nvPr/>
        </p:nvSpPr>
        <p:spPr>
          <a:xfrm>
            <a:off x="346363" y="334972"/>
            <a:ext cx="11720946" cy="1938992"/>
          </a:xfrm>
          <a:prstGeom prst="rect">
            <a:avLst/>
          </a:prstGeom>
          <a:noFill/>
        </p:spPr>
        <p:txBody>
          <a:bodyPr wrap="square">
            <a:spAutoFit/>
          </a:bodyPr>
          <a:lstStyle/>
          <a:p>
            <a:r>
              <a:rPr lang="en-US" sz="4000" b="0" i="0" dirty="0">
                <a:solidFill>
                  <a:srgbClr val="202124"/>
                </a:solidFill>
                <a:effectLst/>
                <a:latin typeface="docs-Roboto"/>
              </a:rPr>
              <a:t>10.A student reads comments instead of the full article before forming an opinion.</a:t>
            </a:r>
            <a:br>
              <a:rPr lang="en-US" sz="4000" dirty="0"/>
            </a:br>
            <a:r>
              <a:rPr lang="en-US" sz="4000" b="0" i="0" dirty="0">
                <a:solidFill>
                  <a:srgbClr val="202124"/>
                </a:solidFill>
                <a:effectLst/>
                <a:latin typeface="docs-Roboto"/>
              </a:rPr>
              <a:t>What risk does this behavior pose?  </a:t>
            </a:r>
            <a:endParaRPr lang="en-PH" sz="4000" dirty="0"/>
          </a:p>
        </p:txBody>
      </p:sp>
      <p:sp>
        <p:nvSpPr>
          <p:cNvPr id="5" name="TextBox 4">
            <a:extLst>
              <a:ext uri="{FF2B5EF4-FFF2-40B4-BE49-F238E27FC236}">
                <a16:creationId xmlns:a16="http://schemas.microsoft.com/office/drawing/2014/main" id="{ABEC95F5-5EB6-32CE-70E4-A38C7F1EB416}"/>
              </a:ext>
            </a:extLst>
          </p:cNvPr>
          <p:cNvSpPr txBox="1"/>
          <p:nvPr/>
        </p:nvSpPr>
        <p:spPr>
          <a:xfrm>
            <a:off x="3048000" y="2524681"/>
            <a:ext cx="6096000" cy="707886"/>
          </a:xfrm>
          <a:prstGeom prst="rect">
            <a:avLst/>
          </a:prstGeom>
          <a:noFill/>
        </p:spPr>
        <p:txBody>
          <a:bodyPr wrap="square">
            <a:spAutoFit/>
          </a:bodyPr>
          <a:lstStyle/>
          <a:p>
            <a:r>
              <a:rPr lang="en-PH" sz="4000" dirty="0" err="1"/>
              <a:t>A.Information</a:t>
            </a:r>
            <a:r>
              <a:rPr lang="en-PH" sz="4000" dirty="0"/>
              <a:t> overload</a:t>
            </a:r>
          </a:p>
        </p:txBody>
      </p:sp>
      <p:sp>
        <p:nvSpPr>
          <p:cNvPr id="7" name="TextBox 6">
            <a:extLst>
              <a:ext uri="{FF2B5EF4-FFF2-40B4-BE49-F238E27FC236}">
                <a16:creationId xmlns:a16="http://schemas.microsoft.com/office/drawing/2014/main" id="{44698B98-DC32-E819-9BB8-2B88DFF86A85}"/>
              </a:ext>
            </a:extLst>
          </p:cNvPr>
          <p:cNvSpPr txBox="1"/>
          <p:nvPr/>
        </p:nvSpPr>
        <p:spPr>
          <a:xfrm>
            <a:off x="3048000" y="3255764"/>
            <a:ext cx="6096000" cy="707886"/>
          </a:xfrm>
          <a:prstGeom prst="rect">
            <a:avLst/>
          </a:prstGeom>
          <a:noFill/>
        </p:spPr>
        <p:txBody>
          <a:bodyPr wrap="square">
            <a:spAutoFit/>
          </a:bodyPr>
          <a:lstStyle/>
          <a:p>
            <a:r>
              <a:rPr lang="en-PH" sz="4000" dirty="0" err="1"/>
              <a:t>B.Confirmation</a:t>
            </a:r>
            <a:r>
              <a:rPr lang="en-PH" sz="4000" dirty="0"/>
              <a:t> bias</a:t>
            </a:r>
          </a:p>
        </p:txBody>
      </p:sp>
      <p:sp>
        <p:nvSpPr>
          <p:cNvPr id="9" name="TextBox 8">
            <a:extLst>
              <a:ext uri="{FF2B5EF4-FFF2-40B4-BE49-F238E27FC236}">
                <a16:creationId xmlns:a16="http://schemas.microsoft.com/office/drawing/2014/main" id="{DBBAC2CA-8095-7536-EB76-4BCD9308B399}"/>
              </a:ext>
            </a:extLst>
          </p:cNvPr>
          <p:cNvSpPr txBox="1"/>
          <p:nvPr/>
        </p:nvSpPr>
        <p:spPr>
          <a:xfrm>
            <a:off x="3048000" y="4016736"/>
            <a:ext cx="6096000" cy="707886"/>
          </a:xfrm>
          <a:prstGeom prst="rect">
            <a:avLst/>
          </a:prstGeom>
          <a:noFill/>
        </p:spPr>
        <p:txBody>
          <a:bodyPr wrap="square">
            <a:spAutoFit/>
          </a:bodyPr>
          <a:lstStyle/>
          <a:p>
            <a:r>
              <a:rPr lang="en-PH" sz="4000" dirty="0" err="1"/>
              <a:t>C.Digital</a:t>
            </a:r>
            <a:r>
              <a:rPr lang="en-PH" sz="4000" dirty="0"/>
              <a:t> addiction</a:t>
            </a:r>
          </a:p>
        </p:txBody>
      </p:sp>
      <p:sp>
        <p:nvSpPr>
          <p:cNvPr id="11" name="TextBox 10">
            <a:extLst>
              <a:ext uri="{FF2B5EF4-FFF2-40B4-BE49-F238E27FC236}">
                <a16:creationId xmlns:a16="http://schemas.microsoft.com/office/drawing/2014/main" id="{92B93FB8-075F-2B5D-C371-F137B86B3043}"/>
              </a:ext>
            </a:extLst>
          </p:cNvPr>
          <p:cNvSpPr txBox="1"/>
          <p:nvPr/>
        </p:nvSpPr>
        <p:spPr>
          <a:xfrm>
            <a:off x="3048000" y="4710306"/>
            <a:ext cx="6096000" cy="707886"/>
          </a:xfrm>
          <a:prstGeom prst="rect">
            <a:avLst/>
          </a:prstGeom>
          <a:noFill/>
        </p:spPr>
        <p:txBody>
          <a:bodyPr wrap="square">
            <a:spAutoFit/>
          </a:bodyPr>
          <a:lstStyle/>
          <a:p>
            <a:r>
              <a:rPr lang="en-PH" sz="4000" dirty="0" err="1"/>
              <a:t>D.Copyright</a:t>
            </a:r>
            <a:r>
              <a:rPr lang="en-PH" sz="4000" dirty="0"/>
              <a:t> violation</a:t>
            </a:r>
          </a:p>
        </p:txBody>
      </p:sp>
      <p:sp>
        <p:nvSpPr>
          <p:cNvPr id="12" name="TextBox 11">
            <a:extLst>
              <a:ext uri="{FF2B5EF4-FFF2-40B4-BE49-F238E27FC236}">
                <a16:creationId xmlns:a16="http://schemas.microsoft.com/office/drawing/2014/main" id="{EE8BACBE-E3F4-557D-3CBA-5E31A51A0E78}"/>
              </a:ext>
            </a:extLst>
          </p:cNvPr>
          <p:cNvSpPr txBox="1"/>
          <p:nvPr/>
        </p:nvSpPr>
        <p:spPr>
          <a:xfrm>
            <a:off x="7675419" y="5666508"/>
            <a:ext cx="4184074" cy="923330"/>
          </a:xfrm>
          <a:prstGeom prst="rect">
            <a:avLst/>
          </a:prstGeom>
          <a:noFill/>
        </p:spPr>
        <p:txBody>
          <a:bodyPr wrap="square" rtlCol="0">
            <a:spAutoFit/>
          </a:bodyPr>
          <a:lstStyle/>
          <a:p>
            <a:r>
              <a:rPr lang="en-PH" sz="5400" dirty="0">
                <a:solidFill>
                  <a:srgbClr val="FF0000"/>
                </a:solidFill>
              </a:rPr>
              <a:t>ANSWER: B</a:t>
            </a:r>
          </a:p>
        </p:txBody>
      </p:sp>
    </p:spTree>
    <p:extLst>
      <p:ext uri="{BB962C8B-B14F-4D97-AF65-F5344CB8AC3E}">
        <p14:creationId xmlns:p14="http://schemas.microsoft.com/office/powerpoint/2010/main" val="1556218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15FFDB-564B-C775-098F-AE7AF966675B}"/>
              </a:ext>
            </a:extLst>
          </p:cNvPr>
          <p:cNvSpPr txBox="1"/>
          <p:nvPr/>
        </p:nvSpPr>
        <p:spPr>
          <a:xfrm>
            <a:off x="443345" y="279507"/>
            <a:ext cx="11166764" cy="1323439"/>
          </a:xfrm>
          <a:prstGeom prst="rect">
            <a:avLst/>
          </a:prstGeom>
          <a:noFill/>
        </p:spPr>
        <p:txBody>
          <a:bodyPr wrap="square">
            <a:spAutoFit/>
          </a:bodyPr>
          <a:lstStyle/>
          <a:p>
            <a:r>
              <a:rPr lang="en-US" sz="4000" b="0" i="0" dirty="0">
                <a:solidFill>
                  <a:srgbClr val="202124"/>
                </a:solidFill>
                <a:effectLst/>
                <a:latin typeface="docs-Roboto"/>
              </a:rPr>
              <a:t>11.Why is media and information literacy important in a democracy?</a:t>
            </a:r>
            <a:endParaRPr lang="en-PH" sz="4000" dirty="0"/>
          </a:p>
        </p:txBody>
      </p:sp>
      <p:sp>
        <p:nvSpPr>
          <p:cNvPr id="5" name="TextBox 4">
            <a:extLst>
              <a:ext uri="{FF2B5EF4-FFF2-40B4-BE49-F238E27FC236}">
                <a16:creationId xmlns:a16="http://schemas.microsoft.com/office/drawing/2014/main" id="{2A3B968D-259E-D170-F0E5-D15C58DFFA2C}"/>
              </a:ext>
            </a:extLst>
          </p:cNvPr>
          <p:cNvSpPr txBox="1"/>
          <p:nvPr/>
        </p:nvSpPr>
        <p:spPr>
          <a:xfrm>
            <a:off x="2867891" y="2034079"/>
            <a:ext cx="8548254" cy="707886"/>
          </a:xfrm>
          <a:prstGeom prst="rect">
            <a:avLst/>
          </a:prstGeom>
          <a:noFill/>
        </p:spPr>
        <p:txBody>
          <a:bodyPr wrap="square">
            <a:spAutoFit/>
          </a:bodyPr>
          <a:lstStyle/>
          <a:p>
            <a:r>
              <a:rPr lang="en-PH" sz="4000" dirty="0" err="1"/>
              <a:t>A.It</a:t>
            </a:r>
            <a:r>
              <a:rPr lang="en-PH" sz="4000" dirty="0"/>
              <a:t> promotes government control</a:t>
            </a:r>
          </a:p>
        </p:txBody>
      </p:sp>
      <p:sp>
        <p:nvSpPr>
          <p:cNvPr id="7" name="TextBox 6">
            <a:extLst>
              <a:ext uri="{FF2B5EF4-FFF2-40B4-BE49-F238E27FC236}">
                <a16:creationId xmlns:a16="http://schemas.microsoft.com/office/drawing/2014/main" id="{ABDCD316-61BC-5EE2-9496-BA45B1A8576D}"/>
              </a:ext>
            </a:extLst>
          </p:cNvPr>
          <p:cNvSpPr txBox="1"/>
          <p:nvPr/>
        </p:nvSpPr>
        <p:spPr>
          <a:xfrm>
            <a:off x="2867890" y="2856590"/>
            <a:ext cx="8354291" cy="707886"/>
          </a:xfrm>
          <a:prstGeom prst="rect">
            <a:avLst/>
          </a:prstGeom>
          <a:noFill/>
        </p:spPr>
        <p:txBody>
          <a:bodyPr wrap="square">
            <a:spAutoFit/>
          </a:bodyPr>
          <a:lstStyle/>
          <a:p>
            <a:r>
              <a:rPr lang="en-US" sz="4000" dirty="0" err="1"/>
              <a:t>B.It</a:t>
            </a:r>
            <a:r>
              <a:rPr lang="en-US" sz="4000" dirty="0"/>
              <a:t> limits freedom of expression</a:t>
            </a:r>
            <a:endParaRPr lang="en-PH" sz="4000" dirty="0"/>
          </a:p>
        </p:txBody>
      </p:sp>
      <p:sp>
        <p:nvSpPr>
          <p:cNvPr id="9" name="TextBox 8">
            <a:extLst>
              <a:ext uri="{FF2B5EF4-FFF2-40B4-BE49-F238E27FC236}">
                <a16:creationId xmlns:a16="http://schemas.microsoft.com/office/drawing/2014/main" id="{B0A10648-6E36-0AED-C34C-8C573E36208D}"/>
              </a:ext>
            </a:extLst>
          </p:cNvPr>
          <p:cNvSpPr txBox="1"/>
          <p:nvPr/>
        </p:nvSpPr>
        <p:spPr>
          <a:xfrm>
            <a:off x="2867890" y="3696245"/>
            <a:ext cx="9324110" cy="707886"/>
          </a:xfrm>
          <a:prstGeom prst="rect">
            <a:avLst/>
          </a:prstGeom>
          <a:noFill/>
        </p:spPr>
        <p:txBody>
          <a:bodyPr wrap="square">
            <a:spAutoFit/>
          </a:bodyPr>
          <a:lstStyle/>
          <a:p>
            <a:r>
              <a:rPr lang="en-US" sz="4000" dirty="0" err="1"/>
              <a:t>C.It</a:t>
            </a:r>
            <a:r>
              <a:rPr lang="en-US" sz="4000" dirty="0"/>
              <a:t> helps citizens make informed decisions</a:t>
            </a:r>
            <a:endParaRPr lang="en-PH" sz="4000" dirty="0"/>
          </a:p>
        </p:txBody>
      </p:sp>
      <p:sp>
        <p:nvSpPr>
          <p:cNvPr id="11" name="TextBox 10">
            <a:extLst>
              <a:ext uri="{FF2B5EF4-FFF2-40B4-BE49-F238E27FC236}">
                <a16:creationId xmlns:a16="http://schemas.microsoft.com/office/drawing/2014/main" id="{78992ECC-9FA3-4481-8A25-0650CEA48CCD}"/>
              </a:ext>
            </a:extLst>
          </p:cNvPr>
          <p:cNvSpPr txBox="1"/>
          <p:nvPr/>
        </p:nvSpPr>
        <p:spPr>
          <a:xfrm>
            <a:off x="2867889" y="4633454"/>
            <a:ext cx="9324109" cy="707886"/>
          </a:xfrm>
          <a:prstGeom prst="rect">
            <a:avLst/>
          </a:prstGeom>
          <a:noFill/>
        </p:spPr>
        <p:txBody>
          <a:bodyPr wrap="square">
            <a:spAutoFit/>
          </a:bodyPr>
          <a:lstStyle/>
          <a:p>
            <a:r>
              <a:rPr lang="en-PH" sz="4000" dirty="0" err="1"/>
              <a:t>D.It</a:t>
            </a:r>
            <a:r>
              <a:rPr lang="en-PH" sz="4000" dirty="0"/>
              <a:t> increases entertainment options</a:t>
            </a:r>
          </a:p>
        </p:txBody>
      </p:sp>
      <p:sp>
        <p:nvSpPr>
          <p:cNvPr id="12" name="TextBox 11">
            <a:extLst>
              <a:ext uri="{FF2B5EF4-FFF2-40B4-BE49-F238E27FC236}">
                <a16:creationId xmlns:a16="http://schemas.microsoft.com/office/drawing/2014/main" id="{28065889-72D7-5498-7D01-6FDB12CD5258}"/>
              </a:ext>
            </a:extLst>
          </p:cNvPr>
          <p:cNvSpPr txBox="1"/>
          <p:nvPr/>
        </p:nvSpPr>
        <p:spPr>
          <a:xfrm>
            <a:off x="7675419" y="5666508"/>
            <a:ext cx="4184074" cy="923330"/>
          </a:xfrm>
          <a:prstGeom prst="rect">
            <a:avLst/>
          </a:prstGeom>
          <a:noFill/>
        </p:spPr>
        <p:txBody>
          <a:bodyPr wrap="square" rtlCol="0">
            <a:spAutoFit/>
          </a:bodyPr>
          <a:lstStyle/>
          <a:p>
            <a:r>
              <a:rPr lang="en-PH" sz="5400" dirty="0">
                <a:solidFill>
                  <a:srgbClr val="FF0000"/>
                </a:solidFill>
              </a:rPr>
              <a:t>ANSWER: C</a:t>
            </a:r>
          </a:p>
        </p:txBody>
      </p:sp>
    </p:spTree>
    <p:extLst>
      <p:ext uri="{BB962C8B-B14F-4D97-AF65-F5344CB8AC3E}">
        <p14:creationId xmlns:p14="http://schemas.microsoft.com/office/powerpoint/2010/main" val="1298692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150EBC-9DA2-76AE-6062-7185977127FF}"/>
              </a:ext>
            </a:extLst>
          </p:cNvPr>
          <p:cNvSpPr txBox="1"/>
          <p:nvPr/>
        </p:nvSpPr>
        <p:spPr>
          <a:xfrm>
            <a:off x="249382" y="210188"/>
            <a:ext cx="11693236" cy="707886"/>
          </a:xfrm>
          <a:prstGeom prst="rect">
            <a:avLst/>
          </a:prstGeom>
          <a:noFill/>
        </p:spPr>
        <p:txBody>
          <a:bodyPr wrap="square">
            <a:spAutoFit/>
          </a:bodyPr>
          <a:lstStyle/>
          <a:p>
            <a:r>
              <a:rPr lang="en-US" sz="4000" b="0" i="0" dirty="0">
                <a:solidFill>
                  <a:srgbClr val="202124"/>
                </a:solidFill>
                <a:effectLst/>
                <a:latin typeface="docs-Roboto"/>
              </a:rPr>
              <a:t>12.Which group is most affected by the </a:t>
            </a:r>
            <a:r>
              <a:rPr lang="en-US" sz="4000" b="1" i="0" dirty="0">
                <a:solidFill>
                  <a:srgbClr val="202124"/>
                </a:solidFill>
                <a:effectLst/>
                <a:latin typeface="docs-Roboto"/>
              </a:rPr>
              <a:t>digital divide</a:t>
            </a:r>
            <a:r>
              <a:rPr lang="en-US" sz="4000" b="0" i="0" dirty="0">
                <a:solidFill>
                  <a:srgbClr val="202124"/>
                </a:solidFill>
                <a:effectLst/>
                <a:latin typeface="docs-Roboto"/>
              </a:rPr>
              <a:t>?  </a:t>
            </a:r>
            <a:endParaRPr lang="en-PH" sz="4000" dirty="0"/>
          </a:p>
        </p:txBody>
      </p:sp>
      <p:sp>
        <p:nvSpPr>
          <p:cNvPr id="5" name="TextBox 4">
            <a:extLst>
              <a:ext uri="{FF2B5EF4-FFF2-40B4-BE49-F238E27FC236}">
                <a16:creationId xmlns:a16="http://schemas.microsoft.com/office/drawing/2014/main" id="{F4191313-B65A-B922-E969-5C0C9188317A}"/>
              </a:ext>
            </a:extLst>
          </p:cNvPr>
          <p:cNvSpPr txBox="1"/>
          <p:nvPr/>
        </p:nvSpPr>
        <p:spPr>
          <a:xfrm>
            <a:off x="1011380" y="1834148"/>
            <a:ext cx="6096000" cy="707886"/>
          </a:xfrm>
          <a:prstGeom prst="rect">
            <a:avLst/>
          </a:prstGeom>
          <a:noFill/>
        </p:spPr>
        <p:txBody>
          <a:bodyPr wrap="square">
            <a:spAutoFit/>
          </a:bodyPr>
          <a:lstStyle/>
          <a:p>
            <a:r>
              <a:rPr lang="en-PH" sz="4000" dirty="0" err="1"/>
              <a:t>A.Online</a:t>
            </a:r>
            <a:r>
              <a:rPr lang="en-PH" sz="4000" dirty="0"/>
              <a:t> content creators</a:t>
            </a:r>
          </a:p>
        </p:txBody>
      </p:sp>
      <p:sp>
        <p:nvSpPr>
          <p:cNvPr id="7" name="TextBox 6">
            <a:extLst>
              <a:ext uri="{FF2B5EF4-FFF2-40B4-BE49-F238E27FC236}">
                <a16:creationId xmlns:a16="http://schemas.microsoft.com/office/drawing/2014/main" id="{63EB69E6-DA11-C2F4-333B-59F3A10067EE}"/>
              </a:ext>
            </a:extLst>
          </p:cNvPr>
          <p:cNvSpPr txBox="1"/>
          <p:nvPr/>
        </p:nvSpPr>
        <p:spPr>
          <a:xfrm>
            <a:off x="1011380" y="2631574"/>
            <a:ext cx="6096000" cy="707886"/>
          </a:xfrm>
          <a:prstGeom prst="rect">
            <a:avLst/>
          </a:prstGeom>
          <a:noFill/>
        </p:spPr>
        <p:txBody>
          <a:bodyPr wrap="square">
            <a:spAutoFit/>
          </a:bodyPr>
          <a:lstStyle/>
          <a:p>
            <a:r>
              <a:rPr lang="en-PH" sz="4000" dirty="0" err="1"/>
              <a:t>B.Social</a:t>
            </a:r>
            <a:r>
              <a:rPr lang="en-PH" sz="4000" dirty="0"/>
              <a:t> media influencers</a:t>
            </a:r>
          </a:p>
        </p:txBody>
      </p:sp>
      <p:sp>
        <p:nvSpPr>
          <p:cNvPr id="9" name="TextBox 8">
            <a:extLst>
              <a:ext uri="{FF2B5EF4-FFF2-40B4-BE49-F238E27FC236}">
                <a16:creationId xmlns:a16="http://schemas.microsoft.com/office/drawing/2014/main" id="{B0013438-B1A1-2597-C418-50E48120815F}"/>
              </a:ext>
            </a:extLst>
          </p:cNvPr>
          <p:cNvSpPr txBox="1"/>
          <p:nvPr/>
        </p:nvSpPr>
        <p:spPr>
          <a:xfrm>
            <a:off x="1011380" y="3429000"/>
            <a:ext cx="9850584" cy="707886"/>
          </a:xfrm>
          <a:prstGeom prst="rect">
            <a:avLst/>
          </a:prstGeom>
          <a:noFill/>
        </p:spPr>
        <p:txBody>
          <a:bodyPr wrap="square">
            <a:spAutoFit/>
          </a:bodyPr>
          <a:lstStyle/>
          <a:p>
            <a:r>
              <a:rPr lang="en-PH" sz="4000" dirty="0" err="1"/>
              <a:t>C.People</a:t>
            </a:r>
            <a:r>
              <a:rPr lang="en-PH" sz="4000" dirty="0"/>
              <a:t> with multiple devices</a:t>
            </a:r>
          </a:p>
        </p:txBody>
      </p:sp>
      <p:sp>
        <p:nvSpPr>
          <p:cNvPr id="11" name="TextBox 10">
            <a:extLst>
              <a:ext uri="{FF2B5EF4-FFF2-40B4-BE49-F238E27FC236}">
                <a16:creationId xmlns:a16="http://schemas.microsoft.com/office/drawing/2014/main" id="{24FB3538-0ECF-6EFE-5624-4BDF260FF9C2}"/>
              </a:ext>
            </a:extLst>
          </p:cNvPr>
          <p:cNvSpPr txBox="1"/>
          <p:nvPr/>
        </p:nvSpPr>
        <p:spPr>
          <a:xfrm>
            <a:off x="1011380" y="4344429"/>
            <a:ext cx="10654147" cy="707886"/>
          </a:xfrm>
          <a:prstGeom prst="rect">
            <a:avLst/>
          </a:prstGeom>
          <a:noFill/>
        </p:spPr>
        <p:txBody>
          <a:bodyPr wrap="square">
            <a:spAutoFit/>
          </a:bodyPr>
          <a:lstStyle/>
          <a:p>
            <a:r>
              <a:rPr lang="en-US" sz="4000" dirty="0" err="1"/>
              <a:t>D.individuals</a:t>
            </a:r>
            <a:r>
              <a:rPr lang="en-US" sz="4000" dirty="0"/>
              <a:t> with limited access to technology</a:t>
            </a:r>
            <a:endParaRPr lang="en-PH" sz="4000" dirty="0"/>
          </a:p>
        </p:txBody>
      </p:sp>
      <p:sp>
        <p:nvSpPr>
          <p:cNvPr id="12" name="TextBox 11">
            <a:extLst>
              <a:ext uri="{FF2B5EF4-FFF2-40B4-BE49-F238E27FC236}">
                <a16:creationId xmlns:a16="http://schemas.microsoft.com/office/drawing/2014/main" id="{75B3E38C-AC96-6F21-4E5F-93D8FE7096A6}"/>
              </a:ext>
            </a:extLst>
          </p:cNvPr>
          <p:cNvSpPr txBox="1"/>
          <p:nvPr/>
        </p:nvSpPr>
        <p:spPr>
          <a:xfrm>
            <a:off x="7592291" y="5322580"/>
            <a:ext cx="4156365" cy="923330"/>
          </a:xfrm>
          <a:prstGeom prst="rect">
            <a:avLst/>
          </a:prstGeom>
          <a:noFill/>
        </p:spPr>
        <p:txBody>
          <a:bodyPr wrap="square" rtlCol="0">
            <a:spAutoFit/>
          </a:bodyPr>
          <a:lstStyle/>
          <a:p>
            <a:r>
              <a:rPr lang="en-PH" sz="5400" dirty="0">
                <a:solidFill>
                  <a:srgbClr val="FF0000"/>
                </a:solidFill>
              </a:rPr>
              <a:t>ANSWER: D</a:t>
            </a:r>
          </a:p>
        </p:txBody>
      </p:sp>
    </p:spTree>
    <p:extLst>
      <p:ext uri="{BB962C8B-B14F-4D97-AF65-F5344CB8AC3E}">
        <p14:creationId xmlns:p14="http://schemas.microsoft.com/office/powerpoint/2010/main" val="999140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86D7A2-BC5C-3759-279A-6B54363F2C42}"/>
              </a:ext>
            </a:extLst>
          </p:cNvPr>
          <p:cNvSpPr txBox="1"/>
          <p:nvPr/>
        </p:nvSpPr>
        <p:spPr>
          <a:xfrm>
            <a:off x="332508" y="362589"/>
            <a:ext cx="11402291" cy="1323439"/>
          </a:xfrm>
          <a:prstGeom prst="rect">
            <a:avLst/>
          </a:prstGeom>
          <a:noFill/>
        </p:spPr>
        <p:txBody>
          <a:bodyPr wrap="square">
            <a:spAutoFit/>
          </a:bodyPr>
          <a:lstStyle/>
          <a:p>
            <a:r>
              <a:rPr lang="en-US" sz="4000" b="0" i="0" dirty="0">
                <a:solidFill>
                  <a:srgbClr val="202124"/>
                </a:solidFill>
                <a:effectLst/>
                <a:latin typeface="docs-Roboto"/>
              </a:rPr>
              <a:t>13.Why should images shared online be checked for authenticity?</a:t>
            </a:r>
            <a:endParaRPr lang="en-PH" sz="4000" dirty="0"/>
          </a:p>
        </p:txBody>
      </p:sp>
      <p:sp>
        <p:nvSpPr>
          <p:cNvPr id="5" name="TextBox 4">
            <a:extLst>
              <a:ext uri="{FF2B5EF4-FFF2-40B4-BE49-F238E27FC236}">
                <a16:creationId xmlns:a16="http://schemas.microsoft.com/office/drawing/2014/main" id="{387E4047-9990-C457-FE83-A785C8F9C33D}"/>
              </a:ext>
            </a:extLst>
          </p:cNvPr>
          <p:cNvSpPr txBox="1"/>
          <p:nvPr/>
        </p:nvSpPr>
        <p:spPr>
          <a:xfrm>
            <a:off x="886691" y="1926267"/>
            <a:ext cx="6096000" cy="707886"/>
          </a:xfrm>
          <a:prstGeom prst="rect">
            <a:avLst/>
          </a:prstGeom>
          <a:noFill/>
        </p:spPr>
        <p:txBody>
          <a:bodyPr wrap="square">
            <a:spAutoFit/>
          </a:bodyPr>
          <a:lstStyle/>
          <a:p>
            <a:r>
              <a:rPr lang="en-PH" sz="4000" dirty="0" err="1"/>
              <a:t>A.images</a:t>
            </a:r>
            <a:r>
              <a:rPr lang="en-PH" sz="4000" dirty="0"/>
              <a:t> are always edited</a:t>
            </a:r>
          </a:p>
        </p:txBody>
      </p:sp>
      <p:sp>
        <p:nvSpPr>
          <p:cNvPr id="7" name="TextBox 6">
            <a:extLst>
              <a:ext uri="{FF2B5EF4-FFF2-40B4-BE49-F238E27FC236}">
                <a16:creationId xmlns:a16="http://schemas.microsoft.com/office/drawing/2014/main" id="{2DEBD1C7-5B9E-E785-947A-D9011980F38F}"/>
              </a:ext>
            </a:extLst>
          </p:cNvPr>
          <p:cNvSpPr txBox="1"/>
          <p:nvPr/>
        </p:nvSpPr>
        <p:spPr>
          <a:xfrm>
            <a:off x="886691" y="2736924"/>
            <a:ext cx="10571018" cy="707886"/>
          </a:xfrm>
          <a:prstGeom prst="rect">
            <a:avLst/>
          </a:prstGeom>
          <a:noFill/>
        </p:spPr>
        <p:txBody>
          <a:bodyPr wrap="square">
            <a:spAutoFit/>
          </a:bodyPr>
          <a:lstStyle/>
          <a:p>
            <a:r>
              <a:rPr lang="en-US" sz="4000" dirty="0" err="1"/>
              <a:t>B.Images</a:t>
            </a:r>
            <a:r>
              <a:rPr lang="en-US" sz="4000" dirty="0"/>
              <a:t> are protected by copyright</a:t>
            </a:r>
            <a:endParaRPr lang="en-PH" sz="4000" dirty="0"/>
          </a:p>
        </p:txBody>
      </p:sp>
      <p:sp>
        <p:nvSpPr>
          <p:cNvPr id="9" name="TextBox 8">
            <a:extLst>
              <a:ext uri="{FF2B5EF4-FFF2-40B4-BE49-F238E27FC236}">
                <a16:creationId xmlns:a16="http://schemas.microsoft.com/office/drawing/2014/main" id="{28D65CD1-1443-00D7-AC8C-A59E48F6930F}"/>
              </a:ext>
            </a:extLst>
          </p:cNvPr>
          <p:cNvSpPr txBox="1"/>
          <p:nvPr/>
        </p:nvSpPr>
        <p:spPr>
          <a:xfrm>
            <a:off x="886691" y="3502410"/>
            <a:ext cx="9933709" cy="707886"/>
          </a:xfrm>
          <a:prstGeom prst="rect">
            <a:avLst/>
          </a:prstGeom>
          <a:noFill/>
        </p:spPr>
        <p:txBody>
          <a:bodyPr wrap="square">
            <a:spAutoFit/>
          </a:bodyPr>
          <a:lstStyle/>
          <a:p>
            <a:r>
              <a:rPr lang="en-US" sz="4000" dirty="0"/>
              <a:t>C. are more emotional than text</a:t>
            </a:r>
            <a:endParaRPr lang="en-PH" sz="4000" dirty="0"/>
          </a:p>
        </p:txBody>
      </p:sp>
      <p:sp>
        <p:nvSpPr>
          <p:cNvPr id="11" name="TextBox 10">
            <a:extLst>
              <a:ext uri="{FF2B5EF4-FFF2-40B4-BE49-F238E27FC236}">
                <a16:creationId xmlns:a16="http://schemas.microsoft.com/office/drawing/2014/main" id="{BF217AB5-735C-6CE8-9594-22ABD190C442}"/>
              </a:ext>
            </a:extLst>
          </p:cNvPr>
          <p:cNvSpPr txBox="1"/>
          <p:nvPr/>
        </p:nvSpPr>
        <p:spPr>
          <a:xfrm>
            <a:off x="886691" y="4267896"/>
            <a:ext cx="11028218" cy="1323439"/>
          </a:xfrm>
          <a:prstGeom prst="rect">
            <a:avLst/>
          </a:prstGeom>
          <a:noFill/>
        </p:spPr>
        <p:txBody>
          <a:bodyPr wrap="square">
            <a:spAutoFit/>
          </a:bodyPr>
          <a:lstStyle/>
          <a:p>
            <a:r>
              <a:rPr lang="en-US" sz="4000" dirty="0" err="1"/>
              <a:t>D.Images</a:t>
            </a:r>
            <a:r>
              <a:rPr lang="en-US" sz="4000" dirty="0"/>
              <a:t> can be taken out of context or manipulated</a:t>
            </a:r>
            <a:endParaRPr lang="en-PH" sz="4000" dirty="0"/>
          </a:p>
        </p:txBody>
      </p:sp>
      <p:sp>
        <p:nvSpPr>
          <p:cNvPr id="12" name="TextBox 11">
            <a:extLst>
              <a:ext uri="{FF2B5EF4-FFF2-40B4-BE49-F238E27FC236}">
                <a16:creationId xmlns:a16="http://schemas.microsoft.com/office/drawing/2014/main" id="{D90758E5-7743-B9C6-F414-99044EA9F0A6}"/>
              </a:ext>
            </a:extLst>
          </p:cNvPr>
          <p:cNvSpPr txBox="1"/>
          <p:nvPr/>
        </p:nvSpPr>
        <p:spPr>
          <a:xfrm>
            <a:off x="7592291" y="5322580"/>
            <a:ext cx="4156365" cy="923330"/>
          </a:xfrm>
          <a:prstGeom prst="rect">
            <a:avLst/>
          </a:prstGeom>
          <a:noFill/>
        </p:spPr>
        <p:txBody>
          <a:bodyPr wrap="square" rtlCol="0">
            <a:spAutoFit/>
          </a:bodyPr>
          <a:lstStyle/>
          <a:p>
            <a:r>
              <a:rPr lang="en-PH" sz="5400" dirty="0">
                <a:solidFill>
                  <a:srgbClr val="FF0000"/>
                </a:solidFill>
              </a:rPr>
              <a:t>ANSWER: D</a:t>
            </a:r>
          </a:p>
        </p:txBody>
      </p:sp>
    </p:spTree>
    <p:extLst>
      <p:ext uri="{BB962C8B-B14F-4D97-AF65-F5344CB8AC3E}">
        <p14:creationId xmlns:p14="http://schemas.microsoft.com/office/powerpoint/2010/main" val="3236662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24B011-8AD5-625C-61CA-E44A263E3FFD}"/>
              </a:ext>
            </a:extLst>
          </p:cNvPr>
          <p:cNvSpPr txBox="1"/>
          <p:nvPr/>
        </p:nvSpPr>
        <p:spPr>
          <a:xfrm>
            <a:off x="304799" y="196381"/>
            <a:ext cx="11083637" cy="1323439"/>
          </a:xfrm>
          <a:prstGeom prst="rect">
            <a:avLst/>
          </a:prstGeom>
          <a:noFill/>
        </p:spPr>
        <p:txBody>
          <a:bodyPr wrap="square">
            <a:spAutoFit/>
          </a:bodyPr>
          <a:lstStyle/>
          <a:p>
            <a:r>
              <a:rPr lang="en-US" sz="4000" b="0" i="0" dirty="0">
                <a:solidFill>
                  <a:srgbClr val="202124"/>
                </a:solidFill>
                <a:effectLst/>
                <a:latin typeface="docs-Roboto"/>
              </a:rPr>
              <a:t>14.A student reposts false information unknowingly.</a:t>
            </a:r>
            <a:br>
              <a:rPr lang="en-US" sz="4000" dirty="0"/>
            </a:br>
            <a:r>
              <a:rPr lang="en-US" sz="4000" b="0" i="0" dirty="0">
                <a:solidFill>
                  <a:srgbClr val="202124"/>
                </a:solidFill>
                <a:effectLst/>
                <a:latin typeface="docs-Roboto"/>
              </a:rPr>
              <a:t>This action is best classified as:  </a:t>
            </a:r>
            <a:endParaRPr lang="en-PH" sz="4000" dirty="0"/>
          </a:p>
        </p:txBody>
      </p:sp>
      <p:sp>
        <p:nvSpPr>
          <p:cNvPr id="5" name="TextBox 4">
            <a:extLst>
              <a:ext uri="{FF2B5EF4-FFF2-40B4-BE49-F238E27FC236}">
                <a16:creationId xmlns:a16="http://schemas.microsoft.com/office/drawing/2014/main" id="{1312D665-164E-98A7-ADD2-A67F66746C38}"/>
              </a:ext>
            </a:extLst>
          </p:cNvPr>
          <p:cNvSpPr txBox="1"/>
          <p:nvPr/>
        </p:nvSpPr>
        <p:spPr>
          <a:xfrm>
            <a:off x="1537854" y="2219098"/>
            <a:ext cx="6096000" cy="707886"/>
          </a:xfrm>
          <a:prstGeom prst="rect">
            <a:avLst/>
          </a:prstGeom>
          <a:noFill/>
        </p:spPr>
        <p:txBody>
          <a:bodyPr wrap="square">
            <a:spAutoFit/>
          </a:bodyPr>
          <a:lstStyle/>
          <a:p>
            <a:r>
              <a:rPr lang="en-PH" sz="4000" dirty="0" err="1"/>
              <a:t>A.Disinformation</a:t>
            </a:r>
            <a:endParaRPr lang="en-PH" sz="4000" dirty="0"/>
          </a:p>
        </p:txBody>
      </p:sp>
      <p:sp>
        <p:nvSpPr>
          <p:cNvPr id="7" name="TextBox 6">
            <a:extLst>
              <a:ext uri="{FF2B5EF4-FFF2-40B4-BE49-F238E27FC236}">
                <a16:creationId xmlns:a16="http://schemas.microsoft.com/office/drawing/2014/main" id="{718086FA-30D8-B33B-3A8F-F5E4657D4660}"/>
              </a:ext>
            </a:extLst>
          </p:cNvPr>
          <p:cNvSpPr txBox="1"/>
          <p:nvPr/>
        </p:nvSpPr>
        <p:spPr>
          <a:xfrm>
            <a:off x="1537854" y="3056825"/>
            <a:ext cx="6096000" cy="707886"/>
          </a:xfrm>
          <a:prstGeom prst="rect">
            <a:avLst/>
          </a:prstGeom>
          <a:noFill/>
        </p:spPr>
        <p:txBody>
          <a:bodyPr wrap="square">
            <a:spAutoFit/>
          </a:bodyPr>
          <a:lstStyle/>
          <a:p>
            <a:r>
              <a:rPr lang="en-PH" sz="4000" dirty="0" err="1"/>
              <a:t>B.Propaganda</a:t>
            </a:r>
            <a:endParaRPr lang="en-PH" sz="4000" dirty="0"/>
          </a:p>
        </p:txBody>
      </p:sp>
      <p:sp>
        <p:nvSpPr>
          <p:cNvPr id="9" name="TextBox 8">
            <a:extLst>
              <a:ext uri="{FF2B5EF4-FFF2-40B4-BE49-F238E27FC236}">
                <a16:creationId xmlns:a16="http://schemas.microsoft.com/office/drawing/2014/main" id="{E2471A44-545A-3CD0-3026-80A5A622BFE0}"/>
              </a:ext>
            </a:extLst>
          </p:cNvPr>
          <p:cNvSpPr txBox="1"/>
          <p:nvPr/>
        </p:nvSpPr>
        <p:spPr>
          <a:xfrm>
            <a:off x="1537854" y="3802549"/>
            <a:ext cx="6096000" cy="707886"/>
          </a:xfrm>
          <a:prstGeom prst="rect">
            <a:avLst/>
          </a:prstGeom>
          <a:noFill/>
        </p:spPr>
        <p:txBody>
          <a:bodyPr wrap="square">
            <a:spAutoFit/>
          </a:bodyPr>
          <a:lstStyle/>
          <a:p>
            <a:r>
              <a:rPr lang="en-PH" sz="4000" dirty="0" err="1"/>
              <a:t>C.Misinformation</a:t>
            </a:r>
            <a:endParaRPr lang="en-PH" sz="4000" dirty="0"/>
          </a:p>
        </p:txBody>
      </p:sp>
      <p:sp>
        <p:nvSpPr>
          <p:cNvPr id="11" name="TextBox 10">
            <a:extLst>
              <a:ext uri="{FF2B5EF4-FFF2-40B4-BE49-F238E27FC236}">
                <a16:creationId xmlns:a16="http://schemas.microsoft.com/office/drawing/2014/main" id="{99A8C371-7E61-E2E8-43A8-C3DC05A0D450}"/>
              </a:ext>
            </a:extLst>
          </p:cNvPr>
          <p:cNvSpPr txBox="1"/>
          <p:nvPr/>
        </p:nvSpPr>
        <p:spPr>
          <a:xfrm>
            <a:off x="1537854" y="4510435"/>
            <a:ext cx="6096000" cy="707886"/>
          </a:xfrm>
          <a:prstGeom prst="rect">
            <a:avLst/>
          </a:prstGeom>
          <a:noFill/>
        </p:spPr>
        <p:txBody>
          <a:bodyPr wrap="square">
            <a:spAutoFit/>
          </a:bodyPr>
          <a:lstStyle/>
          <a:p>
            <a:r>
              <a:rPr lang="en-PH" sz="4000" dirty="0" err="1"/>
              <a:t>D.Censorship</a:t>
            </a:r>
            <a:endParaRPr lang="en-PH" sz="4000" dirty="0"/>
          </a:p>
        </p:txBody>
      </p:sp>
      <p:sp>
        <p:nvSpPr>
          <p:cNvPr id="12" name="TextBox 11">
            <a:extLst>
              <a:ext uri="{FF2B5EF4-FFF2-40B4-BE49-F238E27FC236}">
                <a16:creationId xmlns:a16="http://schemas.microsoft.com/office/drawing/2014/main" id="{A0625CB2-89F4-E963-CD8A-CF1365263AD6}"/>
              </a:ext>
            </a:extLst>
          </p:cNvPr>
          <p:cNvSpPr txBox="1"/>
          <p:nvPr/>
        </p:nvSpPr>
        <p:spPr>
          <a:xfrm>
            <a:off x="7592291" y="5322580"/>
            <a:ext cx="4156365" cy="923330"/>
          </a:xfrm>
          <a:prstGeom prst="rect">
            <a:avLst/>
          </a:prstGeom>
          <a:noFill/>
        </p:spPr>
        <p:txBody>
          <a:bodyPr wrap="square" rtlCol="0">
            <a:spAutoFit/>
          </a:bodyPr>
          <a:lstStyle/>
          <a:p>
            <a:r>
              <a:rPr lang="en-PH" sz="5400" dirty="0">
                <a:solidFill>
                  <a:srgbClr val="FF0000"/>
                </a:solidFill>
              </a:rPr>
              <a:t>ANSWER: C</a:t>
            </a:r>
          </a:p>
        </p:txBody>
      </p:sp>
    </p:spTree>
    <p:extLst>
      <p:ext uri="{BB962C8B-B14F-4D97-AF65-F5344CB8AC3E}">
        <p14:creationId xmlns:p14="http://schemas.microsoft.com/office/powerpoint/2010/main" val="3779886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FF8A08-9413-544D-736F-4751B2D5D2D9}"/>
              </a:ext>
            </a:extLst>
          </p:cNvPr>
          <p:cNvSpPr txBox="1"/>
          <p:nvPr/>
        </p:nvSpPr>
        <p:spPr>
          <a:xfrm>
            <a:off x="207817" y="263236"/>
            <a:ext cx="11028219" cy="1323439"/>
          </a:xfrm>
          <a:prstGeom prst="rect">
            <a:avLst/>
          </a:prstGeom>
          <a:noFill/>
        </p:spPr>
        <p:txBody>
          <a:bodyPr wrap="square">
            <a:spAutoFit/>
          </a:bodyPr>
          <a:lstStyle/>
          <a:p>
            <a:r>
              <a:rPr lang="en-US" sz="4000" b="0" i="0" dirty="0">
                <a:solidFill>
                  <a:srgbClr val="202124"/>
                </a:solidFill>
                <a:effectLst/>
                <a:latin typeface="docs-Roboto"/>
              </a:rPr>
              <a:t>15.Which question best helps determine whether an online source is credible?</a:t>
            </a:r>
            <a:endParaRPr lang="en-PH" sz="4000" dirty="0"/>
          </a:p>
        </p:txBody>
      </p:sp>
      <p:sp>
        <p:nvSpPr>
          <p:cNvPr id="5" name="TextBox 4">
            <a:extLst>
              <a:ext uri="{FF2B5EF4-FFF2-40B4-BE49-F238E27FC236}">
                <a16:creationId xmlns:a16="http://schemas.microsoft.com/office/drawing/2014/main" id="{4FE5642F-5BCC-D19F-0FCE-458F65A8E59B}"/>
              </a:ext>
            </a:extLst>
          </p:cNvPr>
          <p:cNvSpPr txBox="1"/>
          <p:nvPr/>
        </p:nvSpPr>
        <p:spPr>
          <a:xfrm>
            <a:off x="786244" y="2110323"/>
            <a:ext cx="10619512" cy="707886"/>
          </a:xfrm>
          <a:prstGeom prst="rect">
            <a:avLst/>
          </a:prstGeom>
          <a:noFill/>
        </p:spPr>
        <p:txBody>
          <a:bodyPr wrap="square">
            <a:spAutoFit/>
          </a:bodyPr>
          <a:lstStyle/>
          <a:p>
            <a:r>
              <a:rPr lang="en-PH" sz="4000" dirty="0"/>
              <a:t>A.is it emotionally appealing?</a:t>
            </a:r>
          </a:p>
        </p:txBody>
      </p:sp>
      <p:sp>
        <p:nvSpPr>
          <p:cNvPr id="7" name="TextBox 6">
            <a:extLst>
              <a:ext uri="{FF2B5EF4-FFF2-40B4-BE49-F238E27FC236}">
                <a16:creationId xmlns:a16="http://schemas.microsoft.com/office/drawing/2014/main" id="{68D53ED4-1353-57D1-0763-F4E49434E036}"/>
              </a:ext>
            </a:extLst>
          </p:cNvPr>
          <p:cNvSpPr txBox="1"/>
          <p:nvPr/>
        </p:nvSpPr>
        <p:spPr>
          <a:xfrm>
            <a:off x="786244" y="2859612"/>
            <a:ext cx="10796156" cy="707886"/>
          </a:xfrm>
          <a:prstGeom prst="rect">
            <a:avLst/>
          </a:prstGeom>
          <a:noFill/>
        </p:spPr>
        <p:txBody>
          <a:bodyPr wrap="square">
            <a:spAutoFit/>
          </a:bodyPr>
          <a:lstStyle/>
          <a:p>
            <a:r>
              <a:rPr lang="en-US" sz="4000" dirty="0"/>
              <a:t>B.is the design visually attractive?</a:t>
            </a:r>
            <a:endParaRPr lang="en-PH" sz="4000" dirty="0"/>
          </a:p>
        </p:txBody>
      </p:sp>
      <p:sp>
        <p:nvSpPr>
          <p:cNvPr id="9" name="TextBox 8">
            <a:extLst>
              <a:ext uri="{FF2B5EF4-FFF2-40B4-BE49-F238E27FC236}">
                <a16:creationId xmlns:a16="http://schemas.microsoft.com/office/drawing/2014/main" id="{28F744E2-C6DD-F8AE-BCE8-A8548FCDF9E2}"/>
              </a:ext>
            </a:extLst>
          </p:cNvPr>
          <p:cNvSpPr txBox="1"/>
          <p:nvPr/>
        </p:nvSpPr>
        <p:spPr>
          <a:xfrm>
            <a:off x="786244" y="3582887"/>
            <a:ext cx="10962412" cy="707886"/>
          </a:xfrm>
          <a:prstGeom prst="rect">
            <a:avLst/>
          </a:prstGeom>
          <a:noFill/>
        </p:spPr>
        <p:txBody>
          <a:bodyPr wrap="square">
            <a:spAutoFit/>
          </a:bodyPr>
          <a:lstStyle/>
          <a:p>
            <a:r>
              <a:rPr lang="en-US" sz="4000" dirty="0"/>
              <a:t>C.Is the author qualified on the topic?</a:t>
            </a:r>
            <a:endParaRPr lang="en-PH" sz="4000" dirty="0"/>
          </a:p>
        </p:txBody>
      </p:sp>
      <p:sp>
        <p:nvSpPr>
          <p:cNvPr id="11" name="TextBox 10">
            <a:extLst>
              <a:ext uri="{FF2B5EF4-FFF2-40B4-BE49-F238E27FC236}">
                <a16:creationId xmlns:a16="http://schemas.microsoft.com/office/drawing/2014/main" id="{DAF0C4B9-5D30-86A3-70E4-EB0FA4133BF6}"/>
              </a:ext>
            </a:extLst>
          </p:cNvPr>
          <p:cNvSpPr txBox="1"/>
          <p:nvPr/>
        </p:nvSpPr>
        <p:spPr>
          <a:xfrm>
            <a:off x="786244" y="4437344"/>
            <a:ext cx="10449792" cy="707886"/>
          </a:xfrm>
          <a:prstGeom prst="rect">
            <a:avLst/>
          </a:prstGeom>
          <a:noFill/>
        </p:spPr>
        <p:txBody>
          <a:bodyPr wrap="square">
            <a:spAutoFit/>
          </a:bodyPr>
          <a:lstStyle/>
          <a:p>
            <a:r>
              <a:rPr lang="en-US" sz="4000" dirty="0"/>
              <a:t>D.Is it widely shared on social media?</a:t>
            </a:r>
            <a:endParaRPr lang="en-PH" sz="4000" dirty="0"/>
          </a:p>
        </p:txBody>
      </p:sp>
      <p:sp>
        <p:nvSpPr>
          <p:cNvPr id="12" name="TextBox 11">
            <a:extLst>
              <a:ext uri="{FF2B5EF4-FFF2-40B4-BE49-F238E27FC236}">
                <a16:creationId xmlns:a16="http://schemas.microsoft.com/office/drawing/2014/main" id="{72AAB862-528A-9290-627D-370B444BE0CE}"/>
              </a:ext>
            </a:extLst>
          </p:cNvPr>
          <p:cNvSpPr txBox="1"/>
          <p:nvPr/>
        </p:nvSpPr>
        <p:spPr>
          <a:xfrm>
            <a:off x="7592291" y="5322580"/>
            <a:ext cx="4156365" cy="923330"/>
          </a:xfrm>
          <a:prstGeom prst="rect">
            <a:avLst/>
          </a:prstGeom>
          <a:noFill/>
        </p:spPr>
        <p:txBody>
          <a:bodyPr wrap="square" rtlCol="0">
            <a:spAutoFit/>
          </a:bodyPr>
          <a:lstStyle/>
          <a:p>
            <a:r>
              <a:rPr lang="en-PH" sz="5400" dirty="0">
                <a:solidFill>
                  <a:srgbClr val="FF0000"/>
                </a:solidFill>
              </a:rPr>
              <a:t>ANSWER: C</a:t>
            </a:r>
          </a:p>
        </p:txBody>
      </p:sp>
    </p:spTree>
    <p:extLst>
      <p:ext uri="{BB962C8B-B14F-4D97-AF65-F5344CB8AC3E}">
        <p14:creationId xmlns:p14="http://schemas.microsoft.com/office/powerpoint/2010/main" val="1776344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31D20B3-B037-2A54-C975-04CB4441D7FC}"/>
              </a:ext>
            </a:extLst>
          </p:cNvPr>
          <p:cNvSpPr txBox="1"/>
          <p:nvPr/>
        </p:nvSpPr>
        <p:spPr>
          <a:xfrm>
            <a:off x="290946" y="251844"/>
            <a:ext cx="11222182" cy="1938992"/>
          </a:xfrm>
          <a:prstGeom prst="rect">
            <a:avLst/>
          </a:prstGeom>
          <a:noFill/>
        </p:spPr>
        <p:txBody>
          <a:bodyPr wrap="square">
            <a:spAutoFit/>
          </a:bodyPr>
          <a:lstStyle/>
          <a:p>
            <a:r>
              <a:rPr lang="en-US" sz="4000" dirty="0">
                <a:solidFill>
                  <a:srgbClr val="202124"/>
                </a:solidFill>
                <a:latin typeface="docs-Roboto"/>
              </a:rPr>
              <a:t>16.</a:t>
            </a:r>
            <a:r>
              <a:rPr lang="en-US" sz="4000" b="0" i="0" dirty="0">
                <a:solidFill>
                  <a:srgbClr val="202124"/>
                </a:solidFill>
                <a:effectLst/>
                <a:latin typeface="docs-Roboto"/>
              </a:rPr>
              <a:t> An online article has no author name, publication date, or references.</a:t>
            </a:r>
            <a:br>
              <a:rPr lang="en-US" sz="4000" dirty="0"/>
            </a:br>
            <a:r>
              <a:rPr lang="en-US" sz="4000" b="0" i="0" dirty="0">
                <a:solidFill>
                  <a:srgbClr val="202124"/>
                </a:solidFill>
                <a:effectLst/>
                <a:latin typeface="docs-Roboto"/>
              </a:rPr>
              <a:t>What does this most likely indicate?  </a:t>
            </a:r>
            <a:endParaRPr lang="en-PH" sz="4000" dirty="0"/>
          </a:p>
        </p:txBody>
      </p:sp>
      <p:sp>
        <p:nvSpPr>
          <p:cNvPr id="5" name="TextBox 4">
            <a:extLst>
              <a:ext uri="{FF2B5EF4-FFF2-40B4-BE49-F238E27FC236}">
                <a16:creationId xmlns:a16="http://schemas.microsoft.com/office/drawing/2014/main" id="{0928A606-A3FD-CACA-0E9E-E64704C554A2}"/>
              </a:ext>
            </a:extLst>
          </p:cNvPr>
          <p:cNvSpPr txBox="1"/>
          <p:nvPr/>
        </p:nvSpPr>
        <p:spPr>
          <a:xfrm>
            <a:off x="2757055" y="2616996"/>
            <a:ext cx="6096000" cy="707886"/>
          </a:xfrm>
          <a:prstGeom prst="rect">
            <a:avLst/>
          </a:prstGeom>
          <a:noFill/>
        </p:spPr>
        <p:txBody>
          <a:bodyPr wrap="square">
            <a:spAutoFit/>
          </a:bodyPr>
          <a:lstStyle/>
          <a:p>
            <a:r>
              <a:rPr lang="en-PH" sz="4000" dirty="0" err="1"/>
              <a:t>A.The</a:t>
            </a:r>
            <a:r>
              <a:rPr lang="en-PH" sz="4000" dirty="0"/>
              <a:t> article is unbiased</a:t>
            </a:r>
          </a:p>
        </p:txBody>
      </p:sp>
      <p:sp>
        <p:nvSpPr>
          <p:cNvPr id="7" name="TextBox 6">
            <a:extLst>
              <a:ext uri="{FF2B5EF4-FFF2-40B4-BE49-F238E27FC236}">
                <a16:creationId xmlns:a16="http://schemas.microsoft.com/office/drawing/2014/main" id="{020FAF55-9B8C-9F5C-1428-4FD78E6475FF}"/>
              </a:ext>
            </a:extLst>
          </p:cNvPr>
          <p:cNvSpPr txBox="1"/>
          <p:nvPr/>
        </p:nvSpPr>
        <p:spPr>
          <a:xfrm>
            <a:off x="2854037" y="3508577"/>
            <a:ext cx="6096000" cy="707886"/>
          </a:xfrm>
          <a:prstGeom prst="rect">
            <a:avLst/>
          </a:prstGeom>
          <a:noFill/>
        </p:spPr>
        <p:txBody>
          <a:bodyPr wrap="square">
            <a:spAutoFit/>
          </a:bodyPr>
          <a:lstStyle/>
          <a:p>
            <a:r>
              <a:rPr lang="en-PH" sz="4000" dirty="0" err="1"/>
              <a:t>B.The</a:t>
            </a:r>
            <a:r>
              <a:rPr lang="en-PH" sz="4000" dirty="0"/>
              <a:t> article is reliable</a:t>
            </a:r>
          </a:p>
        </p:txBody>
      </p:sp>
      <p:sp>
        <p:nvSpPr>
          <p:cNvPr id="9" name="TextBox 8">
            <a:extLst>
              <a:ext uri="{FF2B5EF4-FFF2-40B4-BE49-F238E27FC236}">
                <a16:creationId xmlns:a16="http://schemas.microsoft.com/office/drawing/2014/main" id="{58A9346B-3F3B-51B8-1AAD-018B4698D863}"/>
              </a:ext>
            </a:extLst>
          </p:cNvPr>
          <p:cNvSpPr txBox="1"/>
          <p:nvPr/>
        </p:nvSpPr>
        <p:spPr>
          <a:xfrm>
            <a:off x="2854037" y="4275541"/>
            <a:ext cx="6096000" cy="707886"/>
          </a:xfrm>
          <a:prstGeom prst="rect">
            <a:avLst/>
          </a:prstGeom>
          <a:noFill/>
        </p:spPr>
        <p:txBody>
          <a:bodyPr wrap="square">
            <a:spAutoFit/>
          </a:bodyPr>
          <a:lstStyle/>
          <a:p>
            <a:r>
              <a:rPr lang="en-PH" sz="4000" dirty="0" err="1"/>
              <a:t>C.The</a:t>
            </a:r>
            <a:r>
              <a:rPr lang="en-PH" sz="4000" dirty="0"/>
              <a:t> article lacks credibility</a:t>
            </a:r>
          </a:p>
        </p:txBody>
      </p:sp>
      <p:sp>
        <p:nvSpPr>
          <p:cNvPr id="11" name="TextBox 10">
            <a:extLst>
              <a:ext uri="{FF2B5EF4-FFF2-40B4-BE49-F238E27FC236}">
                <a16:creationId xmlns:a16="http://schemas.microsoft.com/office/drawing/2014/main" id="{1570B1B8-27C7-02F1-6A11-A7F0EA453A8C}"/>
              </a:ext>
            </a:extLst>
          </p:cNvPr>
          <p:cNvSpPr txBox="1"/>
          <p:nvPr/>
        </p:nvSpPr>
        <p:spPr>
          <a:xfrm>
            <a:off x="2854037" y="4983427"/>
            <a:ext cx="7952508" cy="707886"/>
          </a:xfrm>
          <a:prstGeom prst="rect">
            <a:avLst/>
          </a:prstGeom>
          <a:noFill/>
        </p:spPr>
        <p:txBody>
          <a:bodyPr wrap="square">
            <a:spAutoFit/>
          </a:bodyPr>
          <a:lstStyle/>
          <a:p>
            <a:r>
              <a:rPr lang="en-PH" sz="4000" dirty="0" err="1"/>
              <a:t>D.The</a:t>
            </a:r>
            <a:r>
              <a:rPr lang="en-PH" sz="4000" dirty="0"/>
              <a:t> article is peer-reviewed</a:t>
            </a:r>
          </a:p>
        </p:txBody>
      </p:sp>
      <p:sp>
        <p:nvSpPr>
          <p:cNvPr id="12" name="TextBox 11">
            <a:extLst>
              <a:ext uri="{FF2B5EF4-FFF2-40B4-BE49-F238E27FC236}">
                <a16:creationId xmlns:a16="http://schemas.microsoft.com/office/drawing/2014/main" id="{463F5640-0628-2327-1650-E0170EBCBDE3}"/>
              </a:ext>
            </a:extLst>
          </p:cNvPr>
          <p:cNvSpPr txBox="1"/>
          <p:nvPr/>
        </p:nvSpPr>
        <p:spPr>
          <a:xfrm>
            <a:off x="7772400" y="5750391"/>
            <a:ext cx="4156365" cy="923330"/>
          </a:xfrm>
          <a:prstGeom prst="rect">
            <a:avLst/>
          </a:prstGeom>
          <a:noFill/>
        </p:spPr>
        <p:txBody>
          <a:bodyPr wrap="square" rtlCol="0">
            <a:spAutoFit/>
          </a:bodyPr>
          <a:lstStyle/>
          <a:p>
            <a:r>
              <a:rPr lang="en-PH" sz="5400" dirty="0">
                <a:solidFill>
                  <a:srgbClr val="FF0000"/>
                </a:solidFill>
              </a:rPr>
              <a:t>ANSWER: C</a:t>
            </a:r>
          </a:p>
        </p:txBody>
      </p:sp>
    </p:spTree>
    <p:extLst>
      <p:ext uri="{BB962C8B-B14F-4D97-AF65-F5344CB8AC3E}">
        <p14:creationId xmlns:p14="http://schemas.microsoft.com/office/powerpoint/2010/main" val="566737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835</Words>
  <Application>Microsoft Office PowerPoint</Application>
  <PresentationFormat>Widescreen</PresentationFormat>
  <Paragraphs>96</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docs-Roboto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gelie bayabay</dc:creator>
  <cp:lastModifiedBy>gelie bayabay</cp:lastModifiedBy>
  <cp:revision>4</cp:revision>
  <dcterms:created xsi:type="dcterms:W3CDTF">2026-01-10T00:01:01Z</dcterms:created>
  <dcterms:modified xsi:type="dcterms:W3CDTF">2026-01-10T01:06:43Z</dcterms:modified>
</cp:coreProperties>
</file>