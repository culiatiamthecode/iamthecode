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8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260" r:id="rId23"/>
    <p:sldId id="262" r:id="rId24"/>
    <p:sldId id="261" r:id="rId25"/>
    <p:sldId id="263" r:id="rId26"/>
    <p:sldId id="264" r:id="rId27"/>
    <p:sldId id="265" r:id="rId28"/>
    <p:sldId id="266" r:id="rId29"/>
    <p:sldId id="267" r:id="rId30"/>
    <p:sldId id="300" r:id="rId31"/>
    <p:sldId id="268" r:id="rId32"/>
    <p:sldId id="269" r:id="rId33"/>
    <p:sldId id="270" r:id="rId34"/>
    <p:sldId id="271" r:id="rId35"/>
    <p:sldId id="272" r:id="rId36"/>
    <p:sldId id="298" r:id="rId37"/>
    <p:sldId id="274" r:id="rId38"/>
    <p:sldId id="299" r:id="rId39"/>
    <p:sldId id="275" r:id="rId40"/>
    <p:sldId id="301" r:id="rId41"/>
    <p:sldId id="303" r:id="rId42"/>
    <p:sldId id="307" r:id="rId43"/>
    <p:sldId id="306" r:id="rId44"/>
    <p:sldId id="276" r:id="rId45"/>
    <p:sldId id="277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  <p:sldId id="288" r:id="rId55"/>
    <p:sldId id="289" r:id="rId56"/>
    <p:sldId id="296" r:id="rId57"/>
    <p:sldId id="297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BF2"/>
    <a:srgbClr val="F4D8F1"/>
    <a:srgbClr val="FCF2FB"/>
    <a:srgbClr val="EBB7E5"/>
    <a:srgbClr val="DA78CE"/>
    <a:srgbClr val="FEF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0DB3-8928-18E9-0139-A0E582871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626AE-B2F8-196E-39C6-9337AA31E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055C6-FB26-968E-8873-3974D1F1E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653D-ED4C-4D35-AC3F-5E7B96762D3A}" type="datetimeFigureOut">
              <a:rPr lang="en-PH" smtClean="0"/>
              <a:t>1/9/2026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2CF76-06AA-9092-399F-A171B4F8D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49C53-1E8C-9EC6-BBB8-907EB2D0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826E-5960-4EE9-90AD-5F338E6CC29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4472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1C53F-278C-B756-9A24-2BBE3DEAB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4DE8C-0693-D289-09DC-FF0BA31ED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982F0-D61F-61C3-A693-CAD5EB70F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653D-ED4C-4D35-AC3F-5E7B96762D3A}" type="datetimeFigureOut">
              <a:rPr lang="en-PH" smtClean="0"/>
              <a:t>1/9/2026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E5321-D15A-19BD-EA9A-D983C300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55FDD-E4CE-9DD2-CEC1-1F15E317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826E-5960-4EE9-90AD-5F338E6CC29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9450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9128-4852-EB2E-4550-0085FD941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9071C-9011-DF2F-9CF0-4272A1FCB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B12F8-A429-74BB-1444-3E129993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653D-ED4C-4D35-AC3F-5E7B96762D3A}" type="datetimeFigureOut">
              <a:rPr lang="en-PH" smtClean="0"/>
              <a:t>1/9/2026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74DFA-93CE-5808-3C5F-61AF893F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FDE0C-1820-53C9-2C44-C8E32E6D3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826E-5960-4EE9-90AD-5F338E6CC29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6162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6ADFC-8CD2-2CA8-AC82-8111BB993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3EEE8-35BA-6D55-01D8-E3F4CCF3E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9C457-DD28-37CF-2A9A-8AD713F9E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981EC-AAEF-48E3-B7B1-44F1D8E43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653D-ED4C-4D35-AC3F-5E7B96762D3A}" type="datetimeFigureOut">
              <a:rPr lang="en-PH" smtClean="0"/>
              <a:t>1/9/2026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A657E-B88E-C577-7B6B-62F995AA0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1E145-45AF-E130-564B-BC0417F2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826E-5960-4EE9-90AD-5F338E6CC29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251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AB434-19C6-A241-9F90-0271D2D46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7C513-6528-2E52-6308-AB4B48B3C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035AE-418C-073E-E729-ED7E27B0D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65898D-68CE-6E06-6E2D-47E691CDD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CA072-773E-BE33-33B1-4DDA00A8F5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592B0E-1D31-10FF-2AE3-11FD691E7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653D-ED4C-4D35-AC3F-5E7B96762D3A}" type="datetimeFigureOut">
              <a:rPr lang="en-PH" smtClean="0"/>
              <a:t>1/9/2026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878A5F-A096-A1DD-0833-E7FEAF8E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78418B-39FB-2C04-04FE-284BA51F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826E-5960-4EE9-90AD-5F338E6CC29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5101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EDE0E-6B91-7379-A1B5-BA7C5ED8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6CAA6-0836-4C48-BBC6-38396B2AB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653D-ED4C-4D35-AC3F-5E7B96762D3A}" type="datetimeFigureOut">
              <a:rPr lang="en-PH" smtClean="0"/>
              <a:t>1/9/2026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D8092-C48D-CAC8-6DB4-ABEFDA6B8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DBC17-6261-638D-084B-E61FB69C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826E-5960-4EE9-90AD-5F338E6CC29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4032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496270-F649-013D-9E8B-7BA27D66E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653D-ED4C-4D35-AC3F-5E7B96762D3A}" type="datetimeFigureOut">
              <a:rPr lang="en-PH" smtClean="0"/>
              <a:t>1/9/2026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A6896-9C96-0476-8FE6-124FDAB64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D87AD-DEB7-D72A-D046-EBE0BF8D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826E-5960-4EE9-90AD-5F338E6CC29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0812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2425-2E64-3272-3641-4D928B7FF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D85FB-7999-D9DB-268D-D4390585A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E7AC51-43F6-30B7-AF17-F2352591E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3427B-8223-E7B9-A496-41AD31C33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653D-ED4C-4D35-AC3F-5E7B96762D3A}" type="datetimeFigureOut">
              <a:rPr lang="en-PH" smtClean="0"/>
              <a:t>1/9/2026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0DEDE-B98F-5F80-86D5-EC0DA5DF6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FB08B-26B6-592D-348F-734C2702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826E-5960-4EE9-90AD-5F338E6CC29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4016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D4FA-D3A5-D96A-522B-F26BE3775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CA648-1941-2440-E881-A3F3D477A4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17A92-FBE1-A3AB-FC46-7A5F1C2D3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34E49D-C8BF-2CE8-9CB0-28D3F1DEF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653D-ED4C-4D35-AC3F-5E7B96762D3A}" type="datetimeFigureOut">
              <a:rPr lang="en-PH" smtClean="0"/>
              <a:t>1/9/2026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A74C4-ECD4-DEA1-E3F0-7DBDB3D1E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1B00A-F7B3-E89A-F90C-08BCF3F6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826E-5960-4EE9-90AD-5F338E6CC29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2363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14935-65DA-0482-1ED6-8F1A40D29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BE1A3-C48C-FB88-1478-5C91F894E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1B683-1D03-5C56-C1E4-4BFE78167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653D-ED4C-4D35-AC3F-5E7B96762D3A}" type="datetimeFigureOut">
              <a:rPr lang="en-PH" smtClean="0"/>
              <a:t>1/9/2026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C7DF7-60FB-D1B9-B875-5C629F87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46C10-AB08-884B-FF6A-9B512875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826E-5960-4EE9-90AD-5F338E6CC29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54715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4CE1BA-B62E-572B-912F-490AF72EC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CF370-99E8-3ED2-FB38-7FD5240FB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23F18-490D-6253-F3AF-47ABBA453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653D-ED4C-4D35-AC3F-5E7B96762D3A}" type="datetimeFigureOut">
              <a:rPr lang="en-PH" smtClean="0"/>
              <a:t>1/9/2026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42918-9E7C-518C-C045-E3E7B9E98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A3A55-251A-E22C-96A6-0595859D7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826E-5960-4EE9-90AD-5F338E6CC29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8780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045EDD-768E-BF9E-E625-6D67B788C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4C188-5472-EB77-F2F8-BA26FFCDB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AE0D4-1654-47B8-A545-3525999399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D653D-ED4C-4D35-AC3F-5E7B96762D3A}" type="datetimeFigureOut">
              <a:rPr lang="en-PH" smtClean="0"/>
              <a:t>1/9/2026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8E28B-26D9-6F62-EEEE-AB49E6C8BF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20C59-2C83-8C31-8400-E99A3176A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4826E-5960-4EE9-90AD-5F338E6CC29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1179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0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7E10CD6-A20A-DC28-E824-84912D47E609}"/>
              </a:ext>
            </a:extLst>
          </p:cNvPr>
          <p:cNvSpPr txBox="1"/>
          <p:nvPr/>
        </p:nvSpPr>
        <p:spPr>
          <a:xfrm>
            <a:off x="999933" y="1695106"/>
            <a:ext cx="10558405" cy="304433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NAT REVIEW FOR FILIPINO</a:t>
            </a:r>
          </a:p>
        </p:txBody>
      </p:sp>
    </p:spTree>
    <p:extLst>
      <p:ext uri="{BB962C8B-B14F-4D97-AF65-F5344CB8AC3E}">
        <p14:creationId xmlns:p14="http://schemas.microsoft.com/office/powerpoint/2010/main" val="126811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8498A1-6A5A-468C-D911-156ECE29E24F}"/>
              </a:ext>
            </a:extLst>
          </p:cNvPr>
          <p:cNvSpPr txBox="1"/>
          <p:nvPr/>
        </p:nvSpPr>
        <p:spPr>
          <a:xfrm>
            <a:off x="186267" y="459460"/>
            <a:ext cx="11540066" cy="3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b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 </a:t>
            </a:r>
            <a:r>
              <a:rPr lang="en-PH" sz="1800" b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negosyante</a:t>
            </a:r>
            <a:r>
              <a:rPr lang="en-PH" sz="1800" b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may 1 </a:t>
            </a:r>
            <a:r>
              <a:rPr lang="en-PH" sz="1800" b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taon</a:t>
            </a:r>
            <a:r>
              <a:rPr lang="en-PH" sz="1800" b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para </a:t>
            </a:r>
            <a:r>
              <a:rPr lang="en-PH" sz="1800" b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magbayad</a:t>
            </a:r>
            <a:r>
              <a:rPr lang="en-PH" sz="1800" b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‘missed contributions’ </a:t>
            </a:r>
            <a:r>
              <a:rPr lang="en-PH" sz="1800" b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1800" b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PhilHealth—PBBM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53A747-EC3B-028E-B334-50F99E3AE30D}"/>
              </a:ext>
            </a:extLst>
          </p:cNvPr>
          <p:cNvSpPr txBox="1"/>
          <p:nvPr/>
        </p:nvSpPr>
        <p:spPr>
          <a:xfrm>
            <a:off x="186267" y="1660546"/>
            <a:ext cx="11421533" cy="4182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457200">
              <a:lnSpc>
                <a:spcPct val="107000"/>
              </a:lnSpc>
              <a:spcBef>
                <a:spcPts val="600"/>
              </a:spcBef>
              <a:buNone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Nagbigay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direktiba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Pangulong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Ferdinand “Bongbong” Marcos, Jr.,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Philippine Health Insurance Corporation (PhilHealth)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magpatupad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“general amnesty” para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hindi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nakapagbayad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kontribusyon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mula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2023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hanggang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2024. 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lnSpc>
                <a:spcPct val="107000"/>
              </a:lnSpc>
              <a:spcBef>
                <a:spcPts val="600"/>
              </a:spcBef>
              <a:buNone/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Ayon kay PBBM,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inilabas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niyang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video statement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kaniyang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Facebook post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nitong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Huwebes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Enero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8,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sinabi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niyang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kasama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pupuntiryahin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PhilHealth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negosyante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private employer, at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self-employed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magbigay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kanilang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“missed contributions.”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61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A3E802-E8A6-31A6-9F79-7639DF7E49B7}"/>
              </a:ext>
            </a:extLst>
          </p:cNvPr>
          <p:cNvSpPr txBox="1"/>
          <p:nvPr/>
        </p:nvSpPr>
        <p:spPr>
          <a:xfrm>
            <a:off x="143933" y="385496"/>
            <a:ext cx="11599333" cy="5916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457200">
              <a:lnSpc>
                <a:spcPct val="107000"/>
              </a:lnSpc>
              <a:spcAft>
                <a:spcPts val="600"/>
              </a:spcAft>
              <a:buNone/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“Sa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aming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patuloy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tumulong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ating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kababayan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lalong-lalo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tinatawag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nating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health care, ay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inutusan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ko ang PhilHealth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magpatupad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‘General Amnesty’ para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negosyante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private employer,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self-employed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hindi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nabayarang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kontribusyon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PhilHealth,”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pagsisimula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niya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lnSpc>
                <a:spcPct val="107000"/>
              </a:lnSpc>
              <a:spcAft>
                <a:spcPts val="600"/>
              </a:spcAft>
              <a:buNone/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lnSpc>
                <a:spcPct val="107000"/>
              </a:lnSpc>
              <a:spcAft>
                <a:spcPts val="600"/>
              </a:spcAft>
              <a:buNone/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Dagdag pa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niya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“Alam naman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namin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‘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three (3) percent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binabayad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para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PhilHealth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buwan-buwan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ay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ramdam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ramdam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ating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kababayan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.”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lnSpc>
                <a:spcPct val="107000"/>
              </a:lnSpc>
              <a:spcAft>
                <a:spcPts val="600"/>
              </a:spcAft>
              <a:buNone/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lnSpc>
                <a:spcPct val="107000"/>
              </a:lnSpc>
              <a:spcAft>
                <a:spcPts val="600"/>
              </a:spcAft>
              <a:buNone/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Ani PBBM,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gagawa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raw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sila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ngayong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taon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2026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tinawag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nilang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“one-time waiver” para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magbigay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taon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nasabing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sektor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upang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bayaran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kanilang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“missed contributions”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mula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2013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hanggang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2025. 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781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5C1A1C-A989-E6C1-6A5E-0600F4766F6F}"/>
              </a:ext>
            </a:extLst>
          </p:cNvPr>
          <p:cNvSpPr txBox="1"/>
          <p:nvPr/>
        </p:nvSpPr>
        <p:spPr>
          <a:xfrm>
            <a:off x="389467" y="858200"/>
            <a:ext cx="11497733" cy="5039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457200">
              <a:lnSpc>
                <a:spcPct val="107000"/>
              </a:lnSpc>
              <a:spcAft>
                <a:spcPts val="1200"/>
              </a:spcAft>
              <a:buNone/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Kaya’t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gagawa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tayo, at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inutusan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ko ang PhilHealth,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gagawa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tayo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ditong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taon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(2026)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tinatawag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naming ‘one-time waiver’ para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interes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ngayong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2026.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Bibigyan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natin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ating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employer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taon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para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mabayaran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lahat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missed contributions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mula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2013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hanggang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2024,”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paglilinaw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niya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lnSpc>
                <a:spcPct val="107000"/>
              </a:lnSpc>
              <a:spcAft>
                <a:spcPts val="1200"/>
              </a:spcAft>
              <a:buNone/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lnSpc>
                <a:spcPct val="107000"/>
              </a:lnSpc>
              <a:spcAft>
                <a:spcPts val="1200"/>
              </a:spcAft>
              <a:buNone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Makakatulong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raw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aabot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300,000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bilang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benepisyaryo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PhilHealth. 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lnSpc>
                <a:spcPct val="107000"/>
              </a:lnSpc>
              <a:spcAft>
                <a:spcPts val="1200"/>
              </a:spcAft>
              <a:buNone/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lnSpc>
                <a:spcPct val="107000"/>
              </a:lnSpc>
              <a:spcAft>
                <a:spcPts val="1200"/>
              </a:spcAft>
              <a:buNone/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“Sa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kalkulasyon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namin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ay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makakatulong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tatlong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libo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(300,000)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benepisyaryo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,”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saad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niya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03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C16D94-A281-72E4-A850-3132D8F1CA03}"/>
              </a:ext>
            </a:extLst>
          </p:cNvPr>
          <p:cNvSpPr txBox="1"/>
          <p:nvPr/>
        </p:nvSpPr>
        <p:spPr>
          <a:xfrm>
            <a:off x="279399" y="434837"/>
            <a:ext cx="11319933" cy="431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457200">
              <a:lnSpc>
                <a:spcPct val="107000"/>
              </a:lnSpc>
              <a:spcAft>
                <a:spcPts val="1200"/>
              </a:spcAft>
              <a:buNone/>
            </a:pP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Hinikayat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din ng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Pangulo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employer at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empleyado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nito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marehistro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Yaman ng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Kalusugan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(YAKAP) Program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PhilHealth. 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lnSpc>
                <a:spcPct val="107000"/>
              </a:lnSpc>
              <a:spcAft>
                <a:spcPts val="1200"/>
              </a:spcAft>
              <a:buNone/>
            </a:pP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lnSpc>
                <a:spcPct val="107000"/>
              </a:lnSpc>
              <a:spcAft>
                <a:spcPts val="1200"/>
              </a:spcAft>
              <a:buNone/>
            </a:pP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Hinikayat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din natin ang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ating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employer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-update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lahat ng information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ninyo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at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i-rehistro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empleyado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ninyo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‘Yaman ng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Kalusugan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’ o ‘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yong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ating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tinatawag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‘YAKAP Program,’” ‘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ika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niya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 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lnSpc>
                <a:spcPct val="107000"/>
              </a:lnSpc>
              <a:spcAft>
                <a:spcPts val="1200"/>
              </a:spcAft>
              <a:buNone/>
            </a:pP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lnSpc>
                <a:spcPct val="107000"/>
              </a:lnSpc>
              <a:spcAft>
                <a:spcPts val="1200"/>
              </a:spcAft>
              <a:buNone/>
            </a:pP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“Ito ay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patuloy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naming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ginagawa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upang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pagaanin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dala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ating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kababayan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tungkol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healthcare cause at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lahat ng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iba’t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ibang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hamon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hinaharap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ating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kababayan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araw-araw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,”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pagtatapos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 ng </a:t>
            </a:r>
            <a:r>
              <a:rPr lang="en-PH" sz="20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Pangulo</a:t>
            </a:r>
            <a:r>
              <a:rPr lang="en-PH" sz="20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 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418E9-D2BE-D522-CFF5-5402B27CC668}"/>
              </a:ext>
            </a:extLst>
          </p:cNvPr>
          <p:cNvSpPr txBox="1"/>
          <p:nvPr/>
        </p:nvSpPr>
        <p:spPr>
          <a:xfrm>
            <a:off x="677332" y="5623713"/>
            <a:ext cx="10651067" cy="673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>
              <a:lnSpc>
                <a:spcPct val="107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PH" sz="18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Sanggunian</a:t>
            </a:r>
            <a:r>
              <a:rPr lang="en-PH" sz="18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https://balita.mb.com.ph/2026/01/08/mga-negosyante-atbp-may-1-taon-para-magbayad-ng-missed-contributions-sa-philhealthpbbm/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25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828BE0-721A-AB0D-C5C2-BE34EA8F1AAB}"/>
              </a:ext>
            </a:extLst>
          </p:cNvPr>
          <p:cNvSpPr txBox="1"/>
          <p:nvPr/>
        </p:nvSpPr>
        <p:spPr>
          <a:xfrm>
            <a:off x="211667" y="1026470"/>
            <a:ext cx="11582400" cy="996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Sino ang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tuwirang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inutusan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pangulo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bigyang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implementasyon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amnesty?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A3F4C-B8FD-3DEF-F195-DCB466C9F8AF}"/>
              </a:ext>
            </a:extLst>
          </p:cNvPr>
          <p:cNvSpPr txBox="1"/>
          <p:nvPr/>
        </p:nvSpPr>
        <p:spPr>
          <a:xfrm>
            <a:off x="533400" y="3075374"/>
            <a:ext cx="10642600" cy="2179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buFont typeface="+mj-lt"/>
              <a:buAutoNum type="alphaUcPeriod"/>
            </a:pP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Department of Health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+mj-lt"/>
              <a:buAutoNum type="alphaUcPeriod"/>
            </a:pP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PhilHealth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+mj-lt"/>
              <a:buAutoNum type="alphaUcPeriod"/>
            </a:pP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Private employers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32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Miyembro</a:t>
            </a: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32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Philhealth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13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9252DA-BB27-D273-B451-758568D6569A}"/>
              </a:ext>
            </a:extLst>
          </p:cNvPr>
          <p:cNvSpPr txBox="1"/>
          <p:nvPr/>
        </p:nvSpPr>
        <p:spPr>
          <a:xfrm>
            <a:off x="533400" y="605350"/>
            <a:ext cx="11125200" cy="1125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Anong </a:t>
            </a:r>
            <a:r>
              <a:rPr lang="en-PH" sz="32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impormasyon</a:t>
            </a: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32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nakapaloob</a:t>
            </a: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32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32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binasang</a:t>
            </a: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32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teksto</a:t>
            </a: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84A4D-FFCD-3A2A-9936-E51A553EF815}"/>
              </a:ext>
            </a:extLst>
          </p:cNvPr>
          <p:cNvSpPr txBox="1"/>
          <p:nvPr/>
        </p:nvSpPr>
        <p:spPr>
          <a:xfrm>
            <a:off x="533400" y="2379133"/>
            <a:ext cx="11226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Paaran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kung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paano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makokolekta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hindi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nabayarang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kontribusyon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pamamagitan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general amnesty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lphaUcPeriod"/>
            </a:pP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 plano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gobyerno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upang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mapagbayad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missed contributions ang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employer/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negosyante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Paliwanag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pangulo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kahalagahan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pagpaparehistro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Yaman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Kalusugan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Program (YAKAP)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gobyerno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+mj-lt"/>
              <a:buAutoNum type="alphaUcPeriod"/>
            </a:pP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hakbang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isinagawa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pangulo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upang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maisaayos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sistemang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umiiral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PhilHealth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7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D48F88-42C0-6EEF-B733-EF234C400E28}"/>
              </a:ext>
            </a:extLst>
          </p:cNvPr>
          <p:cNvSpPr txBox="1"/>
          <p:nvPr/>
        </p:nvSpPr>
        <p:spPr>
          <a:xfrm>
            <a:off x="694267" y="615823"/>
            <a:ext cx="10955866" cy="1262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PH" sz="2400" kern="100" dirty="0"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panayam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pangulo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inilahad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niyang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upang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mapagaan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kalagayan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Pilipino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pagdating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usaping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pangkalusugan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F13737-E4D2-B839-9FCE-2BCDFED9EACB}"/>
              </a:ext>
            </a:extLst>
          </p:cNvPr>
          <p:cNvSpPr txBox="1"/>
          <p:nvPr/>
        </p:nvSpPr>
        <p:spPr>
          <a:xfrm>
            <a:off x="508001" y="2342903"/>
            <a:ext cx="11404600" cy="422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Mabigyan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“one-time waiver” ang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employer para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interes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taong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2026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Mabayaran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kontribusyon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empleyado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at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mairehistro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YAKAP Program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gobyerno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Maipatupad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PhilHealth ang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direktiba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pangulo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ukol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general amnesty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magbibigay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taon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para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mabayaran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kontribusyon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mula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2013-2024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Matulungan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300,000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benipisyaryo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PhilHealth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oras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makolekta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missed contributions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236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A7F796-0653-D47D-9270-2D3B56B8B10B}"/>
              </a:ext>
            </a:extLst>
          </p:cNvPr>
          <p:cNvSpPr txBox="1"/>
          <p:nvPr/>
        </p:nvSpPr>
        <p:spPr>
          <a:xfrm>
            <a:off x="575733" y="641223"/>
            <a:ext cx="11370733" cy="86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PH" sz="2400" kern="100" dirty="0"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Ayon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binasang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balita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paano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matutulungan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tinatayang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300,000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benepisyaryo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PhilHealth?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C2-1ADE-84D6-48C0-95E0B56C97D5}"/>
              </a:ext>
            </a:extLst>
          </p:cNvPr>
          <p:cNvSpPr txBox="1"/>
          <p:nvPr/>
        </p:nvSpPr>
        <p:spPr>
          <a:xfrm>
            <a:off x="410633" y="2245552"/>
            <a:ext cx="11370733" cy="3762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Ipatutupad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PhilHealth ang ‘general amnesty’ para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negosyante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/employer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Sisikapin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PhilHealth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kumpletong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makolekta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kontribusyon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miyembro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nito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Kailangang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maiparehistro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employer ang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kanilang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empleyado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YAKAP Program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Bibigyan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one-time waiver ang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miyembrong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may “missed contributions”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PhilHealth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224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A2FBD1-F625-71E0-4605-1F66C46C4EF3}"/>
              </a:ext>
            </a:extLst>
          </p:cNvPr>
          <p:cNvSpPr txBox="1"/>
          <p:nvPr/>
        </p:nvSpPr>
        <p:spPr>
          <a:xfrm>
            <a:off x="484716" y="325735"/>
            <a:ext cx="112225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/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5</a:t>
            </a:r>
            <a:r>
              <a:rPr lang="en-PH" sz="32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. </a:t>
            </a:r>
            <a:r>
              <a:rPr lang="en-PH" sz="28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Pagsunud-sunurin</a:t>
            </a:r>
            <a:r>
              <a:rPr lang="en-PH" sz="2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ang </a:t>
            </a:r>
            <a:r>
              <a:rPr lang="en-PH" sz="28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sumusunod</a:t>
            </a:r>
            <a:r>
              <a:rPr lang="en-PH" sz="2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upang</a:t>
            </a:r>
            <a:r>
              <a:rPr lang="en-PH" sz="2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makabuo</a:t>
            </a:r>
            <a:r>
              <a:rPr lang="en-PH" sz="2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isang</a:t>
            </a:r>
            <a:r>
              <a:rPr lang="en-PH" sz="2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makabuluhang</a:t>
            </a:r>
            <a:r>
              <a:rPr lang="en-PH" sz="2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usapan</a:t>
            </a:r>
            <a:r>
              <a:rPr lang="en-PH" sz="2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pagitan</a:t>
            </a:r>
            <a:r>
              <a:rPr lang="en-PH" sz="2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guro</a:t>
            </a:r>
            <a:r>
              <a:rPr lang="en-PH" sz="2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at mag-</a:t>
            </a:r>
            <a:r>
              <a:rPr lang="en-PH" sz="28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aaral</a:t>
            </a:r>
            <a:r>
              <a:rPr lang="en-PH" sz="2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. 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D2498-632B-F1B9-ED70-710F0B02DA27}"/>
              </a:ext>
            </a:extLst>
          </p:cNvPr>
          <p:cNvSpPr txBox="1"/>
          <p:nvPr/>
        </p:nvSpPr>
        <p:spPr>
          <a:xfrm>
            <a:off x="484716" y="1595021"/>
            <a:ext cx="1122256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buFont typeface="+mj-lt"/>
              <a:buAutoNum type="romanUcPeriod"/>
            </a:pP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Ma'am,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maaari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po bang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malaman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kung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bakit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78 lang ang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nakuha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ko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sa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test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gayong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kumpleto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naman ang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aking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mga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sagot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?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romanUcPeriod"/>
            </a:pP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Sige, iwan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mo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muna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ang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iyong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papel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at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titingnan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ko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ulit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ang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mga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naging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pagkakamali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bukas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romanUcPeriod"/>
            </a:pP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Magandang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hapon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po, Ma'am.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Maaari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po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ba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akong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magtanong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tungkol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sa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aking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grade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sa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Filipino?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romanUcPeriod"/>
            </a:pP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Maraming salamat po, Ma'am.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Malaking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tulong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po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ito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para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hindi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bumaba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ang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aking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average.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romanUcPeriod"/>
            </a:pP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Tuloy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ka. Nakita ko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nga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na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mababa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ang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nakuha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mo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sa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huling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bahagi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ng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pagsusulit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romanUcPeriod"/>
            </a:pP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Nauunawaan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ko po,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pero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baka po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pwedeng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paki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-recheck?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Tingin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ko po kasi ay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tama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ang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aking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naging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interpretasyon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sa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sanaysay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romanUcPeriod"/>
            </a:pP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Kaya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mababa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ang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iyong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nakuha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ay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dahil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‘di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mo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nasunod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ang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pormat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na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ibinigay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ko </a:t>
            </a:r>
            <a:r>
              <a:rPr lang="en-PH" sz="24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bago</a:t>
            </a:r>
            <a:r>
              <a:rPr lang="en-PH" sz="24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ang exam.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79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AE77DC-5A20-40E1-81FB-37809D1B6F41}"/>
              </a:ext>
            </a:extLst>
          </p:cNvPr>
          <p:cNvSpPr txBox="1"/>
          <p:nvPr/>
        </p:nvSpPr>
        <p:spPr>
          <a:xfrm>
            <a:off x="812800" y="1967061"/>
            <a:ext cx="10363199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buFont typeface="+mj-lt"/>
              <a:buAutoNum type="alphaUcPeriod"/>
            </a:pPr>
            <a:r>
              <a:rPr lang="en-PH" sz="36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I-II-III-IV-V-VI-VII	   C. III-V-I-VII-VI-II-IV</a:t>
            </a:r>
          </a:p>
          <a:p>
            <a:pPr marL="342900" marR="0" lvl="0" indent="-342900">
              <a:buFont typeface="+mj-lt"/>
              <a:buAutoNum type="alphaUcPeriod"/>
            </a:pPr>
            <a:endParaRPr lang="en-PH" sz="3600" dirty="0">
              <a:latin typeface="Bookman Old Style" panose="02050604050505020204" pitchFamily="18" charset="0"/>
              <a:ea typeface="Times New Roman" panose="02020603050405020304" pitchFamily="18" charset="0"/>
            </a:endParaRPr>
          </a:p>
          <a:p>
            <a:pPr marR="0" lvl="0"/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/>
            <a:r>
              <a:rPr lang="en-PH" sz="36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B. III-V-VI-VII-I-II-IV</a:t>
            </a:r>
            <a:r>
              <a:rPr lang="en-PH" sz="36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     </a:t>
            </a:r>
            <a:r>
              <a:rPr lang="en-PH" sz="36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D. I-III-V-VII-VI-II-IV</a:t>
            </a:r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13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1DA0D3-0B56-EAC6-08B4-032A073C2EE4}"/>
              </a:ext>
            </a:extLst>
          </p:cNvPr>
          <p:cNvSpPr txBox="1"/>
          <p:nvPr/>
        </p:nvSpPr>
        <p:spPr>
          <a:xfrm>
            <a:off x="651933" y="344333"/>
            <a:ext cx="10955867" cy="166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b="1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PAGBASA:</a:t>
            </a:r>
            <a:endParaRPr lang="en-US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	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Pumasok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ka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sa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audio visual room</a:t>
            </a:r>
            <a:r>
              <a:rPr lang="en-PH" sz="1800" i="1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ng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inyong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paaralan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. Nakita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mong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okupado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na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ng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mga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estudyante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ang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mga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upuan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maliban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sa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isa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na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walang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nakaupo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pero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may bag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na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nakalagay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. Alam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mo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na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ang may-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ari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ng bag ay ang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estudyanteng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nakaupo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sa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tabi ng </a:t>
            </a:r>
            <a:r>
              <a:rPr lang="en-PH" sz="1800" kern="1200" dirty="0" err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upuang</a:t>
            </a:r>
            <a:r>
              <a:rPr lang="en-PH" sz="1800" kern="12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Aharoni" panose="02010803020104030203" pitchFamily="2" charset="-79"/>
              </a:rPr>
              <a:t> may bag.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45F6D-AF18-237B-B1EB-3BC7FC0871A7}"/>
              </a:ext>
            </a:extLst>
          </p:cNvPr>
          <p:cNvSpPr txBox="1"/>
          <p:nvPr/>
        </p:nvSpPr>
        <p:spPr>
          <a:xfrm>
            <a:off x="533399" y="2499640"/>
            <a:ext cx="11446933" cy="1262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6.</a:t>
            </a:r>
            <a:r>
              <a:rPr lang="en-PH" sz="1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Kung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nagtanong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ka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may-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ari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bag kung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maaaring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alisin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bag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upang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makaupo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ka,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gamit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mangingibabaw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sitwasyon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5665CD-E3A1-F68B-7F6B-3BB9EA56F0FE}"/>
              </a:ext>
            </a:extLst>
          </p:cNvPr>
          <p:cNvSpPr txBox="1"/>
          <p:nvPr/>
        </p:nvSpPr>
        <p:spPr>
          <a:xfrm>
            <a:off x="749299" y="4336936"/>
            <a:ext cx="10761133" cy="185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32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informative			B. conative </a:t>
            </a:r>
          </a:p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PH" sz="32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	</a:t>
            </a:r>
          </a:p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PH" sz="32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C. labeling</a:t>
            </a: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PH" sz="32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       D. phatic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57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65F904-CB61-3519-3EA6-98D0C62E0067}"/>
              </a:ext>
            </a:extLst>
          </p:cNvPr>
          <p:cNvSpPr txBox="1"/>
          <p:nvPr/>
        </p:nvSpPr>
        <p:spPr>
          <a:xfrm>
            <a:off x="440267" y="869793"/>
            <a:ext cx="11091333" cy="1262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7. “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Gising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ka pa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pabiglang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tanong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Rose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kapatid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Maria. “Hindi pa kasi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ako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tapos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research ko, Ate,”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tugon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nito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naging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tugon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Maria ay bunga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kaniyang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kakayahang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u="sng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	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BAD74B-96A4-878C-9F3C-B1BB80D96870}"/>
              </a:ext>
            </a:extLst>
          </p:cNvPr>
          <p:cNvSpPr txBox="1"/>
          <p:nvPr/>
        </p:nvSpPr>
        <p:spPr>
          <a:xfrm>
            <a:off x="601134" y="2997686"/>
            <a:ext cx="9863666" cy="2487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32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Diskorsal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32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Pragmatiko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32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Lingguwistiko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32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Sosyolingguwistiko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9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9AEBD2-9858-253B-4BD8-F9C419DBF90D}"/>
              </a:ext>
            </a:extLst>
          </p:cNvPr>
          <p:cNvSpPr txBox="1"/>
          <p:nvPr/>
        </p:nvSpPr>
        <p:spPr>
          <a:xfrm>
            <a:off x="419100" y="591952"/>
            <a:ext cx="11353800" cy="6001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PH" sz="2400" b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Sitwasyon</a:t>
            </a:r>
            <a:r>
              <a:rPr lang="en-PH" sz="2400" b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Pinagsulat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maikling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talata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mag-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aaral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tungkol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kanilang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bakasyon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Pansinin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naging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sagot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Juan: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"Masaya ang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aming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bakasyon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Boracay </a:t>
            </a:r>
            <a:r>
              <a:rPr lang="en-PH" sz="2400" b="1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dahil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kasama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ko ang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aking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buong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pamilya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PH" sz="2400" b="1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Gayunpaman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naging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bitin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aming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pananatili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b="1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sapagkat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kailangan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naming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bumalik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agad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para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i="1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pasukan</a:t>
            </a:r>
            <a:r>
              <a:rPr lang="en-PH" sz="2400" i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."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b="1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2400" kern="100" dirty="0"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8. 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kakayahang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ipinamalas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Juan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paggamit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salitang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"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dahil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," "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gayunpaman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," at "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sapagkat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upang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makabuo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lohikal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talata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ay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tinatawag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kakayahang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___________.</a:t>
            </a:r>
          </a:p>
          <a:p>
            <a:pPr marL="45720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marR="0" indent="-342900">
              <a:lnSpc>
                <a:spcPct val="107000"/>
              </a:lnSpc>
              <a:spcAft>
                <a:spcPts val="800"/>
              </a:spcAft>
              <a:buAutoNum type="alphaUcPeriod"/>
            </a:pPr>
            <a:r>
              <a:rPr lang="en-PH" sz="32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Sosyolingguwistiko</a:t>
            </a: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	  B. </a:t>
            </a:r>
            <a:r>
              <a:rPr lang="en-PH" sz="32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Lingguwistiko</a:t>
            </a: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    </a:t>
            </a:r>
            <a:endParaRPr lang="en-PH" sz="3200" kern="100" dirty="0">
              <a:latin typeface="Bookman Old Style" panose="020506040505050202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Aft>
                <a:spcPts val="800"/>
              </a:spcAft>
            </a:pP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C. </a:t>
            </a:r>
            <a:r>
              <a:rPr lang="en-PH" sz="32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Pragmatiko</a:t>
            </a: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	         D. </a:t>
            </a:r>
            <a:r>
              <a:rPr lang="en-PH" sz="32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Diskorsal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983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E7FFBA-FB65-6F37-BBDF-1868CB79A72B}"/>
              </a:ext>
            </a:extLst>
          </p:cNvPr>
          <p:cNvSpPr txBox="1"/>
          <p:nvPr/>
        </p:nvSpPr>
        <p:spPr>
          <a:xfrm>
            <a:off x="567267" y="725889"/>
            <a:ext cx="11226800" cy="996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9. Alin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sumusunod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sitwasyon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nagpapakita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kakayahang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lingguwistiko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5C6DD-6327-6FE1-8ED2-0A503CAF33FE}"/>
              </a:ext>
            </a:extLst>
          </p:cNvPr>
          <p:cNvSpPr txBox="1"/>
          <p:nvPr/>
        </p:nvSpPr>
        <p:spPr>
          <a:xfrm>
            <a:off x="376767" y="2464226"/>
            <a:ext cx="11607800" cy="407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Natutukoy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Froilan ang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maling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gamit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“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nabasang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artikulo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Nakapagbahagi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Albert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kanyang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pagsusuri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kwentong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napakinggan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Tumigil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Maris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pagkukwento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nakakadiring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bagay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harap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hapag-kainan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Ngumiti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lamang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Joshua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tanungin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siya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kanyang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tungkol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kanyang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marka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150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2D5E2D-2DBF-C260-EB97-9B5C80077E10}"/>
              </a:ext>
            </a:extLst>
          </p:cNvPr>
          <p:cNvSpPr txBox="1"/>
          <p:nvPr/>
        </p:nvSpPr>
        <p:spPr>
          <a:xfrm>
            <a:off x="330200" y="878289"/>
            <a:ext cx="11336866" cy="86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10.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Tagalog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napiling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batayan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pagbuo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Pambansa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dahil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sumusunod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katangian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MALIBAN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880B7-CD74-7090-1D97-9E353C88482B}"/>
              </a:ext>
            </a:extLst>
          </p:cNvPr>
          <p:cNvSpPr txBox="1"/>
          <p:nvPr/>
        </p:nvSpPr>
        <p:spPr>
          <a:xfrm>
            <a:off x="482600" y="2629341"/>
            <a:ext cx="11226800" cy="2686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Ito ay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malawakang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gamit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pahayagan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Taglay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nito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pinakamaunlad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istruktura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at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mekanismo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Ito ay may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pinakamaunlad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panitikan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panahong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yaon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Ito ay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ginagamit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nakararaming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bilang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mamamayang</a:t>
            </a: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Pilipino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25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64D28A-36B4-A7C7-D256-D63A05ADF962}"/>
              </a:ext>
            </a:extLst>
          </p:cNvPr>
          <p:cNvSpPr txBox="1"/>
          <p:nvPr/>
        </p:nvSpPr>
        <p:spPr>
          <a:xfrm>
            <a:off x="389466" y="835956"/>
            <a:ext cx="11540067" cy="9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11</a:t>
            </a:r>
            <a:r>
              <a:rPr lang="en-PH" sz="32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Ano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ibinunga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debate at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pag-uusap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ukol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1934-1953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Kumbensiyong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Konstitusyunal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4885A-C21B-3068-BEF4-7E771CCDBE62}"/>
              </a:ext>
            </a:extLst>
          </p:cNvPr>
          <p:cNvSpPr txBox="1"/>
          <p:nvPr/>
        </p:nvSpPr>
        <p:spPr>
          <a:xfrm>
            <a:off x="457199" y="2993379"/>
            <a:ext cx="11404600" cy="275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Itinalagang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buuin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Pambansa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batay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iba’t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ibang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umiiral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katutubong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Pilipinas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Naatasan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Pambansang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Asemblea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paggawa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hakbang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pagbuo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Pambansa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Nakasaad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konstitusyon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Filipino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Pambansa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Napili ang Tagalog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bilang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batayan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Pambansa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26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03F1C2-7355-0E85-F24B-BF4EFBEEAC1C}"/>
              </a:ext>
            </a:extLst>
          </p:cNvPr>
          <p:cNvSpPr txBox="1"/>
          <p:nvPr/>
        </p:nvSpPr>
        <p:spPr>
          <a:xfrm>
            <a:off x="372534" y="1133101"/>
            <a:ext cx="113199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12. Ano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naging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bunga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pag-aaral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misyonerong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prayle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katutubo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57F48-C1D7-7AB6-6798-E98327F8DA74}"/>
              </a:ext>
            </a:extLst>
          </p:cNvPr>
          <p:cNvSpPr txBox="1"/>
          <p:nvPr/>
        </p:nvSpPr>
        <p:spPr>
          <a:xfrm>
            <a:off x="588433" y="2969401"/>
            <a:ext cx="10888134" cy="275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Nabuo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alpabeto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bawat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Naipalaganap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paggamit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katutubong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edukasyon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Nakasulat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aklat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pambalarila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at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diksyunaryo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inaral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Nagamit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katutubong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aklat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Agham at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Teknolohiya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926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101EBF-E614-314B-A12F-80ED10B66703}"/>
              </a:ext>
            </a:extLst>
          </p:cNvPr>
          <p:cNvSpPr txBox="1"/>
          <p:nvPr/>
        </p:nvSpPr>
        <p:spPr>
          <a:xfrm>
            <a:off x="317500" y="1123823"/>
            <a:ext cx="11557000" cy="86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13.</a:t>
            </a:r>
            <a:r>
              <a:rPr lang="en-US" sz="1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Alin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masasabing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kayang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gawin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Rhea kung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siya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ay may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mataas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kakayahang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retorikal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4845F-5D8F-F28F-A91D-E01F8343FD32}"/>
              </a:ext>
            </a:extLst>
          </p:cNvPr>
          <p:cNvSpPr txBox="1"/>
          <p:nvPr/>
        </p:nvSpPr>
        <p:spPr>
          <a:xfrm>
            <a:off x="457200" y="3069112"/>
            <a:ext cx="11417300" cy="2368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Nakapagsasalita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siya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iba’t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ibang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Nakapagsusulat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siya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mahuhusay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tula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Nakapagbibigay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siya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malinaw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panuto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o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instruksiyon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Nakalalahok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siya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debate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tungkol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isyung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panlipunan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98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5261C7-D70B-01E0-0842-15BD37764E10}"/>
              </a:ext>
            </a:extLst>
          </p:cNvPr>
          <p:cNvSpPr txBox="1"/>
          <p:nvPr/>
        </p:nvSpPr>
        <p:spPr>
          <a:xfrm>
            <a:off x="486833" y="941774"/>
            <a:ext cx="11218333" cy="1262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14. Hindi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lamang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paghahanap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kundi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pagpapalalim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din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datos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layunin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panayam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Alin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sumusunod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estratehiya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makatutulong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upang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maisakatuparan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5E4A79-ACB7-A067-A5F5-34F5F011D8D1}"/>
              </a:ext>
            </a:extLst>
          </p:cNvPr>
          <p:cNvSpPr txBox="1"/>
          <p:nvPr/>
        </p:nvSpPr>
        <p:spPr>
          <a:xfrm>
            <a:off x="364067" y="2877253"/>
            <a:ext cx="11705166" cy="355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Magsaliksik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paksa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at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kapapanayamin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bago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aktuwal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panayam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Konsultahin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kapapanayamin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posibleng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estratehiya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pagbuo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pananaliksik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napiling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pakasa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Bigyang-pokus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lamang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pagbuo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tanong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batayang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impormasyong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tungkol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paksa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Agad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sumangguni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aklatan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matapos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panayam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upang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mas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maunawaan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pa ang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sinabi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kinapanayam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48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5F0319-0E9D-43F0-0F5D-1AFA0EF1D8C5}"/>
              </a:ext>
            </a:extLst>
          </p:cNvPr>
          <p:cNvSpPr txBox="1"/>
          <p:nvPr/>
        </p:nvSpPr>
        <p:spPr>
          <a:xfrm>
            <a:off x="359833" y="903689"/>
            <a:ext cx="11472333" cy="86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15.  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 Pilipinas,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ay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nangangahulugang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hiwalay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paggamit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ng Filipino at Ingles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nilang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wikang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panturo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tiyak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</a:t>
            </a:r>
            <a:r>
              <a:rPr lang="en-PH" sz="24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PH" sz="24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asignatura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7A415D-EE7B-00B2-0A02-0DA7EC06B655}"/>
              </a:ext>
            </a:extLst>
          </p:cNvPr>
          <p:cNvSpPr txBox="1"/>
          <p:nvPr/>
        </p:nvSpPr>
        <p:spPr>
          <a:xfrm>
            <a:off x="575733" y="2861350"/>
            <a:ext cx="10778066" cy="222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800" kern="100" dirty="0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Bilingguwalismo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Monolingguwalismo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Multilingguwalismo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PH" sz="2800" kern="100" dirty="0" err="1">
                <a:effectLst/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Sikolohiko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36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2C2E56-C427-743A-64A2-29CA1D62C419}"/>
              </a:ext>
            </a:extLst>
          </p:cNvPr>
          <p:cNvSpPr txBox="1"/>
          <p:nvPr/>
        </p:nvSpPr>
        <p:spPr>
          <a:xfrm>
            <a:off x="429718" y="301885"/>
            <a:ext cx="10957810" cy="2554545"/>
          </a:xfrm>
          <a:prstGeom prst="rect">
            <a:avLst/>
          </a:prstGeom>
          <a:pattFill prst="pct5">
            <a:fgClr>
              <a:schemeClr val="accent1"/>
            </a:fgClr>
            <a:bgClr>
              <a:srgbClr val="FCF2FB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Bookman Old Style" panose="02050604050505020204" pitchFamily="18" charset="0"/>
              </a:rPr>
              <a:t>16. Ayon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Pambansang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Alagad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Sining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si</a:t>
            </a:r>
            <a:r>
              <a:rPr lang="en-US" sz="3200" dirty="0">
                <a:latin typeface="Bookman Old Style" panose="02050604050505020204" pitchFamily="18" charset="0"/>
              </a:rPr>
              <a:t> Bienvenido Lumbera, “ang </a:t>
            </a:r>
            <a:r>
              <a:rPr lang="en-US" sz="3200" dirty="0" err="1">
                <a:latin typeface="Bookman Old Style" panose="02050604050505020204" pitchFamily="18" charset="0"/>
              </a:rPr>
              <a:t>usapin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Wikang</a:t>
            </a:r>
            <a:r>
              <a:rPr lang="en-US" sz="3200" dirty="0">
                <a:latin typeface="Bookman Old Style" panose="02050604050505020204" pitchFamily="18" charset="0"/>
              </a:rPr>
              <a:t> Pambansa ay </a:t>
            </a:r>
            <a:r>
              <a:rPr lang="en-US" sz="3200" dirty="0" err="1">
                <a:latin typeface="Bookman Old Style" panose="02050604050505020204" pitchFamily="18" charset="0"/>
              </a:rPr>
              <a:t>usaping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kinasasangkutan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buhay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milyon-milyong</a:t>
            </a:r>
            <a:r>
              <a:rPr lang="en-US" sz="3200" dirty="0">
                <a:latin typeface="Bookman Old Style" panose="02050604050505020204" pitchFamily="18" charset="0"/>
              </a:rPr>
              <a:t> Pilipino”. Mula </a:t>
            </a:r>
            <a:r>
              <a:rPr lang="en-US" sz="3200" dirty="0" err="1">
                <a:latin typeface="Bookman Old Style" panose="02050604050505020204" pitchFamily="18" charset="0"/>
              </a:rPr>
              <a:t>rito</a:t>
            </a:r>
            <a:r>
              <a:rPr lang="en-US" sz="3200" dirty="0">
                <a:latin typeface="Bookman Old Style" panose="02050604050505020204" pitchFamily="18" charset="0"/>
              </a:rPr>
              <a:t>, </a:t>
            </a:r>
            <a:r>
              <a:rPr lang="en-US" sz="3200" dirty="0" err="1">
                <a:latin typeface="Bookman Old Style" panose="02050604050505020204" pitchFamily="18" charset="0"/>
              </a:rPr>
              <a:t>maipapalagay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wikang</a:t>
            </a:r>
            <a:r>
              <a:rPr lang="en-US" sz="3200" dirty="0">
                <a:latin typeface="Bookman Old Style" panose="02050604050505020204" pitchFamily="18" charset="0"/>
              </a:rPr>
              <a:t> Pilipino ay _________________.</a:t>
            </a:r>
            <a:endParaRPr lang="en-PH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C97F0-EE7D-A62E-DCC9-FD802D3BE018}"/>
              </a:ext>
            </a:extLst>
          </p:cNvPr>
          <p:cNvSpPr txBox="1"/>
          <p:nvPr/>
        </p:nvSpPr>
        <p:spPr>
          <a:xfrm>
            <a:off x="332282" y="3429000"/>
            <a:ext cx="11527436" cy="4998420"/>
          </a:xfrm>
          <a:prstGeom prst="rect">
            <a:avLst/>
          </a:prstGeom>
          <a:pattFill prst="pct10">
            <a:fgClr>
              <a:schemeClr val="accent1"/>
            </a:fgClr>
            <a:bgClr>
              <a:srgbClr val="FCF2FB"/>
            </a:bgClr>
          </a:patt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  <a:t>A. </a:t>
            </a:r>
            <a:r>
              <a:rPr lang="en-US" sz="3600" dirty="0" err="1">
                <a:latin typeface="Aptos" panose="020B0004020202020204" pitchFamily="34" charset="0"/>
              </a:rPr>
              <a:t>maipagmamalaking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  <a:r>
              <a:rPr lang="en-US" sz="3600" dirty="0" err="1">
                <a:latin typeface="Aptos" panose="020B0004020202020204" pitchFamily="34" charset="0"/>
              </a:rPr>
              <a:t>yaman</a:t>
            </a:r>
            <a:r>
              <a:rPr lang="en-US" sz="3600" dirty="0">
                <a:latin typeface="Aptos" panose="020B0004020202020204" pitchFamily="34" charset="0"/>
              </a:rPr>
              <a:t> ng </a:t>
            </a:r>
            <a:r>
              <a:rPr lang="en-US" sz="3600" dirty="0" err="1">
                <a:latin typeface="Aptos" panose="020B0004020202020204" pitchFamily="34" charset="0"/>
              </a:rPr>
              <a:t>Pilipinas</a:t>
            </a:r>
            <a:b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  <a:t> B. </a:t>
            </a:r>
            <a:r>
              <a:rPr lang="en-US" sz="3600" dirty="0">
                <a:latin typeface="Aptos" panose="020B0004020202020204" pitchFamily="34" charset="0"/>
              </a:rPr>
              <a:t>tanging </a:t>
            </a:r>
            <a:r>
              <a:rPr lang="en-US" sz="3600" dirty="0" err="1">
                <a:latin typeface="Aptos" panose="020B0004020202020204" pitchFamily="34" charset="0"/>
              </a:rPr>
              <a:t>wikang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  <a:r>
              <a:rPr lang="en-US" sz="3600" dirty="0" err="1">
                <a:latin typeface="Aptos" panose="020B0004020202020204" pitchFamily="34" charset="0"/>
              </a:rPr>
              <a:t>dapat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  <a:r>
              <a:rPr lang="en-US" sz="3600" dirty="0" err="1">
                <a:latin typeface="Aptos" panose="020B0004020202020204" pitchFamily="34" charset="0"/>
              </a:rPr>
              <a:t>pahalagahan</a:t>
            </a:r>
            <a:r>
              <a:rPr lang="en-US" sz="3600" dirty="0">
                <a:latin typeface="Aptos" panose="020B0004020202020204" pitchFamily="34" charset="0"/>
              </a:rPr>
              <a:t> ng </a:t>
            </a:r>
            <a:r>
              <a:rPr lang="en-US" sz="3600" dirty="0" err="1">
                <a:latin typeface="Aptos" panose="020B0004020202020204" pitchFamily="34" charset="0"/>
              </a:rPr>
              <a:t>mga</a:t>
            </a:r>
            <a:r>
              <a:rPr lang="en-US" sz="3600" dirty="0">
                <a:latin typeface="Aptos" panose="020B0004020202020204" pitchFamily="34" charset="0"/>
              </a:rPr>
              <a:t> Pilipino</a:t>
            </a:r>
            <a:b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  <a:t> C. </a:t>
            </a:r>
            <a:r>
              <a:rPr lang="en-US" sz="3600" dirty="0" err="1">
                <a:latin typeface="Aptos" panose="020B0004020202020204" pitchFamily="34" charset="0"/>
              </a:rPr>
              <a:t>instrumento</a:t>
            </a:r>
            <a:r>
              <a:rPr lang="en-US" sz="3600" dirty="0">
                <a:latin typeface="Aptos" panose="020B0004020202020204" pitchFamily="34" charset="0"/>
              </a:rPr>
              <a:t> ng </a:t>
            </a:r>
            <a:r>
              <a:rPr lang="en-US" sz="3600" dirty="0" err="1">
                <a:latin typeface="Aptos" panose="020B0004020202020204" pitchFamily="34" charset="0"/>
              </a:rPr>
              <a:t>komunikasyon</a:t>
            </a:r>
            <a:r>
              <a:rPr lang="en-US" sz="3600" dirty="0">
                <a:latin typeface="Aptos" panose="020B0004020202020204" pitchFamily="34" charset="0"/>
              </a:rPr>
              <a:t> at </a:t>
            </a:r>
            <a:r>
              <a:rPr lang="en-US" sz="3600" dirty="0" err="1">
                <a:latin typeface="Aptos" panose="020B0004020202020204" pitchFamily="34" charset="0"/>
              </a:rPr>
              <a:t>demokratisasyon</a:t>
            </a:r>
            <a:r>
              <a:rPr lang="en-US" sz="3600" dirty="0">
                <a:latin typeface="Aptos" panose="020B0004020202020204" pitchFamily="34" charset="0"/>
              </a:rPr>
              <a:t> ng </a:t>
            </a:r>
            <a:r>
              <a:rPr lang="en-US" sz="3600" dirty="0" err="1">
                <a:latin typeface="Aptos" panose="020B0004020202020204" pitchFamily="34" charset="0"/>
              </a:rPr>
              <a:t>lipunang</a:t>
            </a:r>
            <a:r>
              <a:rPr lang="en-US" sz="3600" dirty="0">
                <a:latin typeface="Aptos" panose="020B0004020202020204" pitchFamily="34" charset="0"/>
              </a:rPr>
              <a:t> Pilipino</a:t>
            </a:r>
            <a:b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  <a:t> D. </a:t>
            </a:r>
            <a:r>
              <a:rPr lang="en-US" sz="3600" dirty="0" err="1">
                <a:latin typeface="Aptos" panose="020B0004020202020204" pitchFamily="34" charset="0"/>
              </a:rPr>
              <a:t>nagpapakilala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  <a:r>
              <a:rPr lang="en-US" sz="3600" dirty="0" err="1">
                <a:latin typeface="Aptos" panose="020B0004020202020204" pitchFamily="34" charset="0"/>
              </a:rPr>
              <a:t>sa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  <a:r>
              <a:rPr lang="en-US" sz="3600" dirty="0" err="1">
                <a:latin typeface="Aptos" panose="020B0004020202020204" pitchFamily="34" charset="0"/>
              </a:rPr>
              <a:t>talino</a:t>
            </a:r>
            <a:r>
              <a:rPr lang="en-US" sz="3600" dirty="0">
                <a:latin typeface="Aptos" panose="020B0004020202020204" pitchFamily="34" charset="0"/>
              </a:rPr>
              <a:t> at </a:t>
            </a:r>
            <a:r>
              <a:rPr lang="en-US" sz="3600" dirty="0" err="1">
                <a:latin typeface="Aptos" panose="020B0004020202020204" pitchFamily="34" charset="0"/>
              </a:rPr>
              <a:t>kakayahan</a:t>
            </a:r>
            <a:r>
              <a:rPr lang="en-US" sz="3600" dirty="0">
                <a:latin typeface="Aptos" panose="020B0004020202020204" pitchFamily="34" charset="0"/>
              </a:rPr>
              <a:t> ng </a:t>
            </a:r>
            <a:r>
              <a:rPr lang="en-US" sz="3600" dirty="0" err="1">
                <a:latin typeface="Aptos" panose="020B0004020202020204" pitchFamily="34" charset="0"/>
              </a:rPr>
              <a:t>mga</a:t>
            </a:r>
            <a:r>
              <a:rPr lang="en-US" sz="3600" dirty="0">
                <a:latin typeface="Aptos" panose="020B0004020202020204" pitchFamily="34" charset="0"/>
              </a:rPr>
              <a:t> Pilipino </a:t>
            </a:r>
            <a:r>
              <a:rPr lang="en-US" sz="3600" dirty="0" err="1">
                <a:latin typeface="Aptos" panose="020B0004020202020204" pitchFamily="34" charset="0"/>
              </a:rPr>
              <a:t>sa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  <a:r>
              <a:rPr lang="en-US" sz="3600" dirty="0" err="1">
                <a:latin typeface="Aptos" panose="020B0004020202020204" pitchFamily="34" charset="0"/>
              </a:rPr>
              <a:t>buong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  <a:r>
              <a:rPr lang="en-US" sz="3600" dirty="0" err="1">
                <a:latin typeface="Aptos" panose="020B0004020202020204" pitchFamily="34" charset="0"/>
              </a:rPr>
              <a:t>mundo</a:t>
            </a:r>
            <a:endParaRPr lang="en-PH" sz="3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93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610A01-8FFA-3252-A4A5-F0B3C33426E1}"/>
              </a:ext>
            </a:extLst>
          </p:cNvPr>
          <p:cNvSpPr txBox="1"/>
          <p:nvPr/>
        </p:nvSpPr>
        <p:spPr>
          <a:xfrm>
            <a:off x="659568" y="2459504"/>
            <a:ext cx="11197651" cy="2123658"/>
          </a:xfrm>
          <a:prstGeom prst="rect">
            <a:avLst/>
          </a:prstGeom>
          <a:pattFill prst="lgGrid">
            <a:fgClr>
              <a:srgbClr val="F4D8F1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tx1"/>
                </a:solidFill>
              </a:rPr>
              <a:t>C. </a:t>
            </a:r>
            <a:r>
              <a:rPr lang="en-US" sz="4400" dirty="0" err="1"/>
              <a:t>instrumento</a:t>
            </a:r>
            <a:r>
              <a:rPr lang="en-US" sz="4400" dirty="0"/>
              <a:t> ng </a:t>
            </a:r>
            <a:r>
              <a:rPr lang="en-US" sz="4400" dirty="0" err="1"/>
              <a:t>komunikasyon</a:t>
            </a:r>
            <a:r>
              <a:rPr lang="en-US" sz="4400" dirty="0"/>
              <a:t> at </a:t>
            </a:r>
            <a:r>
              <a:rPr lang="en-US" sz="4400" dirty="0" err="1"/>
              <a:t>demokratisasyon</a:t>
            </a:r>
            <a:r>
              <a:rPr lang="en-US" sz="4400" dirty="0"/>
              <a:t> ng </a:t>
            </a:r>
            <a:r>
              <a:rPr lang="en-US" sz="4400" dirty="0" err="1"/>
              <a:t>lipunang</a:t>
            </a:r>
            <a:r>
              <a:rPr lang="en-US" sz="4400" dirty="0"/>
              <a:t> Pilipino</a:t>
            </a:r>
            <a:br>
              <a:rPr lang="en-US" sz="4400" kern="1200" dirty="0">
                <a:solidFill>
                  <a:schemeClr val="tx1"/>
                </a:solidFill>
              </a:rPr>
            </a:br>
            <a:endParaRPr lang="en-PH" sz="4400" dirty="0"/>
          </a:p>
        </p:txBody>
      </p:sp>
    </p:spTree>
    <p:extLst>
      <p:ext uri="{BB962C8B-B14F-4D97-AF65-F5344CB8AC3E}">
        <p14:creationId xmlns:p14="http://schemas.microsoft.com/office/powerpoint/2010/main" val="221075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2AC92-E352-6005-AE78-397D7AAB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510D86-FC96-F540-15E0-8DB8CEB0E740}"/>
              </a:ext>
            </a:extLst>
          </p:cNvPr>
          <p:cNvSpPr txBox="1"/>
          <p:nvPr/>
        </p:nvSpPr>
        <p:spPr>
          <a:xfrm>
            <a:off x="472051" y="101877"/>
            <a:ext cx="10957810" cy="2062103"/>
          </a:xfrm>
          <a:prstGeom prst="rect">
            <a:avLst/>
          </a:prstGeom>
          <a:pattFill prst="openDmnd">
            <a:fgClr>
              <a:srgbClr val="F4D8F1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3200">
                <a:latin typeface="Bookman Old Style" panose="02050604050505020204" pitchFamily="18" charset="0"/>
              </a:rPr>
              <a:t>17. Upang </a:t>
            </a:r>
            <a:r>
              <a:rPr lang="en-US" sz="3200" dirty="0" err="1">
                <a:latin typeface="Bookman Old Style" panose="02050604050505020204" pitchFamily="18" charset="0"/>
              </a:rPr>
              <a:t>hindi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lubhang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matagalan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aktwal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pagsulat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pananaliksik</a:t>
            </a:r>
            <a:r>
              <a:rPr lang="en-US" sz="3200" dirty="0">
                <a:latin typeface="Bookman Old Style" panose="02050604050505020204" pitchFamily="18" charset="0"/>
              </a:rPr>
              <a:t>, </a:t>
            </a:r>
            <a:r>
              <a:rPr lang="en-US" sz="3200" dirty="0" err="1">
                <a:latin typeface="Bookman Old Style" panose="02050604050505020204" pitchFamily="18" charset="0"/>
              </a:rPr>
              <a:t>isang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mabisang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paraan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tinatawag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i="1" dirty="0">
                <a:latin typeface="Bookman Old Style" panose="02050604050505020204" pitchFamily="18" charset="0"/>
              </a:rPr>
              <a:t>free writing</a:t>
            </a:r>
            <a:r>
              <a:rPr lang="en-US" sz="3200" dirty="0">
                <a:latin typeface="Bookman Old Style" panose="02050604050505020204" pitchFamily="18" charset="0"/>
              </a:rPr>
              <a:t>. Sa </a:t>
            </a:r>
            <a:r>
              <a:rPr lang="en-US" sz="3200" dirty="0" err="1">
                <a:latin typeface="Bookman Old Style" panose="02050604050505020204" pitchFamily="18" charset="0"/>
              </a:rPr>
              <a:t>nasabing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estratehiya</a:t>
            </a:r>
            <a:r>
              <a:rPr lang="en-US" sz="3200" dirty="0">
                <a:latin typeface="Bookman Old Style" panose="02050604050505020204" pitchFamily="18" charset="0"/>
              </a:rPr>
              <a:t> __________________ .</a:t>
            </a:r>
            <a:endParaRPr lang="en-PH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0FF7B-1838-2961-4AEC-BB153D3AB90A}"/>
              </a:ext>
            </a:extLst>
          </p:cNvPr>
          <p:cNvSpPr txBox="1"/>
          <p:nvPr/>
        </p:nvSpPr>
        <p:spPr>
          <a:xfrm>
            <a:off x="127970" y="2347196"/>
            <a:ext cx="11860829" cy="4524315"/>
          </a:xfrm>
          <a:prstGeom prst="rect">
            <a:avLst/>
          </a:prstGeom>
          <a:pattFill prst="openDmnd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>
                <a:solidFill>
                  <a:schemeClr val="tx1"/>
                </a:solidFill>
              </a:rPr>
              <a:t>A. </a:t>
            </a:r>
            <a:r>
              <a:rPr lang="en-US" sz="3600" dirty="0" err="1"/>
              <a:t>tuloy-tuloy</a:t>
            </a:r>
            <a:r>
              <a:rPr lang="en-US" sz="3600" dirty="0"/>
              <a:t> </a:t>
            </a:r>
            <a:r>
              <a:rPr lang="en-US" sz="3600" dirty="0" err="1"/>
              <a:t>na</a:t>
            </a:r>
            <a:r>
              <a:rPr lang="en-US" sz="3600" dirty="0"/>
              <a:t> </a:t>
            </a:r>
            <a:r>
              <a:rPr lang="en-US" sz="3600" dirty="0" err="1"/>
              <a:t>isinusulat</a:t>
            </a:r>
            <a:r>
              <a:rPr lang="en-US" sz="3600" dirty="0"/>
              <a:t> ng </a:t>
            </a:r>
            <a:r>
              <a:rPr lang="en-US" sz="3600" dirty="0" err="1"/>
              <a:t>mananaliksik</a:t>
            </a:r>
            <a:r>
              <a:rPr lang="en-US" sz="3600" dirty="0"/>
              <a:t> ang lahat ng </a:t>
            </a:r>
            <a:r>
              <a:rPr lang="en-US" sz="3600" dirty="0" err="1"/>
              <a:t>kaniyang</a:t>
            </a:r>
            <a:r>
              <a:rPr lang="en-US" sz="3600" dirty="0"/>
              <a:t> </a:t>
            </a:r>
            <a:r>
              <a:rPr lang="en-US" sz="3600" dirty="0" err="1"/>
              <a:t>ideya</a:t>
            </a:r>
            <a:r>
              <a:rPr lang="en-US" sz="3600" dirty="0"/>
              <a:t> </a:t>
            </a:r>
            <a:r>
              <a:rPr lang="en-US" sz="3600" dirty="0" err="1"/>
              <a:t>sa</a:t>
            </a:r>
            <a:r>
              <a:rPr lang="en-US" sz="3600" dirty="0"/>
              <a:t> </a:t>
            </a:r>
            <a:r>
              <a:rPr lang="en-US" sz="3600" dirty="0" err="1"/>
              <a:t>paksa</a:t>
            </a:r>
            <a:r>
              <a:rPr lang="en-US" sz="3600" dirty="0"/>
              <a:t>.</a:t>
            </a:r>
            <a:br>
              <a:rPr lang="en-US" sz="3600" kern="1200" dirty="0">
                <a:solidFill>
                  <a:schemeClr val="tx1"/>
                </a:solidFill>
              </a:rPr>
            </a:br>
            <a:r>
              <a:rPr lang="en-US" sz="3600" kern="1200" dirty="0">
                <a:solidFill>
                  <a:schemeClr val="tx1"/>
                </a:solidFill>
              </a:rPr>
              <a:t> B. </a:t>
            </a:r>
            <a:r>
              <a:rPr lang="en-US" sz="3600" dirty="0" err="1"/>
              <a:t>pansamantalang</a:t>
            </a:r>
            <a:r>
              <a:rPr lang="en-US" sz="3600" dirty="0"/>
              <a:t> </a:t>
            </a:r>
            <a:r>
              <a:rPr lang="en-US" sz="3600" dirty="0" err="1"/>
              <a:t>huminto</a:t>
            </a:r>
            <a:r>
              <a:rPr lang="en-US" sz="3600" dirty="0"/>
              <a:t> ang </a:t>
            </a:r>
            <a:r>
              <a:rPr lang="en-US" sz="3600" dirty="0" err="1"/>
              <a:t>mananaliksik</a:t>
            </a:r>
            <a:r>
              <a:rPr lang="en-US" sz="3600" dirty="0"/>
              <a:t> </a:t>
            </a:r>
            <a:r>
              <a:rPr lang="en-US" sz="3600" dirty="0" err="1"/>
              <a:t>sa</a:t>
            </a:r>
            <a:r>
              <a:rPr lang="en-US" sz="3600" dirty="0"/>
              <a:t> </a:t>
            </a:r>
            <a:r>
              <a:rPr lang="en-US" sz="3600" dirty="0" err="1"/>
              <a:t>pagsusulat</a:t>
            </a:r>
            <a:r>
              <a:rPr lang="en-US" sz="3600" dirty="0"/>
              <a:t> </a:t>
            </a:r>
            <a:r>
              <a:rPr lang="en-US" sz="3600" dirty="0" err="1"/>
              <a:t>upang</a:t>
            </a:r>
            <a:r>
              <a:rPr lang="en-US" sz="3600" dirty="0"/>
              <a:t> </a:t>
            </a:r>
            <a:r>
              <a:rPr lang="en-US" sz="3600" dirty="0" err="1"/>
              <a:t>magmuni-muni</a:t>
            </a:r>
            <a:br>
              <a:rPr lang="en-US" sz="3600" kern="1200" dirty="0">
                <a:solidFill>
                  <a:schemeClr val="tx1"/>
                </a:solidFill>
              </a:rPr>
            </a:br>
            <a:r>
              <a:rPr lang="en-US" sz="3600" kern="1200" dirty="0">
                <a:solidFill>
                  <a:schemeClr val="tx1"/>
                </a:solidFill>
              </a:rPr>
              <a:t> C. </a:t>
            </a:r>
            <a:r>
              <a:rPr lang="en-US" sz="3600" dirty="0" err="1"/>
              <a:t>binabalangkas</a:t>
            </a:r>
            <a:r>
              <a:rPr lang="en-US" sz="3600" dirty="0"/>
              <a:t> ng </a:t>
            </a:r>
            <a:r>
              <a:rPr lang="en-US" sz="3600" dirty="0" err="1"/>
              <a:t>mananaliksik</a:t>
            </a:r>
            <a:r>
              <a:rPr lang="en-US" sz="3600" dirty="0"/>
              <a:t> ang </a:t>
            </a:r>
            <a:r>
              <a:rPr lang="en-US" sz="3600" dirty="0" err="1"/>
              <a:t>mga</a:t>
            </a:r>
            <a:r>
              <a:rPr lang="en-US" sz="3600" dirty="0"/>
              <a:t> </a:t>
            </a:r>
            <a:r>
              <a:rPr lang="en-US" sz="3600" dirty="0" err="1"/>
              <a:t>pangunahin</a:t>
            </a:r>
            <a:r>
              <a:rPr lang="en-US" sz="3600" dirty="0"/>
              <a:t> at </a:t>
            </a:r>
            <a:r>
              <a:rPr lang="en-US" sz="3600" dirty="0" err="1"/>
              <a:t>suportang</a:t>
            </a:r>
            <a:r>
              <a:rPr lang="en-US" sz="3600" dirty="0"/>
              <a:t> </a:t>
            </a:r>
            <a:r>
              <a:rPr lang="en-US" sz="3600" dirty="0" err="1"/>
              <a:t>detalye</a:t>
            </a:r>
            <a:r>
              <a:rPr lang="en-US" sz="3600" dirty="0"/>
              <a:t> ng </a:t>
            </a:r>
            <a:r>
              <a:rPr lang="en-US" sz="3600" dirty="0" err="1"/>
              <a:t>sinusulat</a:t>
            </a:r>
            <a:br>
              <a:rPr lang="en-US" sz="3600" kern="1200" dirty="0">
                <a:solidFill>
                  <a:schemeClr val="tx1"/>
                </a:solidFill>
              </a:rPr>
            </a:br>
            <a:r>
              <a:rPr lang="en-US" sz="3600" kern="1200" dirty="0">
                <a:solidFill>
                  <a:schemeClr val="tx1"/>
                </a:solidFill>
              </a:rPr>
              <a:t> D. </a:t>
            </a:r>
            <a:r>
              <a:rPr lang="en-US" sz="3600" dirty="0" err="1"/>
              <a:t>malayang</a:t>
            </a:r>
            <a:r>
              <a:rPr lang="en-US" sz="3600" dirty="0"/>
              <a:t> </a:t>
            </a:r>
            <a:r>
              <a:rPr lang="en-US" sz="3600" dirty="0" err="1"/>
              <a:t>itinatala</a:t>
            </a:r>
            <a:r>
              <a:rPr lang="en-US" sz="3600" dirty="0"/>
              <a:t> ng </a:t>
            </a:r>
            <a:r>
              <a:rPr lang="en-US" sz="3600" dirty="0" err="1"/>
              <a:t>mananaliksik</a:t>
            </a:r>
            <a:r>
              <a:rPr lang="en-US" sz="3600" dirty="0"/>
              <a:t> ang </a:t>
            </a:r>
            <a:r>
              <a:rPr lang="en-US" sz="3600" dirty="0" err="1"/>
              <a:t>anumang</a:t>
            </a:r>
            <a:r>
              <a:rPr lang="en-US" sz="3600" dirty="0"/>
              <a:t> </a:t>
            </a:r>
            <a:r>
              <a:rPr lang="en-US" sz="3600" dirty="0" err="1"/>
              <a:t>nais</a:t>
            </a:r>
            <a:r>
              <a:rPr lang="en-US" sz="3600" dirty="0"/>
              <a:t> </a:t>
            </a:r>
            <a:r>
              <a:rPr lang="en-US" sz="3600" dirty="0" err="1"/>
              <a:t>niyang</a:t>
            </a:r>
            <a:r>
              <a:rPr lang="en-US" sz="3600" dirty="0"/>
              <a:t> </a:t>
            </a:r>
            <a:r>
              <a:rPr lang="en-US" sz="3600" dirty="0" err="1"/>
              <a:t>gawin</a:t>
            </a:r>
            <a:r>
              <a:rPr lang="en-US" sz="3600" dirty="0"/>
              <a:t> </a:t>
            </a:r>
            <a:r>
              <a:rPr lang="en-US" sz="3600" dirty="0" err="1"/>
              <a:t>sa</a:t>
            </a:r>
            <a:r>
              <a:rPr lang="en-US" sz="3600" dirty="0"/>
              <a:t> </a:t>
            </a:r>
            <a:r>
              <a:rPr lang="en-US" sz="3600" dirty="0" err="1"/>
              <a:t>pananaliksik</a:t>
            </a:r>
            <a:endParaRPr lang="en-PH" sz="3200" dirty="0"/>
          </a:p>
        </p:txBody>
      </p:sp>
    </p:spTree>
    <p:extLst>
      <p:ext uri="{BB962C8B-B14F-4D97-AF65-F5344CB8AC3E}">
        <p14:creationId xmlns:p14="http://schemas.microsoft.com/office/powerpoint/2010/main" val="1097321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E7BAF-73BE-93D1-1C22-E1B999574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3A0100-12B0-8612-7035-1B06A4680961}"/>
              </a:ext>
            </a:extLst>
          </p:cNvPr>
          <p:cNvSpPr txBox="1"/>
          <p:nvPr/>
        </p:nvSpPr>
        <p:spPr>
          <a:xfrm>
            <a:off x="497174" y="2459504"/>
            <a:ext cx="11197651" cy="1446550"/>
          </a:xfrm>
          <a:prstGeom prst="rect">
            <a:avLst/>
          </a:prstGeom>
          <a:pattFill prst="pct30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tx1"/>
                </a:solidFill>
                <a:latin typeface="Aptos" panose="020B0004020202020204" pitchFamily="34" charset="0"/>
              </a:rPr>
              <a:t>C. </a:t>
            </a:r>
            <a:r>
              <a:rPr lang="en-US" sz="4400" dirty="0" err="1">
                <a:latin typeface="Aptos" panose="020B0004020202020204" pitchFamily="34" charset="0"/>
              </a:rPr>
              <a:t>binabalangkas</a:t>
            </a:r>
            <a:r>
              <a:rPr lang="en-US" sz="4400" dirty="0">
                <a:latin typeface="Aptos" panose="020B0004020202020204" pitchFamily="34" charset="0"/>
              </a:rPr>
              <a:t> ng </a:t>
            </a:r>
            <a:r>
              <a:rPr lang="en-US" sz="4400" dirty="0" err="1">
                <a:latin typeface="Aptos" panose="020B0004020202020204" pitchFamily="34" charset="0"/>
              </a:rPr>
              <a:t>mananaliksik</a:t>
            </a:r>
            <a:r>
              <a:rPr lang="en-US" sz="4400" dirty="0">
                <a:latin typeface="Aptos" panose="020B0004020202020204" pitchFamily="34" charset="0"/>
              </a:rPr>
              <a:t> ang </a:t>
            </a:r>
            <a:r>
              <a:rPr lang="en-US" sz="4400" dirty="0" err="1">
                <a:latin typeface="Aptos" panose="020B0004020202020204" pitchFamily="34" charset="0"/>
              </a:rPr>
              <a:t>mga</a:t>
            </a:r>
            <a:r>
              <a:rPr lang="en-US" sz="4400" dirty="0">
                <a:latin typeface="Aptos" panose="020B0004020202020204" pitchFamily="34" charset="0"/>
              </a:rPr>
              <a:t> </a:t>
            </a:r>
            <a:r>
              <a:rPr lang="en-US" sz="4400" dirty="0" err="1">
                <a:latin typeface="Aptos" panose="020B0004020202020204" pitchFamily="34" charset="0"/>
              </a:rPr>
              <a:t>pangunahin</a:t>
            </a:r>
            <a:r>
              <a:rPr lang="en-US" sz="4400" dirty="0">
                <a:latin typeface="Aptos" panose="020B0004020202020204" pitchFamily="34" charset="0"/>
              </a:rPr>
              <a:t> at </a:t>
            </a:r>
            <a:r>
              <a:rPr lang="en-US" sz="4400" dirty="0" err="1">
                <a:latin typeface="Aptos" panose="020B0004020202020204" pitchFamily="34" charset="0"/>
              </a:rPr>
              <a:t>suportang</a:t>
            </a:r>
            <a:r>
              <a:rPr lang="en-US" sz="4400" dirty="0">
                <a:latin typeface="Aptos" panose="020B0004020202020204" pitchFamily="34" charset="0"/>
              </a:rPr>
              <a:t> </a:t>
            </a:r>
            <a:r>
              <a:rPr lang="en-US" sz="4400" dirty="0" err="1">
                <a:latin typeface="Aptos" panose="020B0004020202020204" pitchFamily="34" charset="0"/>
              </a:rPr>
              <a:t>detalye</a:t>
            </a:r>
            <a:r>
              <a:rPr lang="en-US" sz="4400" dirty="0">
                <a:latin typeface="Aptos" panose="020B0004020202020204" pitchFamily="34" charset="0"/>
              </a:rPr>
              <a:t> ng </a:t>
            </a:r>
            <a:r>
              <a:rPr lang="en-US" sz="4400" dirty="0" err="1">
                <a:latin typeface="Aptos" panose="020B0004020202020204" pitchFamily="34" charset="0"/>
              </a:rPr>
              <a:t>sinusulat</a:t>
            </a:r>
            <a:endParaRPr lang="en-PH" sz="4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29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3BB04-6299-977C-B639-F52ED8F9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DCC663-67FB-C43C-F57E-C3F7EB1CB418}"/>
              </a:ext>
            </a:extLst>
          </p:cNvPr>
          <p:cNvSpPr txBox="1"/>
          <p:nvPr/>
        </p:nvSpPr>
        <p:spPr>
          <a:xfrm>
            <a:off x="434715" y="1420481"/>
            <a:ext cx="11392525" cy="1200329"/>
          </a:xfrm>
          <a:prstGeom prst="rect">
            <a:avLst/>
          </a:prstGeom>
          <a:pattFill prst="pct25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PH" sz="3600" dirty="0"/>
              <a:t>18. Alin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sumusunod</a:t>
            </a:r>
            <a:r>
              <a:rPr lang="en-PH" sz="3600" dirty="0"/>
              <a:t> ang </a:t>
            </a:r>
            <a:r>
              <a:rPr lang="en-PH" sz="3600" dirty="0" err="1"/>
              <a:t>nagpapatunay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pahayag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binasa</a:t>
            </a:r>
            <a:r>
              <a:rPr lang="en-PH" sz="3600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950E1-C32C-C84B-0513-FA10C59B7FBC}"/>
              </a:ext>
            </a:extLst>
          </p:cNvPr>
          <p:cNvSpPr txBox="1"/>
          <p:nvPr/>
        </p:nvSpPr>
        <p:spPr>
          <a:xfrm>
            <a:off x="367259" y="2980019"/>
            <a:ext cx="1152743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tx1"/>
                </a:solidFill>
              </a:rPr>
              <a:t>A. </a:t>
            </a:r>
            <a:r>
              <a:rPr lang="en-US" sz="3200" kern="1200" dirty="0" err="1">
                <a:solidFill>
                  <a:schemeClr val="tx1"/>
                </a:solidFill>
              </a:rPr>
              <a:t>walang</a:t>
            </a:r>
            <a:r>
              <a:rPr lang="en-US" sz="3200" kern="1200" dirty="0">
                <a:solidFill>
                  <a:schemeClr val="tx1"/>
                </a:solidFill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</a:rPr>
              <a:t>malinaw</a:t>
            </a:r>
            <a:r>
              <a:rPr lang="en-US" sz="3200" kern="1200" dirty="0">
                <a:solidFill>
                  <a:schemeClr val="tx1"/>
                </a:solidFill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</a:rPr>
              <a:t>na</a:t>
            </a:r>
            <a:r>
              <a:rPr lang="en-US" sz="3200" kern="1200" dirty="0">
                <a:solidFill>
                  <a:schemeClr val="tx1"/>
                </a:solidFill>
              </a:rPr>
              <a:t> plano ang </a:t>
            </a:r>
            <a:r>
              <a:rPr lang="en-US" sz="3200" kern="1200" dirty="0" err="1">
                <a:solidFill>
                  <a:schemeClr val="tx1"/>
                </a:solidFill>
              </a:rPr>
              <a:t>pamahalaan</a:t>
            </a:r>
            <a:r>
              <a:rPr lang="en-US" sz="3200" kern="1200" dirty="0">
                <a:solidFill>
                  <a:schemeClr val="tx1"/>
                </a:solidFill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</a:rPr>
              <a:t>sa</a:t>
            </a:r>
            <a:r>
              <a:rPr lang="en-US" sz="3200" kern="1200" dirty="0">
                <a:solidFill>
                  <a:schemeClr val="tx1"/>
                </a:solidFill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</a:rPr>
              <a:t>pagpapaunlad</a:t>
            </a:r>
            <a:r>
              <a:rPr lang="en-US" sz="3200" kern="1200" dirty="0">
                <a:solidFill>
                  <a:schemeClr val="tx1"/>
                </a:solidFill>
              </a:rPr>
              <a:t> ng Filipino</a:t>
            </a:r>
            <a:br>
              <a:rPr lang="en-US" sz="3200" kern="1200" dirty="0">
                <a:solidFill>
                  <a:schemeClr val="tx1"/>
                </a:solidFill>
              </a:rPr>
            </a:br>
            <a:r>
              <a:rPr lang="en-US" sz="3200" kern="1200" dirty="0">
                <a:solidFill>
                  <a:schemeClr val="tx1"/>
                </a:solidFill>
              </a:rPr>
              <a:t> B. </a:t>
            </a:r>
            <a:r>
              <a:rPr lang="en-US" sz="3200" dirty="0" err="1"/>
              <a:t>patuloy</a:t>
            </a:r>
            <a:r>
              <a:rPr lang="en-US" sz="3200" dirty="0"/>
              <a:t> </a:t>
            </a:r>
            <a:r>
              <a:rPr lang="en-US" sz="3200" dirty="0" err="1"/>
              <a:t>na</a:t>
            </a:r>
            <a:r>
              <a:rPr lang="en-US" sz="3200" dirty="0"/>
              <a:t> </a:t>
            </a:r>
            <a:r>
              <a:rPr lang="en-US" sz="3200" dirty="0" err="1"/>
              <a:t>ginagamit</a:t>
            </a:r>
            <a:r>
              <a:rPr lang="en-US" sz="3200" dirty="0"/>
              <a:t> ang </a:t>
            </a:r>
            <a:r>
              <a:rPr lang="en-US" sz="3200" dirty="0" err="1"/>
              <a:t>mga</a:t>
            </a:r>
            <a:r>
              <a:rPr lang="en-US" sz="3200" dirty="0"/>
              <a:t> </a:t>
            </a:r>
            <a:r>
              <a:rPr lang="en-US" sz="3200" dirty="0" err="1"/>
              <a:t>wikang</a:t>
            </a:r>
            <a:r>
              <a:rPr lang="en-US" sz="3200" dirty="0"/>
              <a:t> </a:t>
            </a:r>
            <a:r>
              <a:rPr lang="en-US" sz="3200" dirty="0" err="1"/>
              <a:t>rehiyonal</a:t>
            </a:r>
            <a:r>
              <a:rPr lang="en-US" sz="3200" dirty="0"/>
              <a:t> </a:t>
            </a:r>
            <a:r>
              <a:rPr lang="en-US" sz="3200" dirty="0" err="1"/>
              <a:t>sa</a:t>
            </a:r>
            <a:r>
              <a:rPr lang="en-US" sz="3200" dirty="0"/>
              <a:t> </a:t>
            </a:r>
            <a:r>
              <a:rPr lang="en-US" sz="3200" dirty="0" err="1"/>
              <a:t>ibat</a:t>
            </a:r>
            <a:r>
              <a:rPr lang="en-US" sz="3200" dirty="0"/>
              <a:t> </a:t>
            </a:r>
            <a:r>
              <a:rPr lang="en-US" sz="3200" dirty="0" err="1"/>
              <a:t>ibang</a:t>
            </a:r>
            <a:r>
              <a:rPr lang="en-US" sz="3200" dirty="0"/>
              <a:t> </a:t>
            </a:r>
            <a:r>
              <a:rPr lang="en-US" sz="3200" dirty="0" err="1"/>
              <a:t>institusyon</a:t>
            </a:r>
            <a:r>
              <a:rPr lang="en-US" sz="3200" dirty="0"/>
              <a:t> </a:t>
            </a:r>
            <a:r>
              <a:rPr lang="en-US" sz="3200" dirty="0" err="1"/>
              <a:t>sa</a:t>
            </a:r>
            <a:r>
              <a:rPr lang="en-US" sz="3200" dirty="0"/>
              <a:t> </a:t>
            </a:r>
            <a:r>
              <a:rPr lang="en-US" sz="3200" dirty="0" err="1"/>
              <a:t>bansa</a:t>
            </a:r>
            <a:br>
              <a:rPr lang="en-US" sz="3200" kern="1200" dirty="0">
                <a:solidFill>
                  <a:schemeClr val="tx1"/>
                </a:solidFill>
              </a:rPr>
            </a:br>
            <a:r>
              <a:rPr lang="en-US" sz="3200" kern="1200" dirty="0">
                <a:solidFill>
                  <a:schemeClr val="tx1"/>
                </a:solidFill>
              </a:rPr>
              <a:t> C. </a:t>
            </a:r>
            <a:r>
              <a:rPr lang="en-US" sz="3200" kern="1200" dirty="0" err="1">
                <a:solidFill>
                  <a:schemeClr val="tx1"/>
                </a:solidFill>
              </a:rPr>
              <a:t>walang</a:t>
            </a:r>
            <a:r>
              <a:rPr lang="en-US" sz="3200" kern="1200" dirty="0">
                <a:solidFill>
                  <a:schemeClr val="tx1"/>
                </a:solidFill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</a:rPr>
              <a:t>nagtataguyod</a:t>
            </a:r>
            <a:r>
              <a:rPr lang="en-US" sz="3200" kern="1200" dirty="0">
                <a:solidFill>
                  <a:schemeClr val="tx1"/>
                </a:solidFill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</a:rPr>
              <a:t>sa</a:t>
            </a:r>
            <a:r>
              <a:rPr lang="en-US" sz="3200" kern="1200" dirty="0">
                <a:solidFill>
                  <a:schemeClr val="tx1"/>
                </a:solidFill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</a:rPr>
              <a:t>paggamit</a:t>
            </a:r>
            <a:r>
              <a:rPr lang="en-US" sz="3200" kern="1200" dirty="0">
                <a:solidFill>
                  <a:schemeClr val="tx1"/>
                </a:solidFill>
              </a:rPr>
              <a:t> ng </a:t>
            </a:r>
            <a:r>
              <a:rPr lang="en-US" sz="3200" kern="1200" dirty="0" err="1">
                <a:solidFill>
                  <a:schemeClr val="tx1"/>
                </a:solidFill>
              </a:rPr>
              <a:t>wikang</a:t>
            </a:r>
            <a:r>
              <a:rPr lang="en-US" sz="3200" kern="1200" dirty="0">
                <a:solidFill>
                  <a:schemeClr val="tx1"/>
                </a:solidFill>
              </a:rPr>
              <a:t> Fil</a:t>
            </a:r>
            <a:r>
              <a:rPr lang="en-US" sz="3200" dirty="0"/>
              <a:t>ipino </a:t>
            </a:r>
            <a:r>
              <a:rPr lang="en-US" sz="3200" dirty="0" err="1"/>
              <a:t>bilang</a:t>
            </a:r>
            <a:r>
              <a:rPr lang="en-US" sz="3200" dirty="0"/>
              <a:t> </a:t>
            </a:r>
            <a:r>
              <a:rPr lang="en-US" sz="3200" dirty="0" err="1"/>
              <a:t>Wikang</a:t>
            </a:r>
            <a:r>
              <a:rPr lang="en-US" sz="3200" dirty="0"/>
              <a:t> Pambansa</a:t>
            </a:r>
            <a:br>
              <a:rPr lang="en-US" sz="3200" kern="1200" dirty="0">
                <a:solidFill>
                  <a:schemeClr val="tx1"/>
                </a:solidFill>
              </a:rPr>
            </a:br>
            <a:r>
              <a:rPr lang="en-US" sz="3200" kern="1200" dirty="0">
                <a:solidFill>
                  <a:schemeClr val="tx1"/>
                </a:solidFill>
              </a:rPr>
              <a:t> D. mas </a:t>
            </a:r>
            <a:r>
              <a:rPr lang="en-US" sz="3200" kern="1200" dirty="0" err="1">
                <a:solidFill>
                  <a:schemeClr val="tx1"/>
                </a:solidFill>
              </a:rPr>
              <a:t>pi</a:t>
            </a:r>
            <a:r>
              <a:rPr lang="en-US" sz="3200" dirty="0" err="1"/>
              <a:t>napaboran</a:t>
            </a:r>
            <a:r>
              <a:rPr lang="en-US" sz="3200" dirty="0"/>
              <a:t> pa </a:t>
            </a:r>
            <a:r>
              <a:rPr lang="en-US" sz="3200" dirty="0" err="1"/>
              <a:t>rin</a:t>
            </a:r>
            <a:r>
              <a:rPr lang="en-US" sz="3200" dirty="0"/>
              <a:t> ang </a:t>
            </a:r>
            <a:r>
              <a:rPr lang="en-US" sz="3200" dirty="0" err="1"/>
              <a:t>paggamit</a:t>
            </a:r>
            <a:r>
              <a:rPr lang="en-US" sz="3200" dirty="0"/>
              <a:t> ng Ingles </a:t>
            </a:r>
            <a:r>
              <a:rPr lang="en-US" sz="3200" dirty="0" err="1"/>
              <a:t>kaysa</a:t>
            </a:r>
            <a:r>
              <a:rPr lang="en-US" sz="3200" dirty="0"/>
              <a:t> Filipino </a:t>
            </a:r>
            <a:r>
              <a:rPr lang="en-US" sz="3200" dirty="0" err="1"/>
              <a:t>sa</a:t>
            </a:r>
            <a:r>
              <a:rPr lang="en-US" sz="3200" dirty="0"/>
              <a:t> </a:t>
            </a:r>
            <a:r>
              <a:rPr lang="en-US" sz="3200" dirty="0" err="1"/>
              <a:t>edukasyon</a:t>
            </a:r>
            <a:r>
              <a:rPr lang="en-US" sz="3200" dirty="0"/>
              <a:t>, </a:t>
            </a:r>
            <a:r>
              <a:rPr lang="en-US" sz="3200" dirty="0" err="1"/>
              <a:t>pamahalaan</a:t>
            </a:r>
            <a:r>
              <a:rPr lang="en-US" sz="3200" dirty="0"/>
              <a:t>, at </a:t>
            </a:r>
            <a:r>
              <a:rPr lang="en-US" sz="3200" dirty="0" err="1"/>
              <a:t>komersyo</a:t>
            </a:r>
            <a:endParaRPr lang="en-US" sz="3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F111BF-4AC9-2F75-48C2-5B11B972312A}"/>
              </a:ext>
            </a:extLst>
          </p:cNvPr>
          <p:cNvSpPr/>
          <p:nvPr/>
        </p:nvSpPr>
        <p:spPr>
          <a:xfrm>
            <a:off x="584617" y="449705"/>
            <a:ext cx="11242623" cy="749508"/>
          </a:xfrm>
          <a:prstGeom prst="rect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2800" b="1" dirty="0">
                <a:latin typeface="+mj-lt"/>
              </a:rPr>
              <a:t>“</a:t>
            </a:r>
            <a:r>
              <a:rPr lang="en-PH" sz="2800" b="1" dirty="0" err="1">
                <a:latin typeface="+mj-lt"/>
              </a:rPr>
              <a:t>Laganap</a:t>
            </a:r>
            <a:r>
              <a:rPr lang="en-PH" sz="2800" b="1" dirty="0">
                <a:latin typeface="+mj-lt"/>
              </a:rPr>
              <a:t> man ang </a:t>
            </a:r>
            <a:r>
              <a:rPr lang="en-PH" sz="2800" b="1" dirty="0" err="1">
                <a:latin typeface="+mj-lt"/>
              </a:rPr>
              <a:t>paggamit</a:t>
            </a:r>
            <a:r>
              <a:rPr lang="en-PH" sz="2800" b="1" dirty="0">
                <a:latin typeface="+mj-lt"/>
              </a:rPr>
              <a:t> ng </a:t>
            </a:r>
            <a:r>
              <a:rPr lang="en-PH" sz="2800" b="1" dirty="0" err="1">
                <a:latin typeface="+mj-lt"/>
              </a:rPr>
              <a:t>wikang</a:t>
            </a:r>
            <a:r>
              <a:rPr lang="en-PH" sz="2800" b="1" dirty="0">
                <a:latin typeface="+mj-lt"/>
              </a:rPr>
              <a:t> Filipino </a:t>
            </a:r>
            <a:r>
              <a:rPr lang="en-PH" sz="2800" b="1" dirty="0" err="1">
                <a:latin typeface="+mj-lt"/>
              </a:rPr>
              <a:t>sa</a:t>
            </a:r>
            <a:r>
              <a:rPr lang="en-PH" sz="2800" b="1" dirty="0">
                <a:latin typeface="+mj-lt"/>
              </a:rPr>
              <a:t> </a:t>
            </a:r>
            <a:r>
              <a:rPr lang="en-PH" sz="2800" b="1" dirty="0" err="1">
                <a:latin typeface="+mj-lt"/>
              </a:rPr>
              <a:t>lipunan</a:t>
            </a:r>
            <a:r>
              <a:rPr lang="en-PH" sz="2800" b="1" dirty="0">
                <a:latin typeface="+mj-lt"/>
              </a:rPr>
              <a:t>, </a:t>
            </a:r>
            <a:r>
              <a:rPr lang="en-PH" sz="2800" b="1" dirty="0" err="1">
                <a:latin typeface="+mj-lt"/>
              </a:rPr>
              <a:t>humaharap</a:t>
            </a:r>
            <a:r>
              <a:rPr lang="en-PH" sz="2800" b="1" dirty="0">
                <a:latin typeface="+mj-lt"/>
              </a:rPr>
              <a:t> pa </a:t>
            </a:r>
            <a:r>
              <a:rPr lang="en-PH" sz="2800" b="1" dirty="0" err="1">
                <a:latin typeface="+mj-lt"/>
              </a:rPr>
              <a:t>rin</a:t>
            </a:r>
            <a:r>
              <a:rPr lang="en-PH" sz="2800" b="1" dirty="0">
                <a:latin typeface="+mj-lt"/>
              </a:rPr>
              <a:t> </a:t>
            </a:r>
            <a:r>
              <a:rPr lang="en-PH" sz="2800" b="1" dirty="0" err="1">
                <a:latin typeface="+mj-lt"/>
              </a:rPr>
              <a:t>ito</a:t>
            </a:r>
            <a:r>
              <a:rPr lang="en-PH" sz="2800" b="1" dirty="0">
                <a:latin typeface="+mj-lt"/>
              </a:rPr>
              <a:t> </a:t>
            </a:r>
            <a:r>
              <a:rPr lang="en-PH" sz="2800" b="1" dirty="0" err="1">
                <a:latin typeface="+mj-lt"/>
              </a:rPr>
              <a:t>sa</a:t>
            </a:r>
            <a:r>
              <a:rPr lang="en-PH" sz="2800" b="1" dirty="0">
                <a:latin typeface="+mj-lt"/>
              </a:rPr>
              <a:t> </a:t>
            </a:r>
            <a:r>
              <a:rPr lang="en-PH" sz="2800" b="1" dirty="0" err="1">
                <a:latin typeface="+mj-lt"/>
              </a:rPr>
              <a:t>hamon</a:t>
            </a:r>
            <a:r>
              <a:rPr lang="en-PH" sz="2800" b="1" dirty="0">
                <a:latin typeface="+mj-lt"/>
              </a:rPr>
              <a:t> ng </a:t>
            </a:r>
            <a:r>
              <a:rPr lang="en-PH" sz="2800" b="1" dirty="0" err="1">
                <a:latin typeface="+mj-lt"/>
              </a:rPr>
              <a:t>paggamit</a:t>
            </a:r>
            <a:r>
              <a:rPr lang="en-PH" sz="2800" b="1" dirty="0">
                <a:latin typeface="+mj-lt"/>
              </a:rPr>
              <a:t> </a:t>
            </a:r>
            <a:r>
              <a:rPr lang="en-PH" sz="2800" b="1" dirty="0" err="1">
                <a:latin typeface="+mj-lt"/>
              </a:rPr>
              <a:t>sa</a:t>
            </a:r>
            <a:r>
              <a:rPr lang="en-PH" sz="2800" b="1" dirty="0">
                <a:latin typeface="+mj-lt"/>
              </a:rPr>
              <a:t> pang-</a:t>
            </a:r>
            <a:r>
              <a:rPr lang="en-PH" sz="2800" b="1" dirty="0" err="1">
                <a:latin typeface="+mj-lt"/>
              </a:rPr>
              <a:t>itaas</a:t>
            </a:r>
            <a:r>
              <a:rPr lang="en-PH" sz="2800" b="1" dirty="0">
                <a:latin typeface="+mj-lt"/>
              </a:rPr>
              <a:t> </a:t>
            </a:r>
            <a:r>
              <a:rPr lang="en-PH" sz="2800" b="1" dirty="0" err="1">
                <a:latin typeface="+mj-lt"/>
              </a:rPr>
              <a:t>na</a:t>
            </a:r>
            <a:r>
              <a:rPr lang="en-PH" sz="2800" b="1" dirty="0">
                <a:latin typeface="+mj-lt"/>
              </a:rPr>
              <a:t> </a:t>
            </a:r>
            <a:r>
              <a:rPr lang="en-PH" sz="2800" b="1" dirty="0" err="1">
                <a:latin typeface="+mj-lt"/>
              </a:rPr>
              <a:t>uri</a:t>
            </a:r>
            <a:r>
              <a:rPr lang="en-PH" sz="2800" b="1" dirty="0">
                <a:latin typeface="+mj-lt"/>
              </a:rPr>
              <a:t> o high functions.”</a:t>
            </a:r>
          </a:p>
        </p:txBody>
      </p:sp>
    </p:spTree>
    <p:extLst>
      <p:ext uri="{BB962C8B-B14F-4D97-AF65-F5344CB8AC3E}">
        <p14:creationId xmlns:p14="http://schemas.microsoft.com/office/powerpoint/2010/main" val="418635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2272C-DADA-9427-75F5-515E8507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63383D-53A7-237B-CEEF-9843DCA39DCE}"/>
              </a:ext>
            </a:extLst>
          </p:cNvPr>
          <p:cNvSpPr txBox="1"/>
          <p:nvPr/>
        </p:nvSpPr>
        <p:spPr>
          <a:xfrm>
            <a:off x="539645" y="2551837"/>
            <a:ext cx="11032761" cy="1938992"/>
          </a:xfrm>
          <a:prstGeom prst="rect">
            <a:avLst/>
          </a:prstGeom>
          <a:pattFill prst="pct50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4000" kern="1200" dirty="0">
                <a:solidFill>
                  <a:schemeClr val="tx1"/>
                </a:solidFill>
                <a:latin typeface="Aptos" panose="020B0004020202020204" pitchFamily="34" charset="0"/>
              </a:rPr>
              <a:t>D. mas </a:t>
            </a:r>
            <a:r>
              <a:rPr lang="en-US" sz="40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pi</a:t>
            </a:r>
            <a:r>
              <a:rPr lang="en-US" sz="4000" dirty="0" err="1">
                <a:latin typeface="Aptos" panose="020B0004020202020204" pitchFamily="34" charset="0"/>
              </a:rPr>
              <a:t>napaboran</a:t>
            </a:r>
            <a:r>
              <a:rPr lang="en-US" sz="4000" dirty="0">
                <a:latin typeface="Aptos" panose="020B0004020202020204" pitchFamily="34" charset="0"/>
              </a:rPr>
              <a:t> pa </a:t>
            </a:r>
            <a:r>
              <a:rPr lang="en-US" sz="4000" dirty="0" err="1">
                <a:latin typeface="Aptos" panose="020B0004020202020204" pitchFamily="34" charset="0"/>
              </a:rPr>
              <a:t>rin</a:t>
            </a:r>
            <a:r>
              <a:rPr lang="en-US" sz="4000" dirty="0">
                <a:latin typeface="Aptos" panose="020B0004020202020204" pitchFamily="34" charset="0"/>
              </a:rPr>
              <a:t> ang </a:t>
            </a:r>
            <a:r>
              <a:rPr lang="en-US" sz="4000" dirty="0" err="1">
                <a:latin typeface="Aptos" panose="020B0004020202020204" pitchFamily="34" charset="0"/>
              </a:rPr>
              <a:t>paggamit</a:t>
            </a:r>
            <a:r>
              <a:rPr lang="en-US" sz="4000" dirty="0">
                <a:latin typeface="Aptos" panose="020B0004020202020204" pitchFamily="34" charset="0"/>
              </a:rPr>
              <a:t> ng Ingles </a:t>
            </a:r>
            <a:r>
              <a:rPr lang="en-US" sz="4000" dirty="0" err="1">
                <a:latin typeface="Aptos" panose="020B0004020202020204" pitchFamily="34" charset="0"/>
              </a:rPr>
              <a:t>kaysa</a:t>
            </a:r>
            <a:r>
              <a:rPr lang="en-US" sz="4000" dirty="0">
                <a:latin typeface="Aptos" panose="020B0004020202020204" pitchFamily="34" charset="0"/>
              </a:rPr>
              <a:t> Filipino </a:t>
            </a:r>
            <a:r>
              <a:rPr lang="en-US" sz="4000" dirty="0" err="1">
                <a:latin typeface="Aptos" panose="020B0004020202020204" pitchFamily="34" charset="0"/>
              </a:rPr>
              <a:t>sa</a:t>
            </a:r>
            <a:r>
              <a:rPr lang="en-US" sz="4000" dirty="0">
                <a:latin typeface="Aptos" panose="020B0004020202020204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</a:rPr>
              <a:t>edukasyon</a:t>
            </a:r>
            <a:r>
              <a:rPr lang="en-US" sz="4000" dirty="0">
                <a:latin typeface="Aptos" panose="020B0004020202020204" pitchFamily="34" charset="0"/>
              </a:rPr>
              <a:t>, </a:t>
            </a:r>
            <a:r>
              <a:rPr lang="en-US" sz="4000" dirty="0" err="1">
                <a:latin typeface="Aptos" panose="020B0004020202020204" pitchFamily="34" charset="0"/>
              </a:rPr>
              <a:t>pamahalaan</a:t>
            </a:r>
            <a:r>
              <a:rPr lang="en-US" sz="4000" dirty="0">
                <a:latin typeface="Aptos" panose="020B0004020202020204" pitchFamily="34" charset="0"/>
              </a:rPr>
              <a:t>, at </a:t>
            </a:r>
            <a:r>
              <a:rPr lang="en-US" sz="4000" dirty="0" err="1">
                <a:latin typeface="Aptos" panose="020B0004020202020204" pitchFamily="34" charset="0"/>
              </a:rPr>
              <a:t>komersyo</a:t>
            </a:r>
            <a:endParaRPr lang="en-PH" sz="4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04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0759D-9BD6-78B5-910F-F0709EF05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01E0A1-159A-2EC5-60E8-2431D73ACE1C}"/>
              </a:ext>
            </a:extLst>
          </p:cNvPr>
          <p:cNvSpPr txBox="1"/>
          <p:nvPr/>
        </p:nvSpPr>
        <p:spPr>
          <a:xfrm>
            <a:off x="431800" y="389744"/>
            <a:ext cx="11143105" cy="1569660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lvl="0"/>
            <a:r>
              <a:rPr lang="en-PH" sz="3200" dirty="0"/>
              <a:t>19. Sa </a:t>
            </a:r>
            <a:r>
              <a:rPr lang="en-PH" sz="3200" dirty="0" err="1"/>
              <a:t>isang</a:t>
            </a:r>
            <a:r>
              <a:rPr lang="en-PH" sz="3200" dirty="0"/>
              <a:t> </a:t>
            </a:r>
            <a:r>
              <a:rPr lang="en-PH" sz="3200" dirty="0" err="1"/>
              <a:t>talumpati</a:t>
            </a:r>
            <a:r>
              <a:rPr lang="en-PH" sz="3200" dirty="0"/>
              <a:t> para </a:t>
            </a:r>
            <a:r>
              <a:rPr lang="en-PH" sz="3200" dirty="0" err="1"/>
              <a:t>sa</a:t>
            </a:r>
            <a:r>
              <a:rPr lang="en-PH" sz="3200" dirty="0"/>
              <a:t> Kabataan, </a:t>
            </a:r>
            <a:r>
              <a:rPr lang="en-PH" sz="3200" dirty="0" err="1"/>
              <a:t>alin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sumusunod</a:t>
            </a:r>
            <a:r>
              <a:rPr lang="en-PH" sz="3200" dirty="0"/>
              <a:t> ang </a:t>
            </a:r>
            <a:r>
              <a:rPr lang="en-PH" sz="3200" dirty="0" err="1"/>
              <a:t>pinakaangkop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uri</a:t>
            </a:r>
            <a:r>
              <a:rPr lang="en-PH" sz="3200" dirty="0"/>
              <a:t> ng </a:t>
            </a:r>
            <a:r>
              <a:rPr lang="en-PH" sz="3200" dirty="0" err="1"/>
              <a:t>wika</a:t>
            </a:r>
            <a:r>
              <a:rPr lang="en-PH" sz="3200" dirty="0"/>
              <a:t> </a:t>
            </a:r>
            <a:r>
              <a:rPr lang="en-PH" sz="3200" dirty="0" err="1"/>
              <a:t>upang</a:t>
            </a:r>
            <a:r>
              <a:rPr lang="en-PH" sz="3200" dirty="0"/>
              <a:t> </a:t>
            </a:r>
            <a:r>
              <a:rPr lang="en-PH" sz="3200" dirty="0" err="1"/>
              <a:t>maging</a:t>
            </a:r>
            <a:r>
              <a:rPr lang="en-PH" sz="3200" dirty="0"/>
              <a:t> </a:t>
            </a:r>
            <a:r>
              <a:rPr lang="en-PH" sz="3200" dirty="0" err="1"/>
              <a:t>epektibo</a:t>
            </a:r>
            <a:r>
              <a:rPr lang="en-PH" sz="3200" dirty="0"/>
              <a:t> ang </a:t>
            </a:r>
            <a:r>
              <a:rPr lang="en-PH" sz="3200" dirty="0" err="1"/>
              <a:t>mensahe</a:t>
            </a:r>
            <a:r>
              <a:rPr lang="en-PH" sz="3200" dirty="0"/>
              <a:t>?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F10A8-46C4-1758-3FFB-6EE1F8478AC8}"/>
              </a:ext>
            </a:extLst>
          </p:cNvPr>
          <p:cNvSpPr txBox="1"/>
          <p:nvPr/>
        </p:nvSpPr>
        <p:spPr>
          <a:xfrm>
            <a:off x="494676" y="2398908"/>
            <a:ext cx="1152743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 </a:t>
            </a:r>
            <a:r>
              <a:rPr lang="en-US" sz="4000" dirty="0"/>
              <a:t>A. </a:t>
            </a:r>
            <a:r>
              <a:rPr lang="en-PH" sz="4000" dirty="0" err="1"/>
              <a:t>Teknikal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wika</a:t>
            </a:r>
            <a:br>
              <a:rPr lang="en-PH" sz="4000" dirty="0"/>
            </a:br>
            <a:r>
              <a:rPr lang="en-PH" sz="4000" dirty="0"/>
              <a:t>B. </a:t>
            </a:r>
            <a:r>
              <a:rPr lang="en-PH" sz="4000" dirty="0" err="1"/>
              <a:t>Balbal</a:t>
            </a:r>
            <a:r>
              <a:rPr lang="en-PH" sz="4000" dirty="0"/>
              <a:t> at di-</a:t>
            </a:r>
            <a:r>
              <a:rPr lang="en-PH" sz="4000" dirty="0" err="1"/>
              <a:t>pormal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wika</a:t>
            </a:r>
            <a:br>
              <a:rPr lang="en-PH" sz="4000" dirty="0"/>
            </a:br>
            <a:r>
              <a:rPr lang="en-PH" sz="4000" dirty="0"/>
              <a:t>C. </a:t>
            </a:r>
            <a:r>
              <a:rPr lang="en-PH" sz="4000" dirty="0" err="1"/>
              <a:t>Pormal</a:t>
            </a:r>
            <a:r>
              <a:rPr lang="en-PH" sz="4000" dirty="0"/>
              <a:t> </a:t>
            </a:r>
            <a:r>
              <a:rPr lang="en-PH" sz="4000" dirty="0" err="1"/>
              <a:t>ngunit</a:t>
            </a:r>
            <a:r>
              <a:rPr lang="en-PH" sz="4000" dirty="0"/>
              <a:t> </a:t>
            </a:r>
            <a:r>
              <a:rPr lang="en-PH" sz="4000" dirty="0" err="1"/>
              <a:t>madaling</a:t>
            </a:r>
            <a:r>
              <a:rPr lang="en-PH" sz="4000" dirty="0"/>
              <a:t> </a:t>
            </a:r>
            <a:r>
              <a:rPr lang="en-PH" sz="4000" dirty="0" err="1"/>
              <a:t>unawain</a:t>
            </a:r>
            <a:br>
              <a:rPr lang="en-PH" sz="4000" dirty="0"/>
            </a:br>
            <a:r>
              <a:rPr lang="en-PH" sz="4000" dirty="0"/>
              <a:t>D. </a:t>
            </a:r>
            <a:r>
              <a:rPr lang="en-PH" sz="4000" dirty="0" err="1"/>
              <a:t>Dayuhang</a:t>
            </a:r>
            <a:r>
              <a:rPr lang="en-PH" sz="4000" dirty="0"/>
              <a:t> </a:t>
            </a:r>
            <a:r>
              <a:rPr lang="en-PH" sz="4000" dirty="0" err="1"/>
              <a:t>wika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441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B8722-5DB4-3A9E-C255-D09F3308A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440342-8E28-55D9-5873-5ABE50776BEE}"/>
              </a:ext>
            </a:extLst>
          </p:cNvPr>
          <p:cNvSpPr txBox="1"/>
          <p:nvPr/>
        </p:nvSpPr>
        <p:spPr>
          <a:xfrm>
            <a:off x="811967" y="2828835"/>
            <a:ext cx="10568066" cy="1046440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PH" sz="4400" dirty="0"/>
              <a:t>C. </a:t>
            </a:r>
            <a:r>
              <a:rPr lang="en-PH" sz="4400" dirty="0" err="1"/>
              <a:t>Pormal</a:t>
            </a:r>
            <a:r>
              <a:rPr lang="en-PH" sz="4400" dirty="0"/>
              <a:t> </a:t>
            </a:r>
            <a:r>
              <a:rPr lang="en-PH" sz="4400" dirty="0" err="1"/>
              <a:t>ngunit</a:t>
            </a:r>
            <a:r>
              <a:rPr lang="en-PH" sz="4400" dirty="0"/>
              <a:t> </a:t>
            </a:r>
            <a:r>
              <a:rPr lang="en-PH" sz="4400" dirty="0" err="1"/>
              <a:t>madaling</a:t>
            </a:r>
            <a:r>
              <a:rPr lang="en-PH" sz="4400" dirty="0"/>
              <a:t> </a:t>
            </a:r>
            <a:r>
              <a:rPr lang="en-PH" sz="4400" dirty="0" err="1"/>
              <a:t>unawain</a:t>
            </a:r>
            <a:br>
              <a:rPr lang="en-PH" dirty="0"/>
            </a:br>
            <a:endParaRPr lang="en-PH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77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2B013-0BC2-F9B5-AD8A-AAE3B6714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D083CC-6F7A-0E90-61BB-3803FF8C5006}"/>
              </a:ext>
            </a:extLst>
          </p:cNvPr>
          <p:cNvSpPr txBox="1"/>
          <p:nvPr/>
        </p:nvSpPr>
        <p:spPr>
          <a:xfrm>
            <a:off x="555885" y="213852"/>
            <a:ext cx="11080229" cy="2062103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Bookman Old Style" panose="02050604050505020204" pitchFamily="18" charset="0"/>
              </a:rPr>
              <a:t>20. Kung ang </a:t>
            </a:r>
            <a:r>
              <a:rPr lang="en-US" sz="3200" dirty="0" err="1">
                <a:latin typeface="Bookman Old Style" panose="02050604050505020204" pitchFamily="18" charset="0"/>
              </a:rPr>
              <a:t>paksa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pananaliksik</a:t>
            </a:r>
            <a:r>
              <a:rPr lang="en-US" sz="3200" dirty="0">
                <a:latin typeface="Bookman Old Style" panose="02050604050505020204" pitchFamily="18" charset="0"/>
              </a:rPr>
              <a:t> ay </a:t>
            </a:r>
            <a:r>
              <a:rPr lang="en-US" sz="3200" dirty="0" err="1">
                <a:latin typeface="Bookman Old Style" panose="02050604050505020204" pitchFamily="18" charset="0"/>
              </a:rPr>
              <a:t>tungkol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pambansang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badyet</a:t>
            </a:r>
            <a:r>
              <a:rPr lang="en-US" sz="3200" dirty="0">
                <a:latin typeface="Bookman Old Style" panose="02050604050505020204" pitchFamily="18" charset="0"/>
              </a:rPr>
              <a:t> ng Pilipinas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taong</a:t>
            </a:r>
            <a:r>
              <a:rPr lang="en-US" sz="3200" dirty="0">
                <a:latin typeface="Bookman Old Style" panose="02050604050505020204" pitchFamily="18" charset="0"/>
              </a:rPr>
              <a:t> 2020, </a:t>
            </a:r>
            <a:r>
              <a:rPr lang="en-US" sz="3200" dirty="0" err="1">
                <a:latin typeface="Bookman Old Style" panose="02050604050505020204" pitchFamily="18" charset="0"/>
              </a:rPr>
              <a:t>alin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sumusunod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tesis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pangungusap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nagtatakda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argumentatibong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pagtalakay</a:t>
            </a:r>
            <a:r>
              <a:rPr lang="en-US" sz="3200" dirty="0">
                <a:latin typeface="Bookman Old Style" panose="02050604050505020204" pitchFamily="18" charset="0"/>
              </a:rPr>
              <a:t>.</a:t>
            </a:r>
            <a:endParaRPr lang="en-PH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9AB69-EB45-7F88-B60F-B5205F89E0C7}"/>
              </a:ext>
            </a:extLst>
          </p:cNvPr>
          <p:cNvSpPr txBox="1"/>
          <p:nvPr/>
        </p:nvSpPr>
        <p:spPr>
          <a:xfrm>
            <a:off x="254000" y="2536843"/>
            <a:ext cx="1172314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A.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layon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ng mas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mataas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na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badyet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para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sa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Department of Public Works and Hi</a:t>
            </a:r>
            <a:r>
              <a:rPr lang="en-US" sz="3200" dirty="0">
                <a:latin typeface="Aptos" panose="020B0004020202020204" pitchFamily="34" charset="0"/>
              </a:rPr>
              <a:t>ghways (DPWH) ang </a:t>
            </a:r>
            <a:r>
              <a:rPr lang="en-US" sz="3200" dirty="0" err="1">
                <a:latin typeface="Aptos" panose="020B0004020202020204" pitchFamily="34" charset="0"/>
              </a:rPr>
              <a:t>tiyaking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mapatutupad</a:t>
            </a:r>
            <a:r>
              <a:rPr lang="en-US" sz="3200" dirty="0">
                <a:latin typeface="Aptos" panose="020B0004020202020204" pitchFamily="34" charset="0"/>
              </a:rPr>
              <a:t> ang </a:t>
            </a:r>
            <a:r>
              <a:rPr lang="en-US" sz="3200" dirty="0" err="1">
                <a:latin typeface="Aptos" panose="020B0004020202020204" pitchFamily="34" charset="0"/>
              </a:rPr>
              <a:t>programa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sa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imprastraktura</a:t>
            </a:r>
            <a:r>
              <a:rPr lang="en-US" sz="3200" dirty="0">
                <a:latin typeface="Aptos" panose="020B0004020202020204" pitchFamily="34" charset="0"/>
              </a:rPr>
              <a:t> ng </a:t>
            </a:r>
            <a:r>
              <a:rPr lang="en-US" sz="3200" dirty="0" err="1">
                <a:latin typeface="Aptos" panose="020B0004020202020204" pitchFamily="34" charset="0"/>
              </a:rPr>
              <a:t>Administrasyong</a:t>
            </a:r>
            <a:r>
              <a:rPr lang="en-US" sz="3200" dirty="0">
                <a:latin typeface="Aptos" panose="020B0004020202020204" pitchFamily="34" charset="0"/>
              </a:rPr>
              <a:t> Duterte</a:t>
            </a:r>
          </a:p>
          <a:p>
            <a:b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B.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sa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kasalukuyang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mga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banta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sa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kalusugan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,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nararapat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na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makipaglaban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pa ng mas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mataas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na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badyet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dirty="0">
                <a:latin typeface="Aptos" panose="020B0004020202020204" pitchFamily="34" charset="0"/>
              </a:rPr>
              <a:t>para </a:t>
            </a:r>
            <a:r>
              <a:rPr lang="en-US" sz="3200" dirty="0" err="1">
                <a:latin typeface="Aptos" panose="020B0004020202020204" pitchFamily="34" charset="0"/>
              </a:rPr>
              <a:t>sa</a:t>
            </a:r>
            <a:r>
              <a:rPr lang="en-US" sz="3200" dirty="0">
                <a:latin typeface="Aptos" panose="020B0004020202020204" pitchFamily="34" charset="0"/>
              </a:rPr>
              <a:t> Department of Health (DOH).</a:t>
            </a:r>
            <a:b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endParaRPr lang="en-PH" sz="3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724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FB015-632B-DF14-E2FA-13F21F47D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7D775C-DA44-664D-987B-9D0CCFF4A1AD}"/>
              </a:ext>
            </a:extLst>
          </p:cNvPr>
          <p:cNvSpPr txBox="1"/>
          <p:nvPr/>
        </p:nvSpPr>
        <p:spPr>
          <a:xfrm>
            <a:off x="555885" y="213852"/>
            <a:ext cx="11080229" cy="2062103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Bookman Old Style" panose="02050604050505020204" pitchFamily="18" charset="0"/>
              </a:rPr>
              <a:t>20. Kung ang </a:t>
            </a:r>
            <a:r>
              <a:rPr lang="en-US" sz="3200" dirty="0" err="1">
                <a:latin typeface="Bookman Old Style" panose="02050604050505020204" pitchFamily="18" charset="0"/>
              </a:rPr>
              <a:t>paksa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pananaliksik</a:t>
            </a:r>
            <a:r>
              <a:rPr lang="en-US" sz="3200" dirty="0">
                <a:latin typeface="Bookman Old Style" panose="02050604050505020204" pitchFamily="18" charset="0"/>
              </a:rPr>
              <a:t> ay </a:t>
            </a:r>
            <a:r>
              <a:rPr lang="en-US" sz="3200" dirty="0" err="1">
                <a:latin typeface="Bookman Old Style" panose="02050604050505020204" pitchFamily="18" charset="0"/>
              </a:rPr>
              <a:t>tungkol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pambansang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badyet</a:t>
            </a:r>
            <a:r>
              <a:rPr lang="en-US" sz="3200" dirty="0">
                <a:latin typeface="Bookman Old Style" panose="02050604050505020204" pitchFamily="18" charset="0"/>
              </a:rPr>
              <a:t> ng Pilipinas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taong</a:t>
            </a:r>
            <a:r>
              <a:rPr lang="en-US" sz="3200" dirty="0">
                <a:latin typeface="Bookman Old Style" panose="02050604050505020204" pitchFamily="18" charset="0"/>
              </a:rPr>
              <a:t> 2020, </a:t>
            </a:r>
            <a:r>
              <a:rPr lang="en-US" sz="3200" dirty="0" err="1">
                <a:latin typeface="Bookman Old Style" panose="02050604050505020204" pitchFamily="18" charset="0"/>
              </a:rPr>
              <a:t>alin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sumusunod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tesis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pangungusap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nagtatakda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argumentatibong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pagtalakay</a:t>
            </a:r>
            <a:r>
              <a:rPr lang="en-US" sz="3200" dirty="0">
                <a:latin typeface="Bookman Old Style" panose="02050604050505020204" pitchFamily="18" charset="0"/>
              </a:rPr>
              <a:t>.</a:t>
            </a:r>
            <a:endParaRPr lang="en-PH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FF5CFE-DA3E-9F89-2772-C91C5AAACCE0}"/>
              </a:ext>
            </a:extLst>
          </p:cNvPr>
          <p:cNvSpPr txBox="1"/>
          <p:nvPr/>
        </p:nvSpPr>
        <p:spPr>
          <a:xfrm>
            <a:off x="316458" y="2873886"/>
            <a:ext cx="117231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  <a:t>C. ang Commission on Elections (COMELEC) ang </a:t>
            </a:r>
            <a:r>
              <a:rPr lang="en-US" sz="36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pinakamalaking</a:t>
            </a:r>
            <a: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nabawasan</a:t>
            </a:r>
            <a: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  <a:t> ng </a:t>
            </a:r>
            <a:r>
              <a:rPr lang="en-US" sz="36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alokasyon</a:t>
            </a:r>
            <a: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sa</a:t>
            </a:r>
            <a: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badyet</a:t>
            </a:r>
            <a: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  <a:t> para </a:t>
            </a:r>
            <a:r>
              <a:rPr lang="en-US" sz="36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sa</a:t>
            </a:r>
            <a: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taong</a:t>
            </a:r>
            <a: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  <a:t> 2020. </a:t>
            </a:r>
          </a:p>
          <a:p>
            <a:b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3600" kern="1200" dirty="0">
                <a:solidFill>
                  <a:schemeClr val="tx1"/>
                </a:solidFill>
                <a:latin typeface="Aptos" panose="020B0004020202020204" pitchFamily="34" charset="0"/>
              </a:rPr>
              <a:t> D. </a:t>
            </a:r>
            <a:r>
              <a:rPr lang="en-US" sz="3600" dirty="0">
                <a:latin typeface="Aptos" panose="020B0004020202020204" pitchFamily="34" charset="0"/>
              </a:rPr>
              <a:t>lima </a:t>
            </a:r>
            <a:r>
              <a:rPr lang="en-US" sz="3600" dirty="0" err="1">
                <a:latin typeface="Aptos" panose="020B0004020202020204" pitchFamily="34" charset="0"/>
              </a:rPr>
              <a:t>lamang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  <a:r>
              <a:rPr lang="en-US" sz="3600" dirty="0" err="1">
                <a:latin typeface="Aptos" panose="020B0004020202020204" pitchFamily="34" charset="0"/>
              </a:rPr>
              <a:t>sa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  <a:r>
              <a:rPr lang="en-US" sz="3600" dirty="0" err="1">
                <a:latin typeface="Aptos" panose="020B0004020202020204" pitchFamily="34" charset="0"/>
              </a:rPr>
              <a:t>kabuuang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  <a:r>
              <a:rPr lang="en-US" sz="3600" dirty="0" err="1">
                <a:latin typeface="Aptos" panose="020B0004020202020204" pitchFamily="34" charset="0"/>
              </a:rPr>
              <a:t>bilang</a:t>
            </a:r>
            <a:r>
              <a:rPr lang="en-US" sz="3600" dirty="0">
                <a:latin typeface="Aptos" panose="020B0004020202020204" pitchFamily="34" charset="0"/>
              </a:rPr>
              <a:t> ng </a:t>
            </a:r>
            <a:r>
              <a:rPr lang="en-US" sz="3600" dirty="0" err="1">
                <a:latin typeface="Aptos" panose="020B0004020202020204" pitchFamily="34" charset="0"/>
              </a:rPr>
              <a:t>mga</a:t>
            </a:r>
            <a:r>
              <a:rPr lang="en-US" sz="3600" dirty="0">
                <a:latin typeface="Aptos" panose="020B0004020202020204" pitchFamily="34" charset="0"/>
              </a:rPr>
              <a:t> </a:t>
            </a:r>
            <a:r>
              <a:rPr lang="en-US" sz="3600" dirty="0" err="1">
                <a:latin typeface="Aptos" panose="020B0004020202020204" pitchFamily="34" charset="0"/>
              </a:rPr>
              <a:t>ahensiya</a:t>
            </a:r>
            <a:r>
              <a:rPr lang="en-US" sz="3600" dirty="0">
                <a:latin typeface="Aptos" panose="020B0004020202020204" pitchFamily="34" charset="0"/>
              </a:rPr>
              <a:t> ng </a:t>
            </a:r>
            <a:r>
              <a:rPr lang="en-US" sz="3600" dirty="0" err="1">
                <a:latin typeface="Aptos" panose="020B0004020202020204" pitchFamily="34" charset="0"/>
              </a:rPr>
              <a:t>pamahalaan</a:t>
            </a:r>
            <a:r>
              <a:rPr lang="en-US" sz="3600" dirty="0">
                <a:latin typeface="Aptos" panose="020B0004020202020204" pitchFamily="34" charset="0"/>
              </a:rPr>
              <a:t> ang </a:t>
            </a:r>
            <a:r>
              <a:rPr lang="en-US" sz="3600" dirty="0" err="1">
                <a:latin typeface="Aptos" panose="020B0004020202020204" pitchFamily="34" charset="0"/>
              </a:rPr>
              <a:t>nabawasan</a:t>
            </a:r>
            <a:r>
              <a:rPr lang="en-US" sz="3600" dirty="0">
                <a:latin typeface="Aptos" panose="020B0004020202020204" pitchFamily="34" charset="0"/>
              </a:rPr>
              <a:t> ng </a:t>
            </a:r>
            <a:r>
              <a:rPr lang="en-US" sz="3600" dirty="0" err="1">
                <a:latin typeface="Aptos" panose="020B0004020202020204" pitchFamily="34" charset="0"/>
              </a:rPr>
              <a:t>badyet</a:t>
            </a:r>
            <a:endParaRPr lang="en-PH" sz="3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43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13085-9BE8-45F2-C480-81EA8E6E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3B36A0-03DE-E8A8-80A5-C68C8102571D}"/>
              </a:ext>
            </a:extLst>
          </p:cNvPr>
          <p:cNvSpPr txBox="1"/>
          <p:nvPr/>
        </p:nvSpPr>
        <p:spPr>
          <a:xfrm>
            <a:off x="509666" y="2828835"/>
            <a:ext cx="11302583" cy="1569660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B. </a:t>
            </a:r>
            <a:r>
              <a:rPr lang="en-US" sz="3200" dirty="0">
                <a:latin typeface="Aptos" panose="020B0004020202020204" pitchFamily="34" charset="0"/>
              </a:rPr>
              <a:t>S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a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kasalukuyang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mga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banta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sa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kalusugan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,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nararapat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na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makipaglaban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pa ng mas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mataas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na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badyet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dirty="0">
                <a:latin typeface="Aptos" panose="020B0004020202020204" pitchFamily="34" charset="0"/>
              </a:rPr>
              <a:t>para </a:t>
            </a:r>
            <a:r>
              <a:rPr lang="en-US" sz="3200" dirty="0" err="1">
                <a:latin typeface="Aptos" panose="020B0004020202020204" pitchFamily="34" charset="0"/>
              </a:rPr>
              <a:t>sa</a:t>
            </a:r>
            <a:r>
              <a:rPr lang="en-US" sz="3200" dirty="0">
                <a:latin typeface="Aptos" panose="020B0004020202020204" pitchFamily="34" charset="0"/>
              </a:rPr>
              <a:t> Department of Health (DOH).</a:t>
            </a:r>
            <a:endParaRPr lang="en-PH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01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DCF22-4753-97EF-D204-256729335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F7082B-2365-97B6-9155-6FCE34B1537F}"/>
              </a:ext>
            </a:extLst>
          </p:cNvPr>
          <p:cNvSpPr txBox="1"/>
          <p:nvPr/>
        </p:nvSpPr>
        <p:spPr>
          <a:xfrm>
            <a:off x="555885" y="213852"/>
            <a:ext cx="11080229" cy="2062103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Bookman Old Style" panose="02050604050505020204" pitchFamily="18" charset="0"/>
              </a:rPr>
              <a:t>21. </a:t>
            </a:r>
            <a:r>
              <a:rPr lang="en-US" sz="3200" dirty="0" err="1">
                <a:latin typeface="Bookman Old Style" panose="02050604050505020204" pitchFamily="18" charset="0"/>
              </a:rPr>
              <a:t>Maaaring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limitahan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saklaw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paksa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pananaliksik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ayon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propesyon</a:t>
            </a:r>
            <a:r>
              <a:rPr lang="en-US" sz="3200" dirty="0">
                <a:latin typeface="Bookman Old Style" panose="02050604050505020204" pitchFamily="18" charset="0"/>
              </a:rPr>
              <a:t> o </a:t>
            </a:r>
            <a:r>
              <a:rPr lang="en-US" sz="3200" dirty="0" err="1">
                <a:latin typeface="Bookman Old Style" panose="02050604050505020204" pitchFamily="18" charset="0"/>
              </a:rPr>
              <a:t>pangkat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kinabibilangan</a:t>
            </a:r>
            <a:r>
              <a:rPr lang="en-US" sz="3200" dirty="0">
                <a:latin typeface="Bookman Old Style" panose="02050604050505020204" pitchFamily="18" charset="0"/>
              </a:rPr>
              <a:t>. Alin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sumusunod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paksa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halimbawa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ganitong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paglilimita</a:t>
            </a:r>
            <a:r>
              <a:rPr lang="en-US" sz="3200" dirty="0">
                <a:latin typeface="Bookman Old Style" panose="02050604050505020204" pitchFamily="18" charset="0"/>
              </a:rPr>
              <a:t>?</a:t>
            </a:r>
            <a:endParaRPr lang="en-PH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AB8CA4-3F32-1E46-86FD-97DFEFD2C13D}"/>
              </a:ext>
            </a:extLst>
          </p:cNvPr>
          <p:cNvSpPr txBox="1"/>
          <p:nvPr/>
        </p:nvSpPr>
        <p:spPr>
          <a:xfrm>
            <a:off x="222214" y="2404665"/>
            <a:ext cx="11527436" cy="44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A.</a:t>
            </a:r>
            <a:r>
              <a:rPr lang="en-US" sz="3200" dirty="0" err="1">
                <a:latin typeface="Aptos" panose="020B0004020202020204" pitchFamily="34" charset="0"/>
              </a:rPr>
              <a:t>A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ng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kulturang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Muslim at ang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paniniwala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nila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sa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pag-aasawa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: Kaso ng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mga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Maranao</a:t>
            </a:r>
            <a:b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B.</a:t>
            </a:r>
            <a:r>
              <a:rPr lang="en-US" sz="3200" dirty="0">
                <a:latin typeface="Aptos" panose="020B0004020202020204" pitchFamily="34" charset="0"/>
              </a:rPr>
              <a:t> Brain Drain at ang </a:t>
            </a:r>
            <a:r>
              <a:rPr lang="en-US" sz="3200" dirty="0" err="1">
                <a:latin typeface="Aptos" panose="020B0004020202020204" pitchFamily="34" charset="0"/>
              </a:rPr>
              <a:t>Epekto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nito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sa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Larangan</a:t>
            </a:r>
            <a:r>
              <a:rPr lang="en-US" sz="3200" dirty="0">
                <a:latin typeface="Aptos" panose="020B0004020202020204" pitchFamily="34" charset="0"/>
              </a:rPr>
              <a:t> ng Agham at </a:t>
            </a:r>
            <a:r>
              <a:rPr lang="en-US" sz="3200" dirty="0" err="1">
                <a:latin typeface="Aptos" panose="020B0004020202020204" pitchFamily="34" charset="0"/>
              </a:rPr>
              <a:t>Teknolohiya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sa</a:t>
            </a:r>
            <a:r>
              <a:rPr lang="en-US" sz="3200" dirty="0">
                <a:latin typeface="Aptos" panose="020B0004020202020204" pitchFamily="34" charset="0"/>
              </a:rPr>
              <a:t> Pilipinas</a:t>
            </a:r>
            <a:b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C</a:t>
            </a:r>
            <a:r>
              <a:rPr lang="en-US" sz="3200" dirty="0">
                <a:latin typeface="Aptos" panose="020B0004020202020204" pitchFamily="34" charset="0"/>
              </a:rPr>
              <a:t>. </a:t>
            </a:r>
            <a:r>
              <a:rPr lang="en-US" sz="3200" dirty="0" err="1">
                <a:latin typeface="Aptos" panose="020B0004020202020204" pitchFamily="34" charset="0"/>
              </a:rPr>
              <a:t>Epekto</a:t>
            </a:r>
            <a:r>
              <a:rPr lang="en-US" sz="3200" dirty="0">
                <a:latin typeface="Aptos" panose="020B0004020202020204" pitchFamily="34" charset="0"/>
              </a:rPr>
              <a:t> ng </a:t>
            </a:r>
            <a:r>
              <a:rPr lang="en-US" sz="3200" dirty="0" err="1">
                <a:latin typeface="Aptos" panose="020B0004020202020204" pitchFamily="34" charset="0"/>
              </a:rPr>
              <a:t>Globalisasyon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sa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Pamumuhay</a:t>
            </a:r>
            <a:r>
              <a:rPr lang="en-US" sz="3200" dirty="0">
                <a:latin typeface="Aptos" panose="020B0004020202020204" pitchFamily="34" charset="0"/>
              </a:rPr>
              <a:t> ng Tao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b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D. </a:t>
            </a:r>
            <a:r>
              <a:rPr lang="en-US" sz="3200" dirty="0" err="1">
                <a:latin typeface="Aptos" panose="020B0004020202020204" pitchFamily="34" charset="0"/>
              </a:rPr>
              <a:t>N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aiibang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T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radisyon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ng </a:t>
            </a:r>
            <a:r>
              <a:rPr lang="en-US" sz="3200" dirty="0">
                <a:latin typeface="Aptos" panose="020B0004020202020204" pitchFamily="34" charset="0"/>
              </a:rPr>
              <a:t>P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ista </a:t>
            </a:r>
            <a:r>
              <a:rPr lang="en-US" sz="3200" kern="1200" dirty="0" err="1">
                <a:solidFill>
                  <a:schemeClr val="tx1"/>
                </a:solidFill>
                <a:latin typeface="Aptos" panose="020B0004020202020204" pitchFamily="34" charset="0"/>
              </a:rPr>
              <a:t>sa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 Lucban, Quezon</a:t>
            </a:r>
            <a:endParaRPr lang="en-PH" sz="2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12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A9B0-C575-511E-4C61-DC724973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0CEAD8-9367-506E-DA4B-D281FC98AABF}"/>
              </a:ext>
            </a:extLst>
          </p:cNvPr>
          <p:cNvSpPr txBox="1"/>
          <p:nvPr/>
        </p:nvSpPr>
        <p:spPr>
          <a:xfrm>
            <a:off x="509666" y="2828835"/>
            <a:ext cx="11302583" cy="1323439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sz="4000" kern="1200" dirty="0">
                <a:solidFill>
                  <a:schemeClr val="tx1"/>
                </a:solidFill>
              </a:rPr>
              <a:t>A. </a:t>
            </a:r>
            <a:r>
              <a:rPr lang="en-US" sz="4000" dirty="0"/>
              <a:t>A</a:t>
            </a:r>
            <a:r>
              <a:rPr lang="en-US" sz="4000" kern="1200" dirty="0">
                <a:solidFill>
                  <a:schemeClr val="tx1"/>
                </a:solidFill>
              </a:rPr>
              <a:t>ng </a:t>
            </a:r>
            <a:r>
              <a:rPr lang="en-US" sz="4000" kern="1200" dirty="0" err="1">
                <a:solidFill>
                  <a:schemeClr val="tx1"/>
                </a:solidFill>
              </a:rPr>
              <a:t>kulturang</a:t>
            </a:r>
            <a:r>
              <a:rPr lang="en-US" sz="4000" kern="1200" dirty="0">
                <a:solidFill>
                  <a:schemeClr val="tx1"/>
                </a:solidFill>
              </a:rPr>
              <a:t> Muslim at ang </a:t>
            </a:r>
            <a:r>
              <a:rPr lang="en-US" sz="4000" dirty="0" err="1"/>
              <a:t>P</a:t>
            </a:r>
            <a:r>
              <a:rPr lang="en-US" sz="4000" kern="1200" dirty="0" err="1">
                <a:solidFill>
                  <a:schemeClr val="tx1"/>
                </a:solidFill>
              </a:rPr>
              <a:t>aniniwala</a:t>
            </a:r>
            <a:r>
              <a:rPr lang="en-US" sz="4000" kern="1200" dirty="0">
                <a:solidFill>
                  <a:schemeClr val="tx1"/>
                </a:solidFill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</a:rPr>
              <a:t>nila</a:t>
            </a:r>
            <a:r>
              <a:rPr lang="en-US" sz="4000" kern="1200" dirty="0">
                <a:solidFill>
                  <a:schemeClr val="tx1"/>
                </a:solidFill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</a:rPr>
              <a:t>sa</a:t>
            </a:r>
            <a:r>
              <a:rPr lang="en-US" sz="4000" kern="1200" dirty="0">
                <a:solidFill>
                  <a:schemeClr val="tx1"/>
                </a:solidFill>
              </a:rPr>
              <a:t> </a:t>
            </a:r>
            <a:r>
              <a:rPr lang="en-US" sz="4000" dirty="0"/>
              <a:t>P</a:t>
            </a:r>
            <a:r>
              <a:rPr lang="en-US" sz="4000" kern="1200" dirty="0">
                <a:solidFill>
                  <a:schemeClr val="tx1"/>
                </a:solidFill>
              </a:rPr>
              <a:t>ag-</a:t>
            </a:r>
            <a:r>
              <a:rPr lang="en-US" sz="4000" kern="1200" dirty="0" err="1">
                <a:solidFill>
                  <a:schemeClr val="tx1"/>
                </a:solidFill>
              </a:rPr>
              <a:t>aasawa</a:t>
            </a:r>
            <a:r>
              <a:rPr lang="en-US" sz="4000" kern="1200" dirty="0">
                <a:solidFill>
                  <a:schemeClr val="tx1"/>
                </a:solidFill>
              </a:rPr>
              <a:t>: Kaso ng </a:t>
            </a:r>
            <a:r>
              <a:rPr lang="en-US" sz="4000" kern="1200" dirty="0" err="1">
                <a:solidFill>
                  <a:schemeClr val="tx1"/>
                </a:solidFill>
              </a:rPr>
              <a:t>mga</a:t>
            </a:r>
            <a:r>
              <a:rPr lang="en-US" sz="4000" kern="1200" dirty="0">
                <a:solidFill>
                  <a:schemeClr val="tx1"/>
                </a:solidFill>
              </a:rPr>
              <a:t> Maranao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408412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47F3D-6407-2726-B4DA-D3CE338C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C13FCD-2D57-48C2-6D22-7F41917E5F35}"/>
              </a:ext>
            </a:extLst>
          </p:cNvPr>
          <p:cNvSpPr txBox="1"/>
          <p:nvPr/>
        </p:nvSpPr>
        <p:spPr>
          <a:xfrm>
            <a:off x="541866" y="731622"/>
            <a:ext cx="1077806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7 in 10 Filipino Students Lack Reading Skills</a:t>
            </a:r>
          </a:p>
          <a:p>
            <a:pPr algn="ctr"/>
            <a:r>
              <a:rPr lang="en-US" dirty="0"/>
              <a:t>Source: The Freeman/ The Philippine Star (Dec. 18, 2025)</a:t>
            </a:r>
          </a:p>
          <a:p>
            <a:pPr algn="ctr"/>
            <a:r>
              <a:rPr lang="en-US" dirty="0" err="1"/>
              <a:t>Batay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ulat</a:t>
            </a:r>
            <a:r>
              <a:rPr lang="en-US" dirty="0"/>
              <a:t> ng Southeast Asia Primary Learning Metrics (SEA-PLM)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99349-364F-B90A-DA73-09A3F8CF6048}"/>
              </a:ext>
            </a:extLst>
          </p:cNvPr>
          <p:cNvSpPr txBox="1"/>
          <p:nvPr/>
        </p:nvSpPr>
        <p:spPr>
          <a:xfrm>
            <a:off x="313267" y="1972733"/>
            <a:ext cx="113707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Ipinakita</a:t>
            </a:r>
            <a:r>
              <a:rPr lang="en-US" sz="2800" dirty="0"/>
              <a:t> ng </a:t>
            </a:r>
            <a:r>
              <a:rPr lang="en-US" sz="2800" dirty="0" err="1"/>
              <a:t>isang</a:t>
            </a:r>
            <a:r>
              <a:rPr lang="en-US" sz="2800" dirty="0"/>
              <a:t> </a:t>
            </a:r>
            <a:r>
              <a:rPr lang="en-US" sz="2800" dirty="0" err="1"/>
              <a:t>kamakailang</a:t>
            </a:r>
            <a:r>
              <a:rPr lang="en-US" sz="2800" dirty="0"/>
              <a:t> </a:t>
            </a:r>
            <a:r>
              <a:rPr lang="en-US" sz="2800" dirty="0" err="1"/>
              <a:t>pag</a:t>
            </a:r>
            <a:r>
              <a:rPr lang="en-US" sz="2800" dirty="0"/>
              <a:t> –</a:t>
            </a:r>
            <a:r>
              <a:rPr lang="en-US" sz="2800" dirty="0" err="1"/>
              <a:t>aaral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edukasyon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patuloy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nahihirapan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pagbasa</a:t>
            </a:r>
            <a:r>
              <a:rPr lang="en-US" sz="2800" dirty="0"/>
              <a:t> ang maraming mag-</a:t>
            </a:r>
            <a:r>
              <a:rPr lang="en-US" sz="2800" dirty="0" err="1"/>
              <a:t>aaral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Pilipinas. Ayon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ulat</a:t>
            </a:r>
            <a:r>
              <a:rPr lang="en-US" sz="2800" dirty="0"/>
              <a:t>, 7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bawat</a:t>
            </a:r>
            <a:r>
              <a:rPr lang="en-US" sz="2800" dirty="0"/>
              <a:t> 10 mag-</a:t>
            </a:r>
            <a:r>
              <a:rPr lang="en-US" sz="2800" dirty="0" err="1"/>
              <a:t>aaral</a:t>
            </a:r>
            <a:r>
              <a:rPr lang="en-US" sz="2800" dirty="0"/>
              <a:t> ang </a:t>
            </a:r>
            <a:r>
              <a:rPr lang="en-US" sz="2800" dirty="0" err="1"/>
              <a:t>hindi</a:t>
            </a:r>
            <a:r>
              <a:rPr lang="en-US" sz="2800" dirty="0"/>
              <a:t> pa </a:t>
            </a:r>
            <a:r>
              <a:rPr lang="en-US" sz="2800" dirty="0" err="1"/>
              <a:t>naaabot</a:t>
            </a:r>
            <a:r>
              <a:rPr lang="en-US" sz="2800" dirty="0"/>
              <a:t> ang </a:t>
            </a:r>
            <a:r>
              <a:rPr lang="en-US" sz="2800" dirty="0" err="1"/>
              <a:t>inaasahang</a:t>
            </a:r>
            <a:r>
              <a:rPr lang="en-US" sz="2800" dirty="0"/>
              <a:t> </a:t>
            </a:r>
            <a:r>
              <a:rPr lang="en-US" sz="2800" dirty="0" err="1"/>
              <a:t>antas</a:t>
            </a:r>
            <a:r>
              <a:rPr lang="en-US" sz="2800" dirty="0"/>
              <a:t> ng </a:t>
            </a:r>
            <a:r>
              <a:rPr lang="en-US" sz="2800" dirty="0" err="1"/>
              <a:t>kasanayan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pagbasa</a:t>
            </a:r>
            <a:r>
              <a:rPr lang="en-US" sz="2800" dirty="0"/>
              <a:t>, </a:t>
            </a:r>
            <a:r>
              <a:rPr lang="en-US" sz="2800" dirty="0" err="1"/>
              <a:t>lalo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pag-unawa</a:t>
            </a:r>
            <a:r>
              <a:rPr lang="en-US" sz="2800" dirty="0"/>
              <a:t> ng </a:t>
            </a:r>
            <a:r>
              <a:rPr lang="en-US" sz="2800" dirty="0" err="1"/>
              <a:t>simpleng</a:t>
            </a:r>
            <a:r>
              <a:rPr lang="en-US" sz="2800" dirty="0"/>
              <a:t> </a:t>
            </a:r>
            <a:r>
              <a:rPr lang="en-US" sz="2800" dirty="0" err="1"/>
              <a:t>teksto</a:t>
            </a:r>
            <a:r>
              <a:rPr lang="en-US" sz="2800" dirty="0"/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0D497-B9DF-8F5E-7F29-7A8CC7F22133}"/>
              </a:ext>
            </a:extLst>
          </p:cNvPr>
          <p:cNvSpPr txBox="1"/>
          <p:nvPr/>
        </p:nvSpPr>
        <p:spPr>
          <a:xfrm>
            <a:off x="313267" y="4047066"/>
            <a:ext cx="1137073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Bagama’t</a:t>
            </a:r>
            <a:r>
              <a:rPr lang="en-US" sz="2800" dirty="0"/>
              <a:t> may </a:t>
            </a:r>
            <a:r>
              <a:rPr lang="en-US" sz="2800" dirty="0" err="1"/>
              <a:t>kaunting</a:t>
            </a:r>
            <a:r>
              <a:rPr lang="en-US" sz="2800" dirty="0"/>
              <a:t> </a:t>
            </a:r>
            <a:r>
              <a:rPr lang="en-US" sz="2800" dirty="0" err="1"/>
              <a:t>pag-unlad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asignaturang</a:t>
            </a:r>
            <a:r>
              <a:rPr lang="en-US" sz="2800" dirty="0"/>
              <a:t> </a:t>
            </a:r>
            <a:r>
              <a:rPr lang="en-US" sz="2800" dirty="0" err="1"/>
              <a:t>Matematika</a:t>
            </a:r>
            <a:r>
              <a:rPr lang="en-US" sz="2800" dirty="0"/>
              <a:t>, </a:t>
            </a:r>
            <a:r>
              <a:rPr lang="en-US" sz="2800" dirty="0" err="1"/>
              <a:t>nananatiling</a:t>
            </a:r>
            <a:r>
              <a:rPr lang="en-US" sz="2800" dirty="0"/>
              <a:t> </a:t>
            </a:r>
            <a:r>
              <a:rPr lang="en-US" sz="2800" dirty="0" err="1"/>
              <a:t>mababa</a:t>
            </a:r>
            <a:r>
              <a:rPr lang="en-US" sz="2800" dirty="0"/>
              <a:t> ang </a:t>
            </a:r>
            <a:r>
              <a:rPr lang="en-US" sz="2800" dirty="0" err="1"/>
              <a:t>resulta</a:t>
            </a:r>
            <a:r>
              <a:rPr lang="en-US" sz="2800" dirty="0"/>
              <a:t> ng </a:t>
            </a:r>
            <a:r>
              <a:rPr lang="en-US" sz="2800" dirty="0" err="1"/>
              <a:t>mga</a:t>
            </a:r>
            <a:r>
              <a:rPr lang="en-US" sz="2800" dirty="0"/>
              <a:t> mag-</a:t>
            </a:r>
            <a:r>
              <a:rPr lang="en-US" sz="2800" dirty="0" err="1"/>
              <a:t>aaral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pagbasa</a:t>
            </a:r>
            <a:r>
              <a:rPr lang="en-US" sz="2800" dirty="0"/>
              <a:t> kung </a:t>
            </a:r>
            <a:r>
              <a:rPr lang="en-US" sz="2800" dirty="0" err="1"/>
              <a:t>ihahambing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mga</a:t>
            </a:r>
            <a:r>
              <a:rPr lang="en-US" sz="2800" dirty="0"/>
              <a:t> </a:t>
            </a:r>
            <a:r>
              <a:rPr lang="en-US" sz="2800" dirty="0" err="1"/>
              <a:t>nakaraang</a:t>
            </a:r>
            <a:r>
              <a:rPr lang="en-US" sz="2800" dirty="0"/>
              <a:t> </a:t>
            </a:r>
            <a:r>
              <a:rPr lang="en-US" sz="2800" dirty="0" err="1"/>
              <a:t>taon</a:t>
            </a:r>
            <a:r>
              <a:rPr lang="en-US" sz="2800" dirty="0"/>
              <a:t>. </a:t>
            </a:r>
            <a:r>
              <a:rPr lang="en-US" sz="2800" dirty="0" err="1"/>
              <a:t>Ipinapakita</a:t>
            </a:r>
            <a:r>
              <a:rPr lang="en-US" sz="2800" dirty="0"/>
              <a:t> </a:t>
            </a:r>
            <a:r>
              <a:rPr lang="en-US" sz="2800" dirty="0" err="1"/>
              <a:t>rin</a:t>
            </a:r>
            <a:r>
              <a:rPr lang="en-US" sz="2800" dirty="0"/>
              <a:t> ng </a:t>
            </a:r>
            <a:r>
              <a:rPr lang="en-US" sz="2800" dirty="0" err="1"/>
              <a:t>pag-aaral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malaki</a:t>
            </a:r>
            <a:r>
              <a:rPr lang="en-US" sz="2800" dirty="0"/>
              <a:t> ang </a:t>
            </a:r>
            <a:r>
              <a:rPr lang="en-US" sz="2800" dirty="0" err="1"/>
              <a:t>epekto</a:t>
            </a:r>
            <a:r>
              <a:rPr lang="en-US" sz="2800" dirty="0"/>
              <a:t> ng </a:t>
            </a:r>
            <a:r>
              <a:rPr lang="en-US" sz="2800" dirty="0" err="1"/>
              <a:t>kahirapan</a:t>
            </a:r>
            <a:r>
              <a:rPr lang="en-US" sz="2800" dirty="0"/>
              <a:t> at </a:t>
            </a:r>
            <a:r>
              <a:rPr lang="en-US" sz="2800" dirty="0" err="1"/>
              <a:t>kakulangan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access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edukasyon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kakayahan</a:t>
            </a:r>
            <a:r>
              <a:rPr lang="en-US" sz="2800" dirty="0"/>
              <a:t> ng </a:t>
            </a:r>
            <a:r>
              <a:rPr lang="en-US" sz="2800" dirty="0" err="1"/>
              <a:t>mga</a:t>
            </a:r>
            <a:r>
              <a:rPr lang="en-US" sz="2800" dirty="0"/>
              <a:t> bata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matutong</a:t>
            </a:r>
            <a:r>
              <a:rPr lang="en-US" sz="2800" dirty="0"/>
              <a:t> </a:t>
            </a:r>
            <a:r>
              <a:rPr lang="en-US" sz="2800" dirty="0" err="1"/>
              <a:t>magbasa</a:t>
            </a:r>
            <a:r>
              <a:rPr lang="en-US" sz="2800" dirty="0"/>
              <a:t> </a:t>
            </a:r>
            <a:r>
              <a:rPr lang="en-US" sz="2800" dirty="0" err="1"/>
              <a:t>nang</a:t>
            </a:r>
            <a:r>
              <a:rPr lang="en-US" sz="2800" dirty="0"/>
              <a:t> </a:t>
            </a:r>
            <a:r>
              <a:rPr lang="en-US" sz="2800" dirty="0" err="1"/>
              <a:t>maayos</a:t>
            </a:r>
            <a:r>
              <a:rPr lang="en-US" sz="2800" dirty="0"/>
              <a:t>.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36A1B5-E0CF-EC30-0AF4-6AAC21A3B897}"/>
              </a:ext>
            </a:extLst>
          </p:cNvPr>
          <p:cNvSpPr txBox="1"/>
          <p:nvPr/>
        </p:nvSpPr>
        <p:spPr>
          <a:xfrm>
            <a:off x="609600" y="321733"/>
            <a:ext cx="221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22-24na  </a:t>
            </a:r>
            <a:r>
              <a:rPr lang="en-US" dirty="0" err="1"/>
              <a:t>tanong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84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6DB40-D871-30EA-01D6-2F4B0182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1ACE47-B3A7-3EE5-500E-C6415D797039}"/>
              </a:ext>
            </a:extLst>
          </p:cNvPr>
          <p:cNvSpPr txBox="1"/>
          <p:nvPr/>
        </p:nvSpPr>
        <p:spPr>
          <a:xfrm>
            <a:off x="601133" y="618067"/>
            <a:ext cx="1077806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7 in 10 Filipino Students Lack Reading Skills</a:t>
            </a:r>
          </a:p>
          <a:p>
            <a:pPr algn="ctr"/>
            <a:r>
              <a:rPr lang="en-US" dirty="0"/>
              <a:t>Source: The Freeman/ The Philippine Star (Dec. 18, 2025)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4A690D-395E-4C7A-7483-07967701FFD2}"/>
              </a:ext>
            </a:extLst>
          </p:cNvPr>
          <p:cNvSpPr txBox="1"/>
          <p:nvPr/>
        </p:nvSpPr>
        <p:spPr>
          <a:xfrm>
            <a:off x="304799" y="2387600"/>
            <a:ext cx="113707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Bilang</a:t>
            </a:r>
            <a:r>
              <a:rPr lang="en-US" sz="2800" dirty="0"/>
              <a:t> </a:t>
            </a:r>
            <a:r>
              <a:rPr lang="en-US" sz="2800" dirty="0" err="1"/>
              <a:t>tugon</a:t>
            </a:r>
            <a:r>
              <a:rPr lang="en-US" sz="2800" dirty="0"/>
              <a:t>, </a:t>
            </a:r>
            <a:r>
              <a:rPr lang="en-US" sz="2800" dirty="0" err="1"/>
              <a:t>patuloy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nagsasagawa</a:t>
            </a:r>
            <a:r>
              <a:rPr lang="en-US" sz="2800" dirty="0"/>
              <a:t> ang </a:t>
            </a:r>
            <a:r>
              <a:rPr lang="en-US" sz="2800" dirty="0" err="1"/>
              <a:t>pamahalaan</a:t>
            </a:r>
            <a:r>
              <a:rPr lang="en-US" sz="2800" dirty="0"/>
              <a:t> at </a:t>
            </a:r>
            <a:r>
              <a:rPr lang="en-US" sz="2800" dirty="0" err="1"/>
              <a:t>mga</a:t>
            </a:r>
            <a:r>
              <a:rPr lang="en-US" sz="2800" dirty="0"/>
              <a:t> </a:t>
            </a:r>
            <a:r>
              <a:rPr lang="en-US" sz="2800" dirty="0" err="1"/>
              <a:t>paaralan</a:t>
            </a:r>
            <a:r>
              <a:rPr lang="en-US" sz="2800" dirty="0"/>
              <a:t> ng </a:t>
            </a:r>
            <a:r>
              <a:rPr lang="en-US" sz="2800" dirty="0" err="1"/>
              <a:t>iba’t</a:t>
            </a:r>
            <a:r>
              <a:rPr lang="en-US" sz="2800" dirty="0"/>
              <a:t> </a:t>
            </a:r>
            <a:r>
              <a:rPr lang="en-US" sz="2800" dirty="0" err="1"/>
              <a:t>ibang</a:t>
            </a:r>
            <a:r>
              <a:rPr lang="en-US" sz="2800" dirty="0"/>
              <a:t> </a:t>
            </a:r>
            <a:r>
              <a:rPr lang="en-US" sz="2800" dirty="0" err="1"/>
              <a:t>programang</a:t>
            </a:r>
            <a:r>
              <a:rPr lang="en-US" sz="2800" dirty="0"/>
              <a:t> </a:t>
            </a:r>
            <a:r>
              <a:rPr lang="en-US" sz="2800" dirty="0" err="1"/>
              <a:t>pampagkatuto</a:t>
            </a:r>
            <a:r>
              <a:rPr lang="en-US" sz="2800" dirty="0"/>
              <a:t> </a:t>
            </a:r>
            <a:r>
              <a:rPr lang="en-US" sz="2800" dirty="0" err="1"/>
              <a:t>tulad</a:t>
            </a:r>
            <a:r>
              <a:rPr lang="en-US" sz="2800" dirty="0"/>
              <a:t> ng reading intervention, remedial classes, at </a:t>
            </a:r>
            <a:r>
              <a:rPr lang="en-US" sz="2800" dirty="0" err="1"/>
              <a:t>pagbabago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kurikulum</a:t>
            </a:r>
            <a:r>
              <a:rPr lang="en-US" sz="2800" dirty="0"/>
              <a:t> </a:t>
            </a:r>
            <a:r>
              <a:rPr lang="en-US" sz="2800" dirty="0" err="1"/>
              <a:t>upang</a:t>
            </a:r>
            <a:r>
              <a:rPr lang="en-US" sz="2800" dirty="0"/>
              <a:t> </a:t>
            </a:r>
            <a:r>
              <a:rPr lang="en-US" sz="2800" dirty="0" err="1"/>
              <a:t>mapaunlad</a:t>
            </a:r>
            <a:r>
              <a:rPr lang="en-US" sz="2800" dirty="0"/>
              <a:t> ang </a:t>
            </a:r>
            <a:r>
              <a:rPr lang="en-US" sz="2800" dirty="0" err="1"/>
              <a:t>kakayahan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pagbasa</a:t>
            </a:r>
            <a:r>
              <a:rPr lang="en-US" sz="2800" dirty="0"/>
              <a:t> ng </a:t>
            </a:r>
            <a:r>
              <a:rPr lang="en-US" sz="2800" dirty="0" err="1"/>
              <a:t>mga</a:t>
            </a:r>
            <a:r>
              <a:rPr lang="en-US" sz="2800" dirty="0"/>
              <a:t> mag-</a:t>
            </a:r>
            <a:r>
              <a:rPr lang="en-US" sz="2800" dirty="0" err="1"/>
              <a:t>aaral</a:t>
            </a:r>
            <a:r>
              <a:rPr lang="en-US" sz="2800" dirty="0"/>
              <a:t>. </a:t>
            </a:r>
            <a:r>
              <a:rPr lang="en-US" sz="2800" dirty="0" err="1"/>
              <a:t>Binibigyang</a:t>
            </a:r>
            <a:r>
              <a:rPr lang="en-US" sz="2800" dirty="0"/>
              <a:t> </a:t>
            </a:r>
            <a:r>
              <a:rPr lang="en-US" sz="2800" dirty="0" err="1"/>
              <a:t>diin</a:t>
            </a:r>
            <a:r>
              <a:rPr lang="en-US" sz="2800" dirty="0"/>
              <a:t> ng </a:t>
            </a:r>
            <a:r>
              <a:rPr lang="en-US" sz="2800" dirty="0" err="1"/>
              <a:t>ulat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mahalagang</a:t>
            </a:r>
            <a:r>
              <a:rPr lang="en-US" sz="2800" dirty="0"/>
              <a:t> </a:t>
            </a:r>
            <a:r>
              <a:rPr lang="en-US" sz="2800" dirty="0" err="1"/>
              <a:t>pagtulungan</a:t>
            </a:r>
            <a:r>
              <a:rPr lang="en-US" sz="2800" dirty="0"/>
              <a:t> ng </a:t>
            </a:r>
            <a:r>
              <a:rPr lang="en-US" sz="2800" dirty="0" err="1"/>
              <a:t>mga</a:t>
            </a:r>
            <a:r>
              <a:rPr lang="en-US" sz="2800" dirty="0"/>
              <a:t> </a:t>
            </a:r>
            <a:r>
              <a:rPr lang="en-US" sz="2800" dirty="0" err="1"/>
              <a:t>guro</a:t>
            </a:r>
            <a:r>
              <a:rPr lang="en-US" sz="2800" dirty="0"/>
              <a:t>, </a:t>
            </a:r>
            <a:r>
              <a:rPr lang="en-US" sz="2800" dirty="0" err="1"/>
              <a:t>magulang</a:t>
            </a:r>
            <a:r>
              <a:rPr lang="en-US" sz="2800" dirty="0"/>
              <a:t>, at </a:t>
            </a:r>
            <a:r>
              <a:rPr lang="en-US" sz="2800" dirty="0" err="1"/>
              <a:t>komunidad</a:t>
            </a:r>
            <a:r>
              <a:rPr lang="en-US" sz="2800" dirty="0"/>
              <a:t> ang </a:t>
            </a:r>
            <a:r>
              <a:rPr lang="en-US" sz="2800" dirty="0" err="1"/>
              <a:t>paghubog</a:t>
            </a:r>
            <a:r>
              <a:rPr lang="en-US" sz="2800" dirty="0"/>
              <a:t> ng </a:t>
            </a:r>
            <a:r>
              <a:rPr lang="en-US" sz="2800" dirty="0" err="1"/>
              <a:t>kultura</a:t>
            </a:r>
            <a:r>
              <a:rPr lang="en-US" sz="2800" dirty="0"/>
              <a:t> ng </a:t>
            </a:r>
            <a:r>
              <a:rPr lang="en-US" sz="2800" dirty="0" err="1"/>
              <a:t>pagbabasa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mga</a:t>
            </a:r>
            <a:r>
              <a:rPr lang="en-US" sz="2800" dirty="0"/>
              <a:t> Kabataan.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CEA038-488D-E28F-350E-07496178A36A}"/>
              </a:ext>
            </a:extLst>
          </p:cNvPr>
          <p:cNvSpPr txBox="1"/>
          <p:nvPr/>
        </p:nvSpPr>
        <p:spPr>
          <a:xfrm>
            <a:off x="609600" y="321733"/>
            <a:ext cx="221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22-24na  </a:t>
            </a:r>
            <a:r>
              <a:rPr lang="en-US" dirty="0" err="1"/>
              <a:t>tanong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844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252C9-8F96-FD73-0481-E3B3B63E7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296AC7-B9D9-895E-3F06-79D89A070549}"/>
              </a:ext>
            </a:extLst>
          </p:cNvPr>
          <p:cNvSpPr txBox="1"/>
          <p:nvPr/>
        </p:nvSpPr>
        <p:spPr>
          <a:xfrm>
            <a:off x="555884" y="933380"/>
            <a:ext cx="11080229" cy="1569660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Bookman Old Style" panose="02050604050505020204" pitchFamily="18" charset="0"/>
              </a:rPr>
              <a:t>22. </a:t>
            </a:r>
            <a:r>
              <a:rPr lang="en-US" sz="3200" dirty="0" err="1">
                <a:latin typeface="Bookman Old Style" panose="02050604050505020204" pitchFamily="18" charset="0"/>
              </a:rPr>
              <a:t>Batay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artikulo</a:t>
            </a:r>
            <a:r>
              <a:rPr lang="en-US" sz="3200" dirty="0">
                <a:latin typeface="Bookman Old Style" panose="02050604050505020204" pitchFamily="18" charset="0"/>
              </a:rPr>
              <a:t>, </a:t>
            </a:r>
            <a:r>
              <a:rPr lang="en-US" sz="3200" dirty="0" err="1">
                <a:latin typeface="Bookman Old Style" panose="02050604050505020204" pitchFamily="18" charset="0"/>
              </a:rPr>
              <a:t>paano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direktang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naaapektuhan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mababang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kasanayan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pagbasa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akademikong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pagganap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mag-</a:t>
            </a:r>
            <a:r>
              <a:rPr lang="en-US" sz="3200" dirty="0" err="1">
                <a:latin typeface="Bookman Old Style" panose="02050604050505020204" pitchFamily="18" charset="0"/>
              </a:rPr>
              <a:t>aaral</a:t>
            </a:r>
            <a:r>
              <a:rPr lang="en-US" sz="3200" dirty="0">
                <a:latin typeface="Bookman Old Style" panose="02050604050505020204" pitchFamily="18" charset="0"/>
              </a:rPr>
              <a:t>?</a:t>
            </a:r>
            <a:endParaRPr lang="en-PH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33309-ABA8-C309-2D0D-6F6F3307244B}"/>
              </a:ext>
            </a:extLst>
          </p:cNvPr>
          <p:cNvSpPr txBox="1"/>
          <p:nvPr/>
        </p:nvSpPr>
        <p:spPr>
          <a:xfrm>
            <a:off x="664564" y="3073543"/>
            <a:ext cx="115274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tx1"/>
                </a:solidFill>
                <a:latin typeface="Aptos" panose="020B0004020202020204" pitchFamily="34" charset="0"/>
              </a:rPr>
              <a:t>A</a:t>
            </a:r>
            <a:r>
              <a:rPr lang="en-US" sz="3200" dirty="0">
                <a:latin typeface="Aptos" panose="020B0004020202020204" pitchFamily="34" charset="0"/>
              </a:rPr>
              <a:t>. </a:t>
            </a:r>
            <a:r>
              <a:rPr lang="en-US" sz="3200" dirty="0" err="1">
                <a:latin typeface="Aptos" panose="020B0004020202020204" pitchFamily="34" charset="0"/>
              </a:rPr>
              <a:t>Nagiging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limitado</a:t>
            </a:r>
            <a:r>
              <a:rPr lang="en-US" sz="3200" dirty="0">
                <a:latin typeface="Aptos" panose="020B0004020202020204" pitchFamily="34" charset="0"/>
              </a:rPr>
              <a:t> ang </a:t>
            </a:r>
            <a:r>
              <a:rPr lang="en-US" sz="3200" dirty="0" err="1">
                <a:latin typeface="Aptos" panose="020B0004020202020204" pitchFamily="34" charset="0"/>
              </a:rPr>
              <a:t>kanilang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kakayahan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sa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palakasan</a:t>
            </a:r>
            <a:r>
              <a:rPr lang="en-US" sz="3200" dirty="0">
                <a:latin typeface="Aptos" panose="020B0004020202020204" pitchFamily="34" charset="0"/>
              </a:rPr>
              <a:t> at </a:t>
            </a:r>
            <a:r>
              <a:rPr lang="en-US" sz="3200" dirty="0" err="1">
                <a:latin typeface="Aptos" panose="020B0004020202020204" pitchFamily="34" charset="0"/>
              </a:rPr>
              <a:t>sining</a:t>
            </a:r>
            <a:endParaRPr lang="en-PH" sz="2600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F2AC70-801D-BE16-75E1-8A712688598F}"/>
              </a:ext>
            </a:extLst>
          </p:cNvPr>
          <p:cNvSpPr txBox="1"/>
          <p:nvPr/>
        </p:nvSpPr>
        <p:spPr>
          <a:xfrm>
            <a:off x="664564" y="4419743"/>
            <a:ext cx="115274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ea typeface="+mj-ea"/>
                <a:cs typeface="+mj-cs"/>
              </a:rPr>
              <a:t>B. </a:t>
            </a:r>
            <a:r>
              <a:rPr lang="en-US" sz="3200" dirty="0" err="1">
                <a:ea typeface="+mj-ea"/>
                <a:cs typeface="+mj-cs"/>
              </a:rPr>
              <a:t>Nahihirapan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silang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suriin</a:t>
            </a:r>
            <a:r>
              <a:rPr lang="en-US" sz="3200" dirty="0">
                <a:ea typeface="+mj-ea"/>
                <a:cs typeface="+mj-cs"/>
              </a:rPr>
              <a:t> at </a:t>
            </a:r>
            <a:r>
              <a:rPr lang="en-US" sz="3200" dirty="0" err="1">
                <a:ea typeface="+mj-ea"/>
                <a:cs typeface="+mj-cs"/>
              </a:rPr>
              <a:t>unawain</a:t>
            </a:r>
            <a:r>
              <a:rPr lang="en-US" sz="3200" dirty="0">
                <a:ea typeface="+mj-ea"/>
                <a:cs typeface="+mj-cs"/>
              </a:rPr>
              <a:t> ang </a:t>
            </a:r>
            <a:r>
              <a:rPr lang="en-US" sz="3200" dirty="0" err="1">
                <a:ea typeface="+mj-ea"/>
                <a:cs typeface="+mj-cs"/>
              </a:rPr>
              <a:t>mga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komplikadong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teksto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sa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iba’t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ibang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asignatura</a:t>
            </a:r>
            <a:r>
              <a:rPr lang="en-US" sz="3200" dirty="0">
                <a:ea typeface="+mj-ea"/>
                <a:cs typeface="+mj-cs"/>
              </a:rPr>
              <a:t> </a:t>
            </a:r>
            <a:endParaRPr lang="en-PH" sz="2600" dirty="0"/>
          </a:p>
        </p:txBody>
      </p:sp>
    </p:spTree>
    <p:extLst>
      <p:ext uri="{BB962C8B-B14F-4D97-AF65-F5344CB8AC3E}">
        <p14:creationId xmlns:p14="http://schemas.microsoft.com/office/powerpoint/2010/main" val="174282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EB5E1-1B56-011E-3DB2-C5FC0782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E940B9-DE94-560E-9574-160A3E1B5DD6}"/>
              </a:ext>
            </a:extLst>
          </p:cNvPr>
          <p:cNvSpPr txBox="1"/>
          <p:nvPr/>
        </p:nvSpPr>
        <p:spPr>
          <a:xfrm>
            <a:off x="555884" y="933380"/>
            <a:ext cx="11080229" cy="1569660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Bookman Old Style" panose="02050604050505020204" pitchFamily="18" charset="0"/>
              </a:rPr>
              <a:t>22. </a:t>
            </a:r>
            <a:r>
              <a:rPr lang="en-US" sz="3200" dirty="0" err="1">
                <a:latin typeface="Bookman Old Style" panose="02050604050505020204" pitchFamily="18" charset="0"/>
              </a:rPr>
              <a:t>Batay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artikulo</a:t>
            </a:r>
            <a:r>
              <a:rPr lang="en-US" sz="3200" dirty="0">
                <a:latin typeface="Bookman Old Style" panose="02050604050505020204" pitchFamily="18" charset="0"/>
              </a:rPr>
              <a:t>, </a:t>
            </a:r>
            <a:r>
              <a:rPr lang="en-US" sz="3200" dirty="0" err="1">
                <a:latin typeface="Bookman Old Style" panose="02050604050505020204" pitchFamily="18" charset="0"/>
              </a:rPr>
              <a:t>paano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direktang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naaapektuhan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mababang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kasanayan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pagbasa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akademikong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pagganap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mag-</a:t>
            </a:r>
            <a:r>
              <a:rPr lang="en-US" sz="3200" dirty="0" err="1">
                <a:latin typeface="Bookman Old Style" panose="02050604050505020204" pitchFamily="18" charset="0"/>
              </a:rPr>
              <a:t>aaral</a:t>
            </a:r>
            <a:r>
              <a:rPr lang="en-US" sz="3200" dirty="0">
                <a:latin typeface="Bookman Old Style" panose="02050604050505020204" pitchFamily="18" charset="0"/>
              </a:rPr>
              <a:t>?</a:t>
            </a:r>
            <a:endParaRPr lang="en-PH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301FD-FF17-097E-93BB-C3971A10DECB}"/>
              </a:ext>
            </a:extLst>
          </p:cNvPr>
          <p:cNvSpPr txBox="1"/>
          <p:nvPr/>
        </p:nvSpPr>
        <p:spPr>
          <a:xfrm>
            <a:off x="444430" y="3169004"/>
            <a:ext cx="11527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dirty="0">
                <a:ea typeface="+mj-ea"/>
                <a:cs typeface="+mj-cs"/>
              </a:rPr>
              <a:t>C. </a:t>
            </a:r>
            <a:r>
              <a:rPr lang="en-US" sz="3200" dirty="0" err="1">
                <a:ea typeface="+mj-ea"/>
                <a:cs typeface="+mj-cs"/>
              </a:rPr>
              <a:t>Nawawala</a:t>
            </a:r>
            <a:r>
              <a:rPr lang="en-US" sz="3200" dirty="0">
                <a:ea typeface="+mj-ea"/>
                <a:cs typeface="+mj-cs"/>
              </a:rPr>
              <a:t> ang </a:t>
            </a:r>
            <a:r>
              <a:rPr lang="en-US" sz="3200" dirty="0" err="1">
                <a:ea typeface="+mj-ea"/>
                <a:cs typeface="+mj-cs"/>
              </a:rPr>
              <a:t>kanilang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interes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sa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pakikisalamuha</a:t>
            </a:r>
            <a:endParaRPr lang="en-PH" sz="2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DDB0B0-A63D-48D4-A939-0AEEF07878E8}"/>
              </a:ext>
            </a:extLst>
          </p:cNvPr>
          <p:cNvSpPr txBox="1"/>
          <p:nvPr/>
        </p:nvSpPr>
        <p:spPr>
          <a:xfrm>
            <a:off x="555884" y="4419743"/>
            <a:ext cx="11527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D.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Nagiging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mababa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lamang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ang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marka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sa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asignaturang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Filipino </a:t>
            </a:r>
            <a:endParaRPr lang="en-PH" sz="2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922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9827E-E013-C094-4F23-19982C95E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020526-297B-2320-BD6D-104F87193D48}"/>
              </a:ext>
            </a:extLst>
          </p:cNvPr>
          <p:cNvSpPr txBox="1"/>
          <p:nvPr/>
        </p:nvSpPr>
        <p:spPr>
          <a:xfrm>
            <a:off x="503697" y="2650210"/>
            <a:ext cx="115274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ea typeface="+mj-ea"/>
                <a:cs typeface="+mj-cs"/>
              </a:rPr>
              <a:t>B. </a:t>
            </a:r>
            <a:r>
              <a:rPr lang="en-US" sz="3200" dirty="0" err="1">
                <a:ea typeface="+mj-ea"/>
                <a:cs typeface="+mj-cs"/>
              </a:rPr>
              <a:t>Nahihirapan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silang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suriin</a:t>
            </a:r>
            <a:r>
              <a:rPr lang="en-US" sz="3200" dirty="0">
                <a:ea typeface="+mj-ea"/>
                <a:cs typeface="+mj-cs"/>
              </a:rPr>
              <a:t> at </a:t>
            </a:r>
            <a:r>
              <a:rPr lang="en-US" sz="3200" dirty="0" err="1">
                <a:ea typeface="+mj-ea"/>
                <a:cs typeface="+mj-cs"/>
              </a:rPr>
              <a:t>unawain</a:t>
            </a:r>
            <a:r>
              <a:rPr lang="en-US" sz="3200" dirty="0">
                <a:ea typeface="+mj-ea"/>
                <a:cs typeface="+mj-cs"/>
              </a:rPr>
              <a:t> ang </a:t>
            </a:r>
            <a:r>
              <a:rPr lang="en-US" sz="3200" dirty="0" err="1">
                <a:ea typeface="+mj-ea"/>
                <a:cs typeface="+mj-cs"/>
              </a:rPr>
              <a:t>mga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komplikadong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teksto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sa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iba’t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ibang</a:t>
            </a:r>
            <a:r>
              <a:rPr lang="en-US" sz="3200" dirty="0">
                <a:ea typeface="+mj-ea"/>
                <a:cs typeface="+mj-cs"/>
              </a:rPr>
              <a:t> </a:t>
            </a:r>
            <a:r>
              <a:rPr lang="en-US" sz="3200" dirty="0" err="1">
                <a:ea typeface="+mj-ea"/>
                <a:cs typeface="+mj-cs"/>
              </a:rPr>
              <a:t>asignatura</a:t>
            </a:r>
            <a:r>
              <a:rPr lang="en-US" sz="3200" dirty="0">
                <a:ea typeface="+mj-ea"/>
                <a:cs typeface="+mj-cs"/>
              </a:rPr>
              <a:t> </a:t>
            </a:r>
            <a:endParaRPr lang="en-PH" sz="2600" dirty="0"/>
          </a:p>
        </p:txBody>
      </p:sp>
    </p:spTree>
    <p:extLst>
      <p:ext uri="{BB962C8B-B14F-4D97-AF65-F5344CB8AC3E}">
        <p14:creationId xmlns:p14="http://schemas.microsoft.com/office/powerpoint/2010/main" val="1298260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5E87C-4AAB-A39B-F9B4-F958577C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C207A5-D242-3331-B634-A320C27E0454}"/>
              </a:ext>
            </a:extLst>
          </p:cNvPr>
          <p:cNvSpPr txBox="1"/>
          <p:nvPr/>
        </p:nvSpPr>
        <p:spPr>
          <a:xfrm>
            <a:off x="555884" y="933380"/>
            <a:ext cx="11080229" cy="2062103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Bookman Old Style" panose="02050604050505020204" pitchFamily="18" charset="0"/>
              </a:rPr>
              <a:t>23. Kung </a:t>
            </a:r>
            <a:r>
              <a:rPr lang="en-US" sz="3200" dirty="0" err="1">
                <a:latin typeface="Bookman Old Style" panose="02050604050505020204" pitchFamily="18" charset="0"/>
              </a:rPr>
              <a:t>patuloy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hindi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natutugunan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suliranin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pagbasa</a:t>
            </a:r>
            <a:r>
              <a:rPr lang="en-US" sz="3200" dirty="0">
                <a:latin typeface="Bookman Old Style" panose="02050604050505020204" pitchFamily="18" charset="0"/>
              </a:rPr>
              <a:t>, </a:t>
            </a:r>
            <a:r>
              <a:rPr lang="en-US" sz="3200" dirty="0" err="1">
                <a:latin typeface="Bookman Old Style" panose="02050604050505020204" pitchFamily="18" charset="0"/>
              </a:rPr>
              <a:t>alin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sumusunod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pinakamakatwirang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pangmatagalang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epekto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nito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bansa</a:t>
            </a:r>
            <a:r>
              <a:rPr lang="en-US" sz="3200" dirty="0">
                <a:latin typeface="Bookman Old Style" panose="02050604050505020204" pitchFamily="18" charset="0"/>
              </a:rPr>
              <a:t>? </a:t>
            </a:r>
            <a:endParaRPr lang="en-PH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1B00B-CE67-B363-C354-B87D1A562E15}"/>
              </a:ext>
            </a:extLst>
          </p:cNvPr>
          <p:cNvSpPr txBox="1"/>
          <p:nvPr/>
        </p:nvSpPr>
        <p:spPr>
          <a:xfrm>
            <a:off x="664564" y="3277743"/>
            <a:ext cx="11527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A. </a:t>
            </a:r>
            <a:r>
              <a:rPr 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Pagtaas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ng </a:t>
            </a:r>
            <a:r>
              <a:rPr 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interes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teknolohiya</a:t>
            </a:r>
            <a:endParaRPr lang="en-PH" sz="2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93E1DA-A0F2-BB76-3F13-AEBE5DA52077}"/>
              </a:ext>
            </a:extLst>
          </p:cNvPr>
          <p:cNvSpPr txBox="1"/>
          <p:nvPr/>
        </p:nvSpPr>
        <p:spPr>
          <a:xfrm>
            <a:off x="733684" y="4030277"/>
            <a:ext cx="11527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B.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Pagbasa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ng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kalidad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ng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lakas-paggawa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sa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hinaharap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</a:t>
            </a:r>
            <a:endParaRPr lang="en-PH" sz="26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B662FA-FFFB-8662-55D6-0A9A76458E09}"/>
              </a:ext>
            </a:extLst>
          </p:cNvPr>
          <p:cNvSpPr txBox="1"/>
          <p:nvPr/>
        </p:nvSpPr>
        <p:spPr>
          <a:xfrm>
            <a:off x="664564" y="4739680"/>
            <a:ext cx="11527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dirty="0">
                <a:latin typeface="+mj-lt"/>
                <a:ea typeface="+mj-ea"/>
                <a:cs typeface="+mj-cs"/>
              </a:rPr>
              <a:t>C. </a:t>
            </a:r>
            <a:r>
              <a:rPr lang="en-US" sz="3200" dirty="0" err="1">
                <a:latin typeface="+mj-lt"/>
                <a:ea typeface="+mj-ea"/>
                <a:cs typeface="+mj-cs"/>
              </a:rPr>
              <a:t>Pagdami</a:t>
            </a:r>
            <a:r>
              <a:rPr lang="en-US" sz="3200" dirty="0">
                <a:latin typeface="+mj-lt"/>
                <a:ea typeface="+mj-ea"/>
                <a:cs typeface="+mj-cs"/>
              </a:rPr>
              <a:t> ng </a:t>
            </a:r>
            <a:r>
              <a:rPr lang="en-US" sz="3200" dirty="0" err="1">
                <a:latin typeface="+mj-lt"/>
                <a:ea typeface="+mj-ea"/>
                <a:cs typeface="+mj-cs"/>
              </a:rPr>
              <a:t>pampalakasan</a:t>
            </a:r>
            <a:r>
              <a:rPr 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sz="3200" dirty="0" err="1">
                <a:latin typeface="+mj-lt"/>
                <a:ea typeface="+mj-ea"/>
                <a:cs typeface="+mj-cs"/>
              </a:rPr>
              <a:t>na</a:t>
            </a:r>
            <a:r>
              <a:rPr 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sz="3200" dirty="0" err="1">
                <a:latin typeface="+mj-lt"/>
                <a:ea typeface="+mj-ea"/>
                <a:cs typeface="+mj-cs"/>
              </a:rPr>
              <a:t>programa</a:t>
            </a:r>
            <a:endParaRPr lang="en-PH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95CEAB-569E-C5B0-94B3-5A12095007F4}"/>
              </a:ext>
            </a:extLst>
          </p:cNvPr>
          <p:cNvSpPr txBox="1"/>
          <p:nvPr/>
        </p:nvSpPr>
        <p:spPr>
          <a:xfrm>
            <a:off x="664564" y="5492214"/>
            <a:ext cx="11527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D.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Paglakas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ng turismo </a:t>
            </a:r>
            <a:endParaRPr lang="en-PH" sz="2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52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E1196-2BD7-B3E3-5A3E-46610D416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BDEF39-906F-E889-63AE-26D9EF500010}"/>
              </a:ext>
            </a:extLst>
          </p:cNvPr>
          <p:cNvSpPr txBox="1"/>
          <p:nvPr/>
        </p:nvSpPr>
        <p:spPr>
          <a:xfrm>
            <a:off x="664564" y="2844225"/>
            <a:ext cx="11527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B.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Pagbasa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ng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kalidad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ng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lakas-paggawa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sa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hinaharap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</a:t>
            </a:r>
            <a:endParaRPr lang="en-PH" sz="2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31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C80EA-D80A-29CB-2348-36FD9873C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304457-D572-2FAF-3B5E-0E5F9A5F3307}"/>
              </a:ext>
            </a:extLst>
          </p:cNvPr>
          <p:cNvSpPr txBox="1"/>
          <p:nvPr/>
        </p:nvSpPr>
        <p:spPr>
          <a:xfrm>
            <a:off x="555884" y="933380"/>
            <a:ext cx="11080229" cy="1077218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Bookman Old Style" panose="02050604050505020204" pitchFamily="18" charset="0"/>
              </a:rPr>
              <a:t>24. Alin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sumusunod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konklusyon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pinakaangkop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batay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impormasyon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artikulo</a:t>
            </a:r>
            <a:r>
              <a:rPr lang="en-US" sz="3200" dirty="0">
                <a:latin typeface="Bookman Old Style" panose="02050604050505020204" pitchFamily="18" charset="0"/>
              </a:rPr>
              <a:t>? </a:t>
            </a:r>
            <a:endParaRPr lang="en-PH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D8A-C4EA-1042-BBAC-6EDD57AF80D6}"/>
              </a:ext>
            </a:extLst>
          </p:cNvPr>
          <p:cNvSpPr txBox="1"/>
          <p:nvPr/>
        </p:nvSpPr>
        <p:spPr>
          <a:xfrm>
            <a:off x="496617" y="2636292"/>
            <a:ext cx="11527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A. Hindi </a:t>
            </a:r>
            <a:r>
              <a:rPr 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kailanga</a:t>
            </a:r>
            <a:r>
              <a:rPr lang="en-US" sz="3200" dirty="0" err="1">
                <a:latin typeface="+mj-lt"/>
                <a:ea typeface="+mj-ea"/>
                <a:cs typeface="+mj-cs"/>
              </a:rPr>
              <a:t>ng</a:t>
            </a:r>
            <a:r>
              <a:rPr lang="en-US" sz="3200" dirty="0">
                <a:latin typeface="+mj-lt"/>
                <a:ea typeface="+mj-ea"/>
                <a:cs typeface="+mj-cs"/>
              </a:rPr>
              <a:t> ang </a:t>
            </a:r>
            <a:r>
              <a:rPr lang="en-US" sz="3200" dirty="0" err="1">
                <a:latin typeface="+mj-lt"/>
                <a:ea typeface="+mj-ea"/>
                <a:cs typeface="+mj-cs"/>
              </a:rPr>
              <a:t>mga</a:t>
            </a:r>
            <a:r>
              <a:rPr 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sz="3200" dirty="0" err="1">
                <a:latin typeface="+mj-lt"/>
                <a:ea typeface="+mj-ea"/>
                <a:cs typeface="+mj-cs"/>
              </a:rPr>
              <a:t>programang</a:t>
            </a:r>
            <a:r>
              <a:rPr 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sz="3200" dirty="0" err="1">
                <a:latin typeface="+mj-lt"/>
                <a:ea typeface="+mj-ea"/>
                <a:cs typeface="+mj-cs"/>
              </a:rPr>
              <a:t>pagbasa</a:t>
            </a:r>
            <a:endParaRPr lang="en-PH" sz="2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927AF9-484E-BBCE-33AE-3CC43410E9B4}"/>
              </a:ext>
            </a:extLst>
          </p:cNvPr>
          <p:cNvSpPr txBox="1"/>
          <p:nvPr/>
        </p:nvSpPr>
        <p:spPr>
          <a:xfrm>
            <a:off x="496617" y="3488408"/>
            <a:ext cx="1152743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600" dirty="0">
                <a:latin typeface="Aptos" panose="020B0004020202020204" pitchFamily="34" charset="0"/>
              </a:rPr>
              <a:t>B. </a:t>
            </a:r>
            <a:r>
              <a:rPr lang="en-PH" sz="2600" dirty="0" err="1">
                <a:latin typeface="Aptos" panose="020B0004020202020204" pitchFamily="34" charset="0"/>
              </a:rPr>
              <a:t>Sapat</a:t>
            </a:r>
            <a:r>
              <a:rPr lang="en-PH" sz="2600" dirty="0">
                <a:latin typeface="Aptos" panose="020B0004020202020204" pitchFamily="34" charset="0"/>
              </a:rPr>
              <a:t> </a:t>
            </a:r>
            <a:r>
              <a:rPr lang="en-PH" sz="2600" dirty="0" err="1">
                <a:latin typeface="Aptos" panose="020B0004020202020204" pitchFamily="34" charset="0"/>
              </a:rPr>
              <a:t>na</a:t>
            </a:r>
            <a:r>
              <a:rPr lang="en-PH" sz="2600" dirty="0">
                <a:latin typeface="Aptos" panose="020B0004020202020204" pitchFamily="34" charset="0"/>
              </a:rPr>
              <a:t> ang </a:t>
            </a:r>
            <a:r>
              <a:rPr lang="en-PH" sz="2600" dirty="0" err="1">
                <a:latin typeface="Aptos" panose="020B0004020202020204" pitchFamily="34" charset="0"/>
              </a:rPr>
              <a:t>kasalukuyang</a:t>
            </a:r>
            <a:r>
              <a:rPr lang="en-PH" sz="2600" dirty="0">
                <a:latin typeface="Aptos" panose="020B0004020202020204" pitchFamily="34" charset="0"/>
              </a:rPr>
              <a:t> </a:t>
            </a:r>
            <a:r>
              <a:rPr lang="en-PH" sz="2600" dirty="0" err="1">
                <a:latin typeface="Aptos" panose="020B0004020202020204" pitchFamily="34" charset="0"/>
              </a:rPr>
              <a:t>kalagayan</a:t>
            </a:r>
            <a:r>
              <a:rPr lang="en-PH" sz="2600" dirty="0">
                <a:latin typeface="Aptos" panose="020B0004020202020204" pitchFamily="34" charset="0"/>
              </a:rPr>
              <a:t> ng </a:t>
            </a:r>
            <a:r>
              <a:rPr lang="en-PH" sz="2600" dirty="0" err="1">
                <a:latin typeface="Aptos" panose="020B0004020202020204" pitchFamily="34" charset="0"/>
              </a:rPr>
              <a:t>edukasyon</a:t>
            </a:r>
            <a:r>
              <a:rPr lang="en-PH" sz="2600" dirty="0">
                <a:latin typeface="Aptos" panose="020B0004020202020204" pitchFamily="34" charset="0"/>
              </a:rPr>
              <a:t> </a:t>
            </a:r>
            <a:r>
              <a:rPr lang="en-PH" sz="2600" dirty="0" err="1">
                <a:latin typeface="Aptos" panose="020B0004020202020204" pitchFamily="34" charset="0"/>
              </a:rPr>
              <a:t>sa</a:t>
            </a:r>
            <a:r>
              <a:rPr lang="en-PH" sz="2600" dirty="0">
                <a:latin typeface="Aptos" panose="020B0004020202020204" pitchFamily="34" charset="0"/>
              </a:rPr>
              <a:t> Pilipinas.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12E807-AF40-79A7-7637-4874F6236D4F}"/>
              </a:ext>
            </a:extLst>
          </p:cNvPr>
          <p:cNvSpPr txBox="1"/>
          <p:nvPr/>
        </p:nvSpPr>
        <p:spPr>
          <a:xfrm>
            <a:off x="437350" y="4315926"/>
            <a:ext cx="115274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dirty="0">
                <a:latin typeface="+mj-lt"/>
                <a:ea typeface="+mj-ea"/>
                <a:cs typeface="+mj-cs"/>
              </a:rPr>
              <a:t>C. Ang </a:t>
            </a:r>
            <a:r>
              <a:rPr lang="en-US" sz="2800" dirty="0" err="1">
                <a:latin typeface="+mj-lt"/>
                <a:ea typeface="+mj-ea"/>
                <a:cs typeface="+mj-cs"/>
              </a:rPr>
              <a:t>kakulangan</a:t>
            </a:r>
            <a:r>
              <a:rPr lang="en-US" sz="2800" dirty="0">
                <a:latin typeface="+mj-lt"/>
                <a:ea typeface="+mj-ea"/>
                <a:cs typeface="+mj-cs"/>
              </a:rPr>
              <a:t> </a:t>
            </a:r>
            <a:r>
              <a:rPr lang="en-US" sz="2800" dirty="0" err="1">
                <a:latin typeface="+mj-lt"/>
                <a:ea typeface="+mj-ea"/>
                <a:cs typeface="+mj-cs"/>
              </a:rPr>
              <a:t>sa</a:t>
            </a:r>
            <a:r>
              <a:rPr lang="en-US" sz="2800" dirty="0">
                <a:latin typeface="+mj-lt"/>
                <a:ea typeface="+mj-ea"/>
                <a:cs typeface="+mj-cs"/>
              </a:rPr>
              <a:t> </a:t>
            </a:r>
            <a:r>
              <a:rPr lang="en-US" sz="2800" dirty="0" err="1">
                <a:latin typeface="+mj-lt"/>
                <a:ea typeface="+mj-ea"/>
                <a:cs typeface="+mj-cs"/>
              </a:rPr>
              <a:t>pagbasa</a:t>
            </a:r>
            <a:r>
              <a:rPr lang="en-US" sz="2800" dirty="0">
                <a:latin typeface="+mj-lt"/>
                <a:ea typeface="+mj-ea"/>
                <a:cs typeface="+mj-cs"/>
              </a:rPr>
              <a:t> ay may </a:t>
            </a:r>
            <a:r>
              <a:rPr lang="en-US" sz="2800" dirty="0" err="1">
                <a:latin typeface="+mj-lt"/>
                <a:ea typeface="+mj-ea"/>
                <a:cs typeface="+mj-cs"/>
              </a:rPr>
              <a:t>ugnayan</a:t>
            </a:r>
            <a:r>
              <a:rPr lang="en-US" sz="2800" dirty="0">
                <a:latin typeface="+mj-lt"/>
                <a:ea typeface="+mj-ea"/>
                <a:cs typeface="+mj-cs"/>
              </a:rPr>
              <a:t> </a:t>
            </a:r>
            <a:r>
              <a:rPr lang="en-US" sz="2800" dirty="0" err="1">
                <a:latin typeface="+mj-lt"/>
                <a:ea typeface="+mj-ea"/>
                <a:cs typeface="+mj-cs"/>
              </a:rPr>
              <a:t>sa</a:t>
            </a:r>
            <a:r>
              <a:rPr lang="en-US" sz="2800" dirty="0">
                <a:latin typeface="+mj-lt"/>
                <a:ea typeface="+mj-ea"/>
                <a:cs typeface="+mj-cs"/>
              </a:rPr>
              <a:t> </a:t>
            </a:r>
            <a:r>
              <a:rPr lang="en-US" sz="2800" dirty="0" err="1">
                <a:latin typeface="+mj-lt"/>
                <a:ea typeface="+mj-ea"/>
                <a:cs typeface="+mj-cs"/>
              </a:rPr>
              <a:t>mga</a:t>
            </a:r>
            <a:r>
              <a:rPr lang="en-US" sz="2800" dirty="0">
                <a:latin typeface="+mj-lt"/>
                <a:ea typeface="+mj-ea"/>
                <a:cs typeface="+mj-cs"/>
              </a:rPr>
              <a:t> </a:t>
            </a:r>
            <a:r>
              <a:rPr lang="en-US" sz="2800" dirty="0" err="1">
                <a:latin typeface="+mj-lt"/>
                <a:ea typeface="+mj-ea"/>
                <a:cs typeface="+mj-cs"/>
              </a:rPr>
              <a:t>salik</a:t>
            </a:r>
            <a:r>
              <a:rPr lang="en-US" sz="2800" dirty="0">
                <a:latin typeface="+mj-lt"/>
                <a:ea typeface="+mj-ea"/>
                <a:cs typeface="+mj-cs"/>
              </a:rPr>
              <a:t> </a:t>
            </a:r>
            <a:r>
              <a:rPr lang="en-US" sz="2800" dirty="0" err="1">
                <a:latin typeface="+mj-lt"/>
                <a:ea typeface="+mj-ea"/>
                <a:cs typeface="+mj-cs"/>
              </a:rPr>
              <a:t>na</a:t>
            </a:r>
            <a:r>
              <a:rPr lang="en-US" sz="2800" dirty="0">
                <a:latin typeface="+mj-lt"/>
                <a:ea typeface="+mj-ea"/>
                <a:cs typeface="+mj-cs"/>
              </a:rPr>
              <a:t> </a:t>
            </a:r>
            <a:r>
              <a:rPr lang="en-US" sz="2800" dirty="0" err="1">
                <a:latin typeface="+mj-lt"/>
                <a:ea typeface="+mj-ea"/>
                <a:cs typeface="+mj-cs"/>
              </a:rPr>
              <a:t>panlipunan</a:t>
            </a:r>
            <a:r>
              <a:rPr lang="en-US" sz="2800" dirty="0">
                <a:latin typeface="+mj-lt"/>
                <a:ea typeface="+mj-ea"/>
                <a:cs typeface="+mj-cs"/>
              </a:rPr>
              <a:t> at pang-</a:t>
            </a:r>
            <a:r>
              <a:rPr lang="en-US" sz="2800" dirty="0" err="1">
                <a:latin typeface="+mj-lt"/>
                <a:ea typeface="+mj-ea"/>
                <a:cs typeface="+mj-cs"/>
              </a:rPr>
              <a:t>ekonomiya</a:t>
            </a:r>
            <a:endParaRPr lang="en-PH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0F4521-06F2-2F60-CAE9-BB958B1A4CB8}"/>
              </a:ext>
            </a:extLst>
          </p:cNvPr>
          <p:cNvSpPr txBox="1"/>
          <p:nvPr/>
        </p:nvSpPr>
        <p:spPr>
          <a:xfrm>
            <a:off x="496617" y="5486073"/>
            <a:ext cx="11527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D. Walang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epekto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ang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pagbasa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sa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tagumpay</a:t>
            </a:r>
            <a:r>
              <a:rPr lang="en-US" sz="3200" dirty="0">
                <a:latin typeface="Aptos" panose="020B0004020202020204" pitchFamily="34" charset="0"/>
                <a:ea typeface="+mj-ea"/>
                <a:cs typeface="+mj-cs"/>
              </a:rPr>
              <a:t> ng mag-</a:t>
            </a:r>
            <a:r>
              <a:rPr lang="en-US" sz="3200" dirty="0" err="1">
                <a:latin typeface="Aptos" panose="020B0004020202020204" pitchFamily="34" charset="0"/>
                <a:ea typeface="+mj-ea"/>
                <a:cs typeface="+mj-cs"/>
              </a:rPr>
              <a:t>aaral</a:t>
            </a:r>
            <a:endParaRPr lang="en-PH" sz="2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664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9F444-176E-69C5-58B1-D07F245A8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90398A-9416-1B48-5E75-5DBBBA233C7C}"/>
              </a:ext>
            </a:extLst>
          </p:cNvPr>
          <p:cNvSpPr txBox="1"/>
          <p:nvPr/>
        </p:nvSpPr>
        <p:spPr>
          <a:xfrm>
            <a:off x="332282" y="2475425"/>
            <a:ext cx="115274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dirty="0">
                <a:latin typeface="+mj-lt"/>
                <a:ea typeface="+mj-ea"/>
                <a:cs typeface="+mj-cs"/>
              </a:rPr>
              <a:t>C. Ang </a:t>
            </a:r>
            <a:r>
              <a:rPr lang="en-US" sz="3200" dirty="0" err="1">
                <a:latin typeface="+mj-lt"/>
                <a:ea typeface="+mj-ea"/>
                <a:cs typeface="+mj-cs"/>
              </a:rPr>
              <a:t>kakulangan</a:t>
            </a:r>
            <a:r>
              <a:rPr 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sz="3200" dirty="0" err="1">
                <a:latin typeface="+mj-lt"/>
                <a:ea typeface="+mj-ea"/>
                <a:cs typeface="+mj-cs"/>
              </a:rPr>
              <a:t>sa</a:t>
            </a:r>
            <a:r>
              <a:rPr 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sz="3200" dirty="0" err="1">
                <a:latin typeface="+mj-lt"/>
                <a:ea typeface="+mj-ea"/>
                <a:cs typeface="+mj-cs"/>
              </a:rPr>
              <a:t>pagbasa</a:t>
            </a:r>
            <a:r>
              <a:rPr lang="en-US" sz="3200" dirty="0">
                <a:latin typeface="+mj-lt"/>
                <a:ea typeface="+mj-ea"/>
                <a:cs typeface="+mj-cs"/>
              </a:rPr>
              <a:t> ay may </a:t>
            </a:r>
            <a:r>
              <a:rPr lang="en-US" sz="3200" dirty="0" err="1">
                <a:latin typeface="+mj-lt"/>
                <a:ea typeface="+mj-ea"/>
                <a:cs typeface="+mj-cs"/>
              </a:rPr>
              <a:t>ugnayan</a:t>
            </a:r>
            <a:r>
              <a:rPr 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sz="3200" dirty="0" err="1">
                <a:latin typeface="+mj-lt"/>
                <a:ea typeface="+mj-ea"/>
                <a:cs typeface="+mj-cs"/>
              </a:rPr>
              <a:t>sa</a:t>
            </a:r>
            <a:r>
              <a:rPr 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sz="3200" dirty="0" err="1">
                <a:latin typeface="+mj-lt"/>
                <a:ea typeface="+mj-ea"/>
                <a:cs typeface="+mj-cs"/>
              </a:rPr>
              <a:t>mga</a:t>
            </a:r>
            <a:r>
              <a:rPr 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sz="3200" dirty="0" err="1">
                <a:latin typeface="+mj-lt"/>
                <a:ea typeface="+mj-ea"/>
                <a:cs typeface="+mj-cs"/>
              </a:rPr>
              <a:t>salik</a:t>
            </a:r>
            <a:r>
              <a:rPr 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sz="3200" dirty="0" err="1">
                <a:latin typeface="+mj-lt"/>
                <a:ea typeface="+mj-ea"/>
                <a:cs typeface="+mj-cs"/>
              </a:rPr>
              <a:t>na</a:t>
            </a:r>
            <a:r>
              <a:rPr 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sz="3200" dirty="0" err="1">
                <a:latin typeface="+mj-lt"/>
                <a:ea typeface="+mj-ea"/>
                <a:cs typeface="+mj-cs"/>
              </a:rPr>
              <a:t>panlipunan</a:t>
            </a:r>
            <a:r>
              <a:rPr lang="en-US" sz="3200" dirty="0">
                <a:latin typeface="+mj-lt"/>
                <a:ea typeface="+mj-ea"/>
                <a:cs typeface="+mj-cs"/>
              </a:rPr>
              <a:t> at pang-</a:t>
            </a:r>
            <a:r>
              <a:rPr lang="en-US" sz="3200" dirty="0" err="1">
                <a:latin typeface="+mj-lt"/>
                <a:ea typeface="+mj-ea"/>
                <a:cs typeface="+mj-cs"/>
              </a:rPr>
              <a:t>ekonomiya</a:t>
            </a:r>
            <a:endParaRPr lang="en-PH" sz="2600" dirty="0"/>
          </a:p>
        </p:txBody>
      </p:sp>
    </p:spTree>
    <p:extLst>
      <p:ext uri="{BB962C8B-B14F-4D97-AF65-F5344CB8AC3E}">
        <p14:creationId xmlns:p14="http://schemas.microsoft.com/office/powerpoint/2010/main" val="160200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969A8-8367-1722-DE74-4105831C7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87C2F3-1FEC-6C3A-53B3-446F797CCC9C}"/>
              </a:ext>
            </a:extLst>
          </p:cNvPr>
          <p:cNvSpPr txBox="1"/>
          <p:nvPr/>
        </p:nvSpPr>
        <p:spPr>
          <a:xfrm>
            <a:off x="555884" y="933380"/>
            <a:ext cx="11080229" cy="1569660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Bookman Old Style" panose="02050604050505020204" pitchFamily="18" charset="0"/>
              </a:rPr>
              <a:t>25. Ang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panandang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diskurso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pagkatapos</a:t>
            </a:r>
            <a:r>
              <a:rPr lang="en-US" sz="3200" dirty="0">
                <a:latin typeface="Bookman Old Style" panose="02050604050505020204" pitchFamily="18" charset="0"/>
              </a:rPr>
              <a:t>, </a:t>
            </a:r>
            <a:r>
              <a:rPr lang="en-US" sz="3200" dirty="0" err="1">
                <a:latin typeface="Bookman Old Style" panose="02050604050505020204" pitchFamily="18" charset="0"/>
              </a:rPr>
              <a:t>matapos</a:t>
            </a:r>
            <a:r>
              <a:rPr lang="en-US" sz="3200" dirty="0">
                <a:latin typeface="Bookman Old Style" panose="02050604050505020204" pitchFamily="18" charset="0"/>
              </a:rPr>
              <a:t>, at </a:t>
            </a:r>
            <a:r>
              <a:rPr lang="en-US" sz="3200" dirty="0" err="1">
                <a:latin typeface="Bookman Old Style" panose="02050604050505020204" pitchFamily="18" charset="0"/>
              </a:rPr>
              <a:t>kadalasan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seleksyong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binasa</a:t>
            </a:r>
            <a:r>
              <a:rPr lang="en-US" sz="3200" dirty="0">
                <a:latin typeface="Bookman Old Style" panose="02050604050505020204" pitchFamily="18" charset="0"/>
              </a:rPr>
              <a:t> ay </a:t>
            </a:r>
            <a:r>
              <a:rPr lang="en-US" sz="3200" dirty="0" err="1">
                <a:latin typeface="Bookman Old Style" panose="02050604050505020204" pitchFamily="18" charset="0"/>
              </a:rPr>
              <a:t>nagpapakilala</a:t>
            </a:r>
            <a:r>
              <a:rPr lang="en-US" sz="3200" dirty="0">
                <a:latin typeface="Bookman Old Style" panose="02050604050505020204" pitchFamily="18" charset="0"/>
              </a:rPr>
              <a:t> ng ______________.</a:t>
            </a:r>
            <a:endParaRPr lang="en-PH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17A17-3A28-520E-6A5B-597326F8505A}"/>
              </a:ext>
            </a:extLst>
          </p:cNvPr>
          <p:cNvSpPr txBox="1"/>
          <p:nvPr/>
        </p:nvSpPr>
        <p:spPr>
          <a:xfrm>
            <a:off x="664564" y="3073543"/>
            <a:ext cx="11527436" cy="2973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tx1"/>
                </a:solidFill>
              </a:rPr>
              <a:t>A.</a:t>
            </a:r>
            <a:r>
              <a:rPr lang="en-US" sz="3200" dirty="0"/>
              <a:t> </a:t>
            </a:r>
            <a:r>
              <a:rPr lang="en-US" sz="3200" dirty="0" err="1"/>
              <a:t>sani</a:t>
            </a:r>
            <a:r>
              <a:rPr lang="en-US" sz="3200" dirty="0"/>
              <a:t> at </a:t>
            </a:r>
            <a:r>
              <a:rPr lang="en-US" sz="3200" dirty="0" err="1"/>
              <a:t>bunga</a:t>
            </a:r>
            <a:br>
              <a:rPr lang="en-US" sz="3200" kern="1200" dirty="0">
                <a:solidFill>
                  <a:schemeClr val="tx1"/>
                </a:solidFill>
              </a:rPr>
            </a:br>
            <a:r>
              <a:rPr lang="en-US" sz="3200" kern="1200" dirty="0">
                <a:solidFill>
                  <a:schemeClr val="tx1"/>
                </a:solidFill>
              </a:rPr>
              <a:t> B. </a:t>
            </a:r>
            <a:r>
              <a:rPr lang="en-US" sz="3200" kern="1200" dirty="0" err="1">
                <a:solidFill>
                  <a:schemeClr val="tx1"/>
                </a:solidFill>
              </a:rPr>
              <a:t>pag</a:t>
            </a:r>
            <a:r>
              <a:rPr lang="en-US" sz="3200" kern="1200" dirty="0">
                <a:solidFill>
                  <a:schemeClr val="tx1"/>
                </a:solidFill>
              </a:rPr>
              <a:t>-</a:t>
            </a:r>
            <a:r>
              <a:rPr lang="en-US" sz="3200" kern="1200" dirty="0" err="1">
                <a:solidFill>
                  <a:schemeClr val="tx1"/>
                </a:solidFill>
              </a:rPr>
              <a:t>iisa</a:t>
            </a:r>
            <a:r>
              <a:rPr lang="en-US" sz="3200" dirty="0"/>
              <a:t>-isa ng </a:t>
            </a:r>
            <a:r>
              <a:rPr lang="en-US" sz="3200" dirty="0" err="1"/>
              <a:t>detalye</a:t>
            </a:r>
            <a:br>
              <a:rPr lang="en-US" sz="3200" kern="1200" dirty="0">
                <a:solidFill>
                  <a:schemeClr val="tx1"/>
                </a:solidFill>
              </a:rPr>
            </a:br>
            <a:r>
              <a:rPr lang="en-US" sz="3200" kern="1200" dirty="0">
                <a:solidFill>
                  <a:schemeClr val="tx1"/>
                </a:solidFill>
              </a:rPr>
              <a:t> C</a:t>
            </a:r>
            <a:r>
              <a:rPr lang="en-US" sz="3200" dirty="0"/>
              <a:t>. </a:t>
            </a:r>
            <a:r>
              <a:rPr lang="en-US" sz="3200" dirty="0" err="1"/>
              <a:t>pagkakapareho</a:t>
            </a:r>
            <a:r>
              <a:rPr lang="en-US" sz="3200" dirty="0"/>
              <a:t> at </a:t>
            </a:r>
            <a:r>
              <a:rPr lang="en-US" sz="3200" dirty="0" err="1"/>
              <a:t>paghahambing</a:t>
            </a:r>
            <a:r>
              <a:rPr lang="en-US" sz="3200" kern="1200" dirty="0">
                <a:solidFill>
                  <a:schemeClr val="tx1"/>
                </a:solidFill>
              </a:rPr>
              <a:t> </a:t>
            </a:r>
            <a:br>
              <a:rPr lang="en-US" sz="3200" kern="1200" dirty="0">
                <a:solidFill>
                  <a:schemeClr val="tx1"/>
                </a:solidFill>
              </a:rPr>
            </a:br>
            <a:r>
              <a:rPr lang="en-US" sz="3200" kern="1200" dirty="0">
                <a:solidFill>
                  <a:schemeClr val="tx1"/>
                </a:solidFill>
              </a:rPr>
              <a:t> D. </a:t>
            </a:r>
            <a:r>
              <a:rPr lang="en-US" sz="3200" kern="1200" dirty="0" err="1">
                <a:solidFill>
                  <a:schemeClr val="tx1"/>
                </a:solidFill>
              </a:rPr>
              <a:t>panahon</a:t>
            </a:r>
            <a:r>
              <a:rPr lang="en-US" sz="3200" kern="1200" dirty="0">
                <a:solidFill>
                  <a:schemeClr val="tx1"/>
                </a:solidFill>
              </a:rPr>
              <a:t> at </a:t>
            </a:r>
            <a:r>
              <a:rPr lang="en-US" sz="3200" kern="1200" dirty="0" err="1">
                <a:solidFill>
                  <a:schemeClr val="tx1"/>
                </a:solidFill>
              </a:rPr>
              <a:t>pagkakasunod-sunod</a:t>
            </a:r>
            <a:endParaRPr lang="en-PH" sz="2600" dirty="0"/>
          </a:p>
        </p:txBody>
      </p:sp>
    </p:spTree>
    <p:extLst>
      <p:ext uri="{BB962C8B-B14F-4D97-AF65-F5344CB8AC3E}">
        <p14:creationId xmlns:p14="http://schemas.microsoft.com/office/powerpoint/2010/main" val="311790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16C3C-9845-FA0E-1876-21BCCC970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302B4F-D7B0-2D8F-63A2-D9D60336EF14}"/>
              </a:ext>
            </a:extLst>
          </p:cNvPr>
          <p:cNvSpPr txBox="1"/>
          <p:nvPr/>
        </p:nvSpPr>
        <p:spPr>
          <a:xfrm>
            <a:off x="889417" y="2828835"/>
            <a:ext cx="11302583" cy="707886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sz="4000" dirty="0">
                <a:latin typeface="Bookman Old Style" panose="02050604050505020204" pitchFamily="18" charset="0"/>
              </a:rPr>
              <a:t> D. </a:t>
            </a:r>
            <a:r>
              <a:rPr lang="en-US" sz="4000" dirty="0" err="1">
                <a:latin typeface="Bookman Old Style" panose="02050604050505020204" pitchFamily="18" charset="0"/>
              </a:rPr>
              <a:t>panahon</a:t>
            </a:r>
            <a:r>
              <a:rPr lang="en-US" sz="4000" dirty="0">
                <a:latin typeface="Bookman Old Style" panose="02050604050505020204" pitchFamily="18" charset="0"/>
              </a:rPr>
              <a:t> at </a:t>
            </a:r>
            <a:r>
              <a:rPr lang="en-US" sz="4000" dirty="0" err="1">
                <a:latin typeface="Bookman Old Style" panose="02050604050505020204" pitchFamily="18" charset="0"/>
              </a:rPr>
              <a:t>pagkasunod-sunod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2151176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2CF13-AA95-493C-3FB9-83F35B2B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6721F6-AEAE-1EBE-2222-E64056B5CF7D}"/>
              </a:ext>
            </a:extLst>
          </p:cNvPr>
          <p:cNvSpPr txBox="1"/>
          <p:nvPr/>
        </p:nvSpPr>
        <p:spPr>
          <a:xfrm>
            <a:off x="555885" y="433919"/>
            <a:ext cx="11080229" cy="2554545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Bookman Old Style" panose="02050604050505020204" pitchFamily="18" charset="0"/>
              </a:rPr>
              <a:t>26. Ang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pahayag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“Magandang </a:t>
            </a:r>
            <a:r>
              <a:rPr lang="en-US" sz="3200" dirty="0" err="1">
                <a:latin typeface="Bookman Old Style" panose="02050604050505020204" pitchFamily="18" charset="0"/>
              </a:rPr>
              <a:t>umaga</a:t>
            </a:r>
            <a:r>
              <a:rPr lang="en-US" sz="3200" dirty="0">
                <a:latin typeface="Bookman Old Style" panose="02050604050505020204" pitchFamily="18" charset="0"/>
              </a:rPr>
              <a:t>” at “Hello” ay </a:t>
            </a:r>
            <a:r>
              <a:rPr lang="en-US" sz="3200" dirty="0" err="1">
                <a:latin typeface="Bookman Old Style" panose="02050604050505020204" pitchFamily="18" charset="0"/>
              </a:rPr>
              <a:t>maituturing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INTERAKSYONAL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gamit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wika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ayon</a:t>
            </a:r>
            <a:r>
              <a:rPr lang="en-US" sz="3200" dirty="0">
                <a:latin typeface="Bookman Old Style" panose="02050604050505020204" pitchFamily="18" charset="0"/>
              </a:rPr>
              <a:t> kay Halliday. </a:t>
            </a:r>
            <a:r>
              <a:rPr lang="en-US" sz="3200" dirty="0" err="1">
                <a:latin typeface="Bookman Old Style" panose="02050604050505020204" pitchFamily="18" charset="0"/>
              </a:rPr>
              <a:t>Samantala</a:t>
            </a:r>
            <a:r>
              <a:rPr lang="en-US" sz="3200" dirty="0">
                <a:latin typeface="Bookman Old Style" panose="02050604050505020204" pitchFamily="18" charset="0"/>
              </a:rPr>
              <a:t>, ang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pahayag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nabanggit</a:t>
            </a:r>
            <a:r>
              <a:rPr lang="en-US" sz="3200" dirty="0">
                <a:latin typeface="Bookman Old Style" panose="02050604050505020204" pitchFamily="18" charset="0"/>
              </a:rPr>
              <a:t> ay </a:t>
            </a:r>
            <a:r>
              <a:rPr lang="en-US" sz="3200" dirty="0" err="1">
                <a:latin typeface="Bookman Old Style" panose="02050604050505020204" pitchFamily="18" charset="0"/>
              </a:rPr>
              <a:t>tinuturing</a:t>
            </a:r>
            <a:r>
              <a:rPr lang="en-US" sz="3200" dirty="0">
                <a:latin typeface="Bookman Old Style" panose="02050604050505020204" pitchFamily="18" charset="0"/>
              </a:rPr>
              <a:t> naman </a:t>
            </a:r>
            <a:r>
              <a:rPr lang="en-US" sz="3200" dirty="0" err="1">
                <a:latin typeface="Bookman Old Style" panose="02050604050505020204" pitchFamily="18" charset="0"/>
              </a:rPr>
              <a:t>ni</a:t>
            </a:r>
            <a:r>
              <a:rPr lang="en-US" sz="3200" dirty="0">
                <a:latin typeface="Bookman Old Style" panose="02050604050505020204" pitchFamily="18" charset="0"/>
              </a:rPr>
              <a:t> Jakobson </a:t>
            </a:r>
            <a:r>
              <a:rPr lang="en-US" sz="3200" dirty="0" err="1">
                <a:latin typeface="Bookman Old Style" panose="02050604050505020204" pitchFamily="18" charset="0"/>
              </a:rPr>
              <a:t>bilang</a:t>
            </a:r>
            <a:r>
              <a:rPr lang="en-US" sz="3200" dirty="0">
                <a:latin typeface="Bookman Old Style" panose="02050604050505020204" pitchFamily="18" charset="0"/>
              </a:rPr>
              <a:t> __________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gamit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wika</a:t>
            </a:r>
            <a:r>
              <a:rPr lang="en-US" sz="3200" dirty="0">
                <a:latin typeface="Bookman Old Style" panose="02050604050505020204" pitchFamily="18" charset="0"/>
              </a:rPr>
              <a:t>.</a:t>
            </a:r>
            <a:endParaRPr lang="en-PH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DF85F-9A9A-13A9-BB66-97C48785CC5E}"/>
              </a:ext>
            </a:extLst>
          </p:cNvPr>
          <p:cNvSpPr txBox="1"/>
          <p:nvPr/>
        </p:nvSpPr>
        <p:spPr>
          <a:xfrm>
            <a:off x="555884" y="3909722"/>
            <a:ext cx="1152743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A.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referensya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B. emotive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C</a:t>
            </a:r>
            <a:r>
              <a:rPr lang="en-US" sz="3200" dirty="0">
                <a:latin typeface="Bookman Old Style" panose="02050604050505020204" pitchFamily="18" charset="0"/>
              </a:rPr>
              <a:t>. phatic</a:t>
            </a: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sz="3200" dirty="0">
                <a:latin typeface="Bookman Old Style" panose="02050604050505020204" pitchFamily="18" charset="0"/>
              </a:rPr>
              <a:t>D. poetic </a:t>
            </a:r>
            <a:endParaRPr lang="en-PH" sz="2600" dirty="0"/>
          </a:p>
        </p:txBody>
      </p:sp>
    </p:spTree>
    <p:extLst>
      <p:ext uri="{BB962C8B-B14F-4D97-AF65-F5344CB8AC3E}">
        <p14:creationId xmlns:p14="http://schemas.microsoft.com/office/powerpoint/2010/main" val="241981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BBA78-1D2B-1D85-6892-21B56F97C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26350C-EC72-6238-ADAF-CAFB80CA1B55}"/>
              </a:ext>
            </a:extLst>
          </p:cNvPr>
          <p:cNvSpPr txBox="1"/>
          <p:nvPr/>
        </p:nvSpPr>
        <p:spPr>
          <a:xfrm>
            <a:off x="591900" y="2721114"/>
            <a:ext cx="11302583" cy="707886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sz="4000" dirty="0">
                <a:latin typeface="Bookman Old Style" panose="02050604050505020204" pitchFamily="18" charset="0"/>
              </a:rPr>
              <a:t> C. phatic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445971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78F9-61FF-DCBF-C0BE-85FD41073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3EA798-E9F0-6980-72C3-92A153015822}"/>
              </a:ext>
            </a:extLst>
          </p:cNvPr>
          <p:cNvSpPr txBox="1"/>
          <p:nvPr/>
        </p:nvSpPr>
        <p:spPr>
          <a:xfrm>
            <a:off x="555885" y="433919"/>
            <a:ext cx="11080229" cy="1077218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Bookman Old Style" panose="02050604050505020204" pitchFamily="18" charset="0"/>
              </a:rPr>
              <a:t>27. Alin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sumusunod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b="1" dirty="0">
                <a:latin typeface="Bookman Old Style" panose="02050604050505020204" pitchFamily="18" charset="0"/>
              </a:rPr>
              <a:t>HINDI </a:t>
            </a:r>
            <a:r>
              <a:rPr lang="en-US" sz="3200" dirty="0" err="1">
                <a:latin typeface="Bookman Old Style" panose="02050604050505020204" pitchFamily="18" charset="0"/>
              </a:rPr>
              <a:t>nagpapakita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pagiging</a:t>
            </a:r>
            <a:r>
              <a:rPr lang="en-US" sz="3200" dirty="0">
                <a:latin typeface="Bookman Old Style" panose="02050604050505020204" pitchFamily="18" charset="0"/>
              </a:rPr>
              <a:t> HEURISTIKO ng </a:t>
            </a:r>
            <a:r>
              <a:rPr lang="en-US" sz="3200" dirty="0" err="1">
                <a:latin typeface="Bookman Old Style" panose="02050604050505020204" pitchFamily="18" charset="0"/>
              </a:rPr>
              <a:t>wika</a:t>
            </a:r>
            <a:r>
              <a:rPr lang="en-US" sz="3200" dirty="0">
                <a:latin typeface="Bookman Old Style" panose="02050604050505020204" pitchFamily="18" charset="0"/>
              </a:rPr>
              <a:t>?</a:t>
            </a:r>
            <a:endParaRPr lang="en-PH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75883-6132-4085-1FE9-9F217CD9A89C}"/>
              </a:ext>
            </a:extLst>
          </p:cNvPr>
          <p:cNvSpPr txBox="1"/>
          <p:nvPr/>
        </p:nvSpPr>
        <p:spPr>
          <a:xfrm>
            <a:off x="332281" y="2397948"/>
            <a:ext cx="1152743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A.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Pagsasagawa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panayam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pamilya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biktima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i="1" dirty="0">
                <a:latin typeface="Bookman Old Style" panose="02050604050505020204" pitchFamily="18" charset="0"/>
              </a:rPr>
              <a:t>war on drugs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B. </a:t>
            </a:r>
            <a:r>
              <a:rPr lang="en-US" sz="3200" kern="12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P</a:t>
            </a:r>
            <a:r>
              <a:rPr lang="en-US" sz="3200" dirty="0" err="1">
                <a:latin typeface="Bookman Old Style" panose="02050604050505020204" pitchFamily="18" charset="0"/>
              </a:rPr>
              <a:t>agtatanong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ni</a:t>
            </a:r>
            <a:r>
              <a:rPr lang="en-US" sz="3200" dirty="0">
                <a:latin typeface="Bookman Old Style" panose="02050604050505020204" pitchFamily="18" charset="0"/>
              </a:rPr>
              <a:t> Phoebe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guro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Agham ng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impormasyon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ukol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i="1" dirty="0">
                <a:latin typeface="Bookman Old Style" panose="02050604050505020204" pitchFamily="18" charset="0"/>
              </a:rPr>
              <a:t>Coronavirus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C</a:t>
            </a:r>
            <a:r>
              <a:rPr lang="en-US" sz="3200" dirty="0">
                <a:latin typeface="Bookman Old Style" panose="02050604050505020204" pitchFamily="18" charset="0"/>
              </a:rPr>
              <a:t>. </a:t>
            </a:r>
            <a:r>
              <a:rPr lang="en-US" sz="3200" dirty="0" err="1">
                <a:latin typeface="Bookman Old Style" panose="02050604050505020204" pitchFamily="18" charset="0"/>
              </a:rPr>
              <a:t>Pakikipanayam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ni</a:t>
            </a:r>
            <a:r>
              <a:rPr lang="en-US" sz="3200" dirty="0">
                <a:latin typeface="Bookman Old Style" panose="02050604050505020204" pitchFamily="18" charset="0"/>
              </a:rPr>
              <a:t> Kit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guro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Filipino </a:t>
            </a:r>
            <a:r>
              <a:rPr lang="en-US" sz="3200" dirty="0" err="1">
                <a:latin typeface="Bookman Old Style" panose="02050604050505020204" pitchFamily="18" charset="0"/>
              </a:rPr>
              <a:t>ukol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kaniyang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pananaliksik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ugnayan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wika</a:t>
            </a:r>
            <a:r>
              <a:rPr lang="en-US" sz="3200" dirty="0">
                <a:latin typeface="Bookman Old Style" panose="02050604050505020204" pitchFamily="18" charset="0"/>
              </a:rPr>
              <a:t> at </a:t>
            </a:r>
            <a:r>
              <a:rPr lang="en-US" sz="3200" dirty="0" err="1">
                <a:latin typeface="Bookman Old Style" panose="02050604050505020204" pitchFamily="18" charset="0"/>
              </a:rPr>
              <a:t>kultura</a:t>
            </a: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sz="3200" dirty="0">
                <a:latin typeface="Bookman Old Style" panose="02050604050505020204" pitchFamily="18" charset="0"/>
              </a:rPr>
              <a:t>D. </a:t>
            </a:r>
            <a:r>
              <a:rPr lang="en-US" sz="3200" dirty="0" err="1">
                <a:latin typeface="Bookman Old Style" panose="02050604050505020204" pitchFamily="18" charset="0"/>
              </a:rPr>
              <a:t>Pagbabahagi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ni</a:t>
            </a:r>
            <a:r>
              <a:rPr lang="en-US" sz="3200" dirty="0">
                <a:latin typeface="Bookman Old Style" panose="02050604050505020204" pitchFamily="18" charset="0"/>
              </a:rPr>
              <a:t> Dr. Zeus ng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pag-aaral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ukol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tumitinding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paglabag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karapatang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pantao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Pilipinas</a:t>
            </a:r>
            <a:endParaRPr lang="en-PH" sz="2600" dirty="0"/>
          </a:p>
        </p:txBody>
      </p:sp>
    </p:spTree>
    <p:extLst>
      <p:ext uri="{BB962C8B-B14F-4D97-AF65-F5344CB8AC3E}">
        <p14:creationId xmlns:p14="http://schemas.microsoft.com/office/powerpoint/2010/main" val="276781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213A4-D289-8725-9A58-036E0960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29556B-88CD-2619-2128-4B9A5792EAA4}"/>
              </a:ext>
            </a:extLst>
          </p:cNvPr>
          <p:cNvSpPr txBox="1"/>
          <p:nvPr/>
        </p:nvSpPr>
        <p:spPr>
          <a:xfrm>
            <a:off x="591900" y="2721114"/>
            <a:ext cx="11302583" cy="1938992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sz="4000" dirty="0">
                <a:latin typeface="Bookman Old Style" panose="02050604050505020204" pitchFamily="18" charset="0"/>
              </a:rPr>
              <a:t>D. </a:t>
            </a:r>
            <a:r>
              <a:rPr lang="en-US" sz="4000" dirty="0" err="1">
                <a:latin typeface="Bookman Old Style" panose="02050604050505020204" pitchFamily="18" charset="0"/>
              </a:rPr>
              <a:t>Pagbabahagi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ni</a:t>
            </a:r>
            <a:r>
              <a:rPr lang="en-US" sz="4000" dirty="0">
                <a:latin typeface="Bookman Old Style" panose="02050604050505020204" pitchFamily="18" charset="0"/>
              </a:rPr>
              <a:t> Dr. Zeus ng </a:t>
            </a:r>
            <a:r>
              <a:rPr lang="en-US" sz="4000" dirty="0" err="1">
                <a:latin typeface="Bookman Old Style" panose="02050604050505020204" pitchFamily="18" charset="0"/>
              </a:rPr>
              <a:t>mga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pag-aaral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ukol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sa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tumitinding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paglabag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sa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karapatang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pantao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sa</a:t>
            </a:r>
            <a:r>
              <a:rPr lang="en-US" sz="4000" dirty="0">
                <a:latin typeface="Bookman Old Style" panose="02050604050505020204" pitchFamily="18" charset="0"/>
              </a:rPr>
              <a:t> Pilipinas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2175405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54365-5A3D-8B8E-F8C8-65F6D9DF8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CA81F3-686E-A18A-DB53-79977AD94C88}"/>
              </a:ext>
            </a:extLst>
          </p:cNvPr>
          <p:cNvSpPr txBox="1"/>
          <p:nvPr/>
        </p:nvSpPr>
        <p:spPr>
          <a:xfrm>
            <a:off x="555885" y="433919"/>
            <a:ext cx="11080229" cy="1569660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Bookman Old Style" panose="02050604050505020204" pitchFamily="18" charset="0"/>
              </a:rPr>
              <a:t>28. Ang </a:t>
            </a:r>
            <a:r>
              <a:rPr lang="en-US" sz="3200" dirty="0" err="1">
                <a:latin typeface="Bookman Old Style" panose="02050604050505020204" pitchFamily="18" charset="0"/>
              </a:rPr>
              <a:t>paglalahad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karanasan</a:t>
            </a:r>
            <a:r>
              <a:rPr lang="en-US" sz="3200" dirty="0">
                <a:latin typeface="Bookman Old Style" panose="02050604050505020204" pitchFamily="18" charset="0"/>
              </a:rPr>
              <a:t> ng comfort women ay </a:t>
            </a:r>
            <a:r>
              <a:rPr lang="en-US" sz="3200" dirty="0" err="1">
                <a:latin typeface="Bookman Old Style" panose="02050604050505020204" pitchFamily="18" charset="0"/>
              </a:rPr>
              <a:t>nagpapakita</a:t>
            </a:r>
            <a:r>
              <a:rPr lang="en-US" sz="3200" dirty="0">
                <a:latin typeface="Bookman Old Style" panose="02050604050505020204" pitchFamily="18" charset="0"/>
              </a:rPr>
              <a:t> ng PERSONAL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gamit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wika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dahil</a:t>
            </a:r>
            <a:r>
              <a:rPr lang="en-US" sz="3200" dirty="0">
                <a:latin typeface="Bookman Old Style" panose="02050604050505020204" pitchFamily="18" charset="0"/>
              </a:rPr>
              <a:t> ___________.</a:t>
            </a:r>
            <a:endParaRPr lang="en-PH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FAC855-B2E7-5BF4-FA0E-37A3CB06935D}"/>
              </a:ext>
            </a:extLst>
          </p:cNvPr>
          <p:cNvSpPr txBox="1"/>
          <p:nvPr/>
        </p:nvSpPr>
        <p:spPr>
          <a:xfrm>
            <a:off x="332281" y="2397948"/>
            <a:ext cx="115274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A.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Nagpapahayag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ito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pangyayari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gamit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maikling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kuwento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B. </a:t>
            </a:r>
            <a:r>
              <a:rPr lang="en-US" sz="3200" dirty="0" err="1">
                <a:latin typeface="Bookman Old Style" panose="02050604050505020204" pitchFamily="18" charset="0"/>
              </a:rPr>
              <a:t>T</a:t>
            </a:r>
            <a:r>
              <a:rPr lang="en-US" sz="3200" kern="12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inatalakay</a:t>
            </a: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dito</a:t>
            </a: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pagbabahagi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pangyayaring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naganap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biktima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C</a:t>
            </a:r>
            <a:r>
              <a:rPr lang="en-US" sz="3200" dirty="0">
                <a:latin typeface="Bookman Old Style" panose="02050604050505020204" pitchFamily="18" charset="0"/>
              </a:rPr>
              <a:t>. </a:t>
            </a:r>
            <a:r>
              <a:rPr lang="en-US" sz="3200" dirty="0" err="1">
                <a:latin typeface="Bookman Old Style" panose="02050604050505020204" pitchFamily="18" charset="0"/>
              </a:rPr>
              <a:t>Nagpapahayag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ito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tanong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tungkol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nakaraang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pangyayari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buhay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biktima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sz="3200" dirty="0">
                <a:latin typeface="Bookman Old Style" panose="02050604050505020204" pitchFamily="18" charset="0"/>
              </a:rPr>
              <a:t>D. </a:t>
            </a:r>
            <a:r>
              <a:rPr lang="en-US" sz="3200" dirty="0" err="1">
                <a:latin typeface="Bookman Old Style" panose="02050604050505020204" pitchFamily="18" charset="0"/>
              </a:rPr>
              <a:t>Tinatalakay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dito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personalidad</a:t>
            </a:r>
            <a:r>
              <a:rPr lang="en-US" sz="3200" dirty="0">
                <a:latin typeface="Bookman Old Style" panose="02050604050505020204" pitchFamily="18" charset="0"/>
              </a:rPr>
              <a:t> at </a:t>
            </a:r>
            <a:r>
              <a:rPr lang="en-US" sz="3200" dirty="0" err="1">
                <a:latin typeface="Bookman Old Style" panose="02050604050505020204" pitchFamily="18" charset="0"/>
              </a:rPr>
              <a:t>damdamin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biktima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maaaring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anyo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galit</a:t>
            </a:r>
            <a:r>
              <a:rPr lang="en-US" sz="3200" dirty="0">
                <a:latin typeface="Bookman Old Style" panose="02050604050505020204" pitchFamily="18" charset="0"/>
              </a:rPr>
              <a:t>, </a:t>
            </a:r>
            <a:r>
              <a:rPr lang="en-US" sz="3200" dirty="0" err="1">
                <a:latin typeface="Bookman Old Style" panose="02050604050505020204" pitchFamily="18" charset="0"/>
              </a:rPr>
              <a:t>pagmumura</a:t>
            </a:r>
            <a:r>
              <a:rPr lang="en-US" sz="3200" dirty="0">
                <a:latin typeface="Bookman Old Style" panose="02050604050505020204" pitchFamily="18" charset="0"/>
              </a:rPr>
              <a:t>, o </a:t>
            </a:r>
            <a:r>
              <a:rPr lang="en-US" sz="3200" dirty="0" err="1">
                <a:latin typeface="Bookman Old Style" panose="02050604050505020204" pitchFamily="18" charset="0"/>
              </a:rPr>
              <a:t>hinanakit</a:t>
            </a:r>
            <a:endParaRPr lang="en-PH" sz="2600" dirty="0"/>
          </a:p>
        </p:txBody>
      </p:sp>
    </p:spTree>
    <p:extLst>
      <p:ext uri="{BB962C8B-B14F-4D97-AF65-F5344CB8AC3E}">
        <p14:creationId xmlns:p14="http://schemas.microsoft.com/office/powerpoint/2010/main" val="59532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90A4B-C45C-77A5-516B-2F68806B0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2187AE-66E1-5840-D252-8FD4A97BBEB1}"/>
              </a:ext>
            </a:extLst>
          </p:cNvPr>
          <p:cNvSpPr txBox="1"/>
          <p:nvPr/>
        </p:nvSpPr>
        <p:spPr>
          <a:xfrm>
            <a:off x="591900" y="2721114"/>
            <a:ext cx="11302583" cy="1938992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sz="4000" dirty="0">
                <a:latin typeface="Bookman Old Style" panose="02050604050505020204" pitchFamily="18" charset="0"/>
              </a:rPr>
              <a:t>D. </a:t>
            </a:r>
            <a:r>
              <a:rPr lang="en-US" sz="4000" dirty="0" err="1">
                <a:latin typeface="Bookman Old Style" panose="02050604050505020204" pitchFamily="18" charset="0"/>
              </a:rPr>
              <a:t>Tinatalakay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dito</a:t>
            </a:r>
            <a:r>
              <a:rPr lang="en-US" sz="4000" dirty="0">
                <a:latin typeface="Bookman Old Style" panose="02050604050505020204" pitchFamily="18" charset="0"/>
              </a:rPr>
              <a:t> ang </a:t>
            </a:r>
            <a:r>
              <a:rPr lang="en-US" sz="4000" dirty="0" err="1">
                <a:latin typeface="Bookman Old Style" panose="02050604050505020204" pitchFamily="18" charset="0"/>
              </a:rPr>
              <a:t>personalidad</a:t>
            </a:r>
            <a:r>
              <a:rPr lang="en-US" sz="4000" dirty="0">
                <a:latin typeface="Bookman Old Style" panose="02050604050505020204" pitchFamily="18" charset="0"/>
              </a:rPr>
              <a:t> at </a:t>
            </a:r>
            <a:r>
              <a:rPr lang="en-US" sz="4000" dirty="0" err="1">
                <a:latin typeface="Bookman Old Style" panose="02050604050505020204" pitchFamily="18" charset="0"/>
              </a:rPr>
              <a:t>damdamin</a:t>
            </a:r>
            <a:r>
              <a:rPr lang="en-US" sz="4000" dirty="0">
                <a:latin typeface="Bookman Old Style" panose="02050604050505020204" pitchFamily="18" charset="0"/>
              </a:rPr>
              <a:t> ng </a:t>
            </a:r>
            <a:r>
              <a:rPr lang="en-US" sz="4000" dirty="0" err="1">
                <a:latin typeface="Bookman Old Style" panose="02050604050505020204" pitchFamily="18" charset="0"/>
              </a:rPr>
              <a:t>mga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biktima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na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maaaring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nasa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anyo</a:t>
            </a:r>
            <a:r>
              <a:rPr lang="en-US" sz="4000" dirty="0">
                <a:latin typeface="Bookman Old Style" panose="02050604050505020204" pitchFamily="18" charset="0"/>
              </a:rPr>
              <a:t> ng </a:t>
            </a:r>
            <a:r>
              <a:rPr lang="en-US" sz="4000" dirty="0" err="1">
                <a:latin typeface="Bookman Old Style" panose="02050604050505020204" pitchFamily="18" charset="0"/>
              </a:rPr>
              <a:t>galit</a:t>
            </a:r>
            <a:r>
              <a:rPr lang="en-US" sz="4000" dirty="0">
                <a:latin typeface="Bookman Old Style" panose="02050604050505020204" pitchFamily="18" charset="0"/>
              </a:rPr>
              <a:t>, </a:t>
            </a:r>
            <a:r>
              <a:rPr lang="en-US" sz="4000" dirty="0" err="1">
                <a:latin typeface="Bookman Old Style" panose="02050604050505020204" pitchFamily="18" charset="0"/>
              </a:rPr>
              <a:t>pagmumura</a:t>
            </a:r>
            <a:r>
              <a:rPr lang="en-US" sz="4000" dirty="0">
                <a:latin typeface="Bookman Old Style" panose="02050604050505020204" pitchFamily="18" charset="0"/>
              </a:rPr>
              <a:t>, o </a:t>
            </a:r>
            <a:r>
              <a:rPr lang="en-US" sz="4000" dirty="0" err="1">
                <a:latin typeface="Bookman Old Style" panose="02050604050505020204" pitchFamily="18" charset="0"/>
              </a:rPr>
              <a:t>hinanakit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67655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3B371-B920-5A5B-6A5F-E93A1F301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F38D10-0C6A-95DB-7F4E-5947B91DFD5A}"/>
              </a:ext>
            </a:extLst>
          </p:cNvPr>
          <p:cNvSpPr txBox="1"/>
          <p:nvPr/>
        </p:nvSpPr>
        <p:spPr>
          <a:xfrm>
            <a:off x="555884" y="688751"/>
            <a:ext cx="11080229" cy="1569660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Bookman Old Style" panose="02050604050505020204" pitchFamily="18" charset="0"/>
              </a:rPr>
              <a:t>29. Anong </a:t>
            </a:r>
            <a:r>
              <a:rPr lang="en-US" sz="3200" dirty="0" err="1">
                <a:latin typeface="Bookman Old Style" panose="02050604050505020204" pitchFamily="18" charset="0"/>
              </a:rPr>
              <a:t>kautusang</a:t>
            </a:r>
            <a:r>
              <a:rPr lang="en-US" sz="3200" dirty="0">
                <a:latin typeface="Bookman Old Style" panose="02050604050505020204" pitchFamily="18" charset="0"/>
              </a:rPr>
              <a:t> Kagawaran ng </a:t>
            </a:r>
            <a:r>
              <a:rPr lang="en-US" sz="3200" dirty="0" err="1">
                <a:latin typeface="Bookman Old Style" panose="02050604050505020204" pitchFamily="18" charset="0"/>
              </a:rPr>
              <a:t>Edukasyon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nagpatupad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programang</a:t>
            </a:r>
            <a:r>
              <a:rPr lang="en-US" sz="3200" dirty="0">
                <a:latin typeface="Bookman Old Style" panose="02050604050505020204" pitchFamily="18" charset="0"/>
              </a:rPr>
              <a:t> Mother Tongue-Based Multilingual Education (MTB-MLE)</a:t>
            </a:r>
            <a:endParaRPr lang="en-PH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F20E6-E27E-0FC5-AFB2-5682FBB66657}"/>
              </a:ext>
            </a:extLst>
          </p:cNvPr>
          <p:cNvSpPr txBox="1"/>
          <p:nvPr/>
        </p:nvSpPr>
        <p:spPr>
          <a:xfrm>
            <a:off x="332281" y="3429000"/>
            <a:ext cx="1152743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A. </a:t>
            </a:r>
            <a:r>
              <a:rPr lang="en-US" sz="3200" dirty="0" err="1">
                <a:latin typeface="Bookman Old Style" panose="02050604050505020204" pitchFamily="18" charset="0"/>
              </a:rPr>
              <a:t>Kautusang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Pangkagawaran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Blg</a:t>
            </a:r>
            <a:r>
              <a:rPr lang="en-US" sz="3200" dirty="0">
                <a:latin typeface="Bookman Old Style" panose="02050604050505020204" pitchFamily="18" charset="0"/>
              </a:rPr>
              <a:t>. 16, s. 2012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B. </a:t>
            </a:r>
            <a:r>
              <a:rPr lang="en-US" sz="3200" dirty="0" err="1">
                <a:latin typeface="Bookman Old Style" panose="02050604050505020204" pitchFamily="18" charset="0"/>
              </a:rPr>
              <a:t>Kautusang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Pangkagawaran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Blg</a:t>
            </a:r>
            <a:r>
              <a:rPr lang="en-US" sz="3200" dirty="0">
                <a:latin typeface="Bookman Old Style" panose="02050604050505020204" pitchFamily="18" charset="0"/>
              </a:rPr>
              <a:t>. 16, s. 2016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C</a:t>
            </a:r>
            <a:r>
              <a:rPr lang="en-US" sz="3200" dirty="0">
                <a:latin typeface="Bookman Old Style" panose="02050604050505020204" pitchFamily="18" charset="0"/>
              </a:rPr>
              <a:t>. </a:t>
            </a:r>
            <a:r>
              <a:rPr lang="en-US" sz="3200" dirty="0" err="1">
                <a:latin typeface="Bookman Old Style" panose="02050604050505020204" pitchFamily="18" charset="0"/>
              </a:rPr>
              <a:t>Kautusang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Pangkagawaran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Blg</a:t>
            </a:r>
            <a:r>
              <a:rPr lang="en-US" sz="3200" dirty="0">
                <a:latin typeface="Bookman Old Style" panose="02050604050505020204" pitchFamily="18" charset="0"/>
              </a:rPr>
              <a:t>. 16, s. 2018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sz="3200" dirty="0">
                <a:latin typeface="Bookman Old Style" panose="02050604050505020204" pitchFamily="18" charset="0"/>
              </a:rPr>
              <a:t>D. </a:t>
            </a:r>
            <a:r>
              <a:rPr lang="en-US" sz="3200" dirty="0" err="1">
                <a:latin typeface="Bookman Old Style" panose="02050604050505020204" pitchFamily="18" charset="0"/>
              </a:rPr>
              <a:t>Kautusang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Pangkagawaran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Blg</a:t>
            </a:r>
            <a:r>
              <a:rPr lang="en-US" sz="3200" dirty="0">
                <a:latin typeface="Bookman Old Style" panose="02050604050505020204" pitchFamily="18" charset="0"/>
              </a:rPr>
              <a:t>. 16, s. 2019</a:t>
            </a:r>
            <a:endParaRPr lang="en-PH" sz="2600" dirty="0"/>
          </a:p>
        </p:txBody>
      </p:sp>
    </p:spTree>
    <p:extLst>
      <p:ext uri="{BB962C8B-B14F-4D97-AF65-F5344CB8AC3E}">
        <p14:creationId xmlns:p14="http://schemas.microsoft.com/office/powerpoint/2010/main" val="109973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87825-C458-3095-60BB-E7F7FD9C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BCFD40-1385-C4D3-9D0B-FE29C0EC5F73}"/>
              </a:ext>
            </a:extLst>
          </p:cNvPr>
          <p:cNvSpPr txBox="1"/>
          <p:nvPr/>
        </p:nvSpPr>
        <p:spPr>
          <a:xfrm>
            <a:off x="1145604" y="2975947"/>
            <a:ext cx="9900791" cy="1323439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A. </a:t>
            </a:r>
            <a:r>
              <a:rPr lang="en-US" sz="4000" dirty="0" err="1">
                <a:latin typeface="Bookman Old Style" panose="02050604050505020204" pitchFamily="18" charset="0"/>
              </a:rPr>
              <a:t>Kautusang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Pangkagawaran</a:t>
            </a:r>
            <a:r>
              <a:rPr lang="en-US" sz="4000" dirty="0">
                <a:latin typeface="Bookman Old Style" panose="02050604050505020204" pitchFamily="18" charset="0"/>
              </a:rPr>
              <a:t> </a:t>
            </a:r>
            <a:r>
              <a:rPr lang="en-US" sz="4000" dirty="0" err="1">
                <a:latin typeface="Bookman Old Style" panose="02050604050505020204" pitchFamily="18" charset="0"/>
              </a:rPr>
              <a:t>Blg</a:t>
            </a:r>
            <a:r>
              <a:rPr lang="en-US" sz="4000" dirty="0">
                <a:latin typeface="Bookman Old Style" panose="02050604050505020204" pitchFamily="18" charset="0"/>
              </a:rPr>
              <a:t>. 16, s. 2012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158061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5E429-BC5B-23A0-5B59-BF5FC1C71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5D361C-0AA9-013F-1612-145396E0E4FC}"/>
              </a:ext>
            </a:extLst>
          </p:cNvPr>
          <p:cNvSpPr txBox="1"/>
          <p:nvPr/>
        </p:nvSpPr>
        <p:spPr>
          <a:xfrm>
            <a:off x="555883" y="257625"/>
            <a:ext cx="11080229" cy="2554545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Bookman Old Style" panose="02050604050505020204" pitchFamily="18" charset="0"/>
              </a:rPr>
              <a:t>30. Paano </a:t>
            </a:r>
            <a:r>
              <a:rPr lang="en-US" sz="3200" dirty="0" err="1">
                <a:latin typeface="Bookman Old Style" panose="02050604050505020204" pitchFamily="18" charset="0"/>
              </a:rPr>
              <a:t>matitiyak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ni</a:t>
            </a:r>
            <a:r>
              <a:rPr lang="en-US" sz="3200" dirty="0">
                <a:latin typeface="Bookman Old Style" panose="02050604050505020204" pitchFamily="18" charset="0"/>
              </a:rPr>
              <a:t> Yohan ang </a:t>
            </a:r>
            <a:r>
              <a:rPr lang="en-US" sz="3200" dirty="0" err="1">
                <a:latin typeface="Bookman Old Style" panose="02050604050505020204" pitchFamily="18" charset="0"/>
              </a:rPr>
              <a:t>kalidad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kanyang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librong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gagamitin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pagsagot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kanyang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pananaliksik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tungkol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bilingguwalismo</a:t>
            </a:r>
            <a:r>
              <a:rPr lang="en-US" sz="3200" dirty="0">
                <a:latin typeface="Bookman Old Style" panose="02050604050505020204" pitchFamily="18" charset="0"/>
              </a:rPr>
              <a:t>? Ano-</a:t>
            </a:r>
            <a:r>
              <a:rPr lang="en-US" sz="3200" dirty="0" err="1">
                <a:latin typeface="Bookman Old Style" panose="02050604050505020204" pitchFamily="18" charset="0"/>
              </a:rPr>
              <a:t>anong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katangian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ibaba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dapat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niya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isaalang-alang</a:t>
            </a:r>
            <a:r>
              <a:rPr lang="en-US" sz="3200" dirty="0">
                <a:latin typeface="Bookman Old Style" panose="02050604050505020204" pitchFamily="18" charset="0"/>
              </a:rPr>
              <a:t>?</a:t>
            </a:r>
            <a:endParaRPr lang="en-PH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9B7002-0BE2-0C09-BA14-B5DC150C6C8C}"/>
              </a:ext>
            </a:extLst>
          </p:cNvPr>
          <p:cNvSpPr txBox="1"/>
          <p:nvPr/>
        </p:nvSpPr>
        <p:spPr>
          <a:xfrm>
            <a:off x="332280" y="4538272"/>
            <a:ext cx="1152743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A. I, II, </a:t>
            </a:r>
            <a:r>
              <a:rPr lang="en-US" sz="3200" dirty="0">
                <a:latin typeface="Bookman Old Style" panose="02050604050505020204" pitchFamily="18" charset="0"/>
              </a:rPr>
              <a:t>at</a:t>
            </a: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IV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B. I, II, at III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C</a:t>
            </a:r>
            <a:r>
              <a:rPr lang="en-US" sz="3200" dirty="0">
                <a:latin typeface="Bookman Old Style" panose="02050604050505020204" pitchFamily="18" charset="0"/>
              </a:rPr>
              <a:t>. I at II </a:t>
            </a:r>
            <a:r>
              <a:rPr lang="en-US" sz="3200" dirty="0" err="1">
                <a:latin typeface="Bookman Old Style" panose="02050604050505020204" pitchFamily="18" charset="0"/>
              </a:rPr>
              <a:t>lamang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sz="3200" dirty="0">
                <a:latin typeface="Bookman Old Style" panose="02050604050505020204" pitchFamily="18" charset="0"/>
              </a:rPr>
              <a:t>D. II at IV </a:t>
            </a:r>
            <a:r>
              <a:rPr lang="en-US" sz="3200" dirty="0" err="1">
                <a:latin typeface="Bookman Old Style" panose="02050604050505020204" pitchFamily="18" charset="0"/>
              </a:rPr>
              <a:t>lamang</a:t>
            </a:r>
            <a:endParaRPr lang="en-PH" sz="2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9DD749-9612-F67F-6A42-9DC8F32F84FE}"/>
              </a:ext>
            </a:extLst>
          </p:cNvPr>
          <p:cNvSpPr txBox="1"/>
          <p:nvPr/>
        </p:nvSpPr>
        <p:spPr>
          <a:xfrm>
            <a:off x="4936759" y="2812170"/>
            <a:ext cx="650073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dirty="0">
                <a:latin typeface="Bookman Old Style" panose="02050604050505020204" pitchFamily="18" charset="0"/>
                <a:ea typeface="+mj-ea"/>
                <a:cs typeface="+mj-cs"/>
              </a:rPr>
              <a:t>I.   </a:t>
            </a:r>
            <a:r>
              <a:rPr lang="en-US" sz="3200" dirty="0" err="1">
                <a:latin typeface="Bookman Old Style" panose="02050604050505020204" pitchFamily="18" charset="0"/>
                <a:ea typeface="+mj-ea"/>
                <a:cs typeface="+mj-cs"/>
              </a:rPr>
              <a:t>Kredibilidad</a:t>
            </a:r>
            <a:r>
              <a:rPr lang="en-US" sz="3200" dirty="0">
                <a:latin typeface="Bookman Old Style" panose="02050604050505020204" pitchFamily="18" charset="0"/>
                <a:ea typeface="+mj-ea"/>
                <a:cs typeface="+mj-cs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  <a:ea typeface="+mj-ea"/>
                <a:cs typeface="+mj-cs"/>
              </a:rPr>
              <a:t>awtor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II.  </a:t>
            </a:r>
            <a:r>
              <a:rPr lang="en-US" sz="3200" dirty="0" err="1">
                <a:latin typeface="Bookman Old Style" panose="02050604050505020204" pitchFamily="18" charset="0"/>
              </a:rPr>
              <a:t>Kredilbilidad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pablisher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sz="3200" dirty="0">
                <a:latin typeface="Bookman Old Style" panose="02050604050505020204" pitchFamily="18" charset="0"/>
              </a:rPr>
              <a:t>III. </a:t>
            </a:r>
            <a:r>
              <a:rPr lang="en-US" sz="3200" dirty="0" err="1">
                <a:latin typeface="Bookman Old Style" panose="02050604050505020204" pitchFamily="18" charset="0"/>
              </a:rPr>
              <a:t>Disenyo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aklat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dirty="0">
                <a:latin typeface="Bookman Old Style" panose="02050604050505020204" pitchFamily="18" charset="0"/>
              </a:rPr>
              <a:t> IV. </a:t>
            </a:r>
            <a:r>
              <a:rPr lang="en-US" sz="3200" dirty="0" err="1">
                <a:latin typeface="Bookman Old Style" panose="02050604050505020204" pitchFamily="18" charset="0"/>
              </a:rPr>
              <a:t>Nilalaman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libro</a:t>
            </a:r>
            <a:endParaRPr lang="en-PH" sz="2600" dirty="0"/>
          </a:p>
        </p:txBody>
      </p:sp>
    </p:spTree>
    <p:extLst>
      <p:ext uri="{BB962C8B-B14F-4D97-AF65-F5344CB8AC3E}">
        <p14:creationId xmlns:p14="http://schemas.microsoft.com/office/powerpoint/2010/main" val="1067779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5F36E-A729-18A5-2543-D30F617BC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1879C4-2EBE-4CC7-7205-447C01591FA4}"/>
              </a:ext>
            </a:extLst>
          </p:cNvPr>
          <p:cNvSpPr txBox="1"/>
          <p:nvPr/>
        </p:nvSpPr>
        <p:spPr>
          <a:xfrm>
            <a:off x="1145604" y="2975947"/>
            <a:ext cx="9900791" cy="707886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Bookman Old Style" panose="02050604050505020204" pitchFamily="18" charset="0"/>
              </a:rPr>
              <a:t>A. I, II, </a:t>
            </a:r>
            <a:r>
              <a:rPr lang="en-US" sz="4000">
                <a:latin typeface="Bookman Old Style" panose="02050604050505020204" pitchFamily="18" charset="0"/>
              </a:rPr>
              <a:t>at</a:t>
            </a:r>
            <a:r>
              <a:rPr lang="en-US" sz="4000" kern="1200">
                <a:solidFill>
                  <a:schemeClr val="tx1"/>
                </a:solidFill>
                <a:latin typeface="Bookman Old Style" panose="02050604050505020204" pitchFamily="18" charset="0"/>
              </a:rPr>
              <a:t> IV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401481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C57A0-87AB-8A17-CE2E-B5AF1AB2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D0F4CF-2219-F689-8952-467050C29457}"/>
              </a:ext>
            </a:extLst>
          </p:cNvPr>
          <p:cNvSpPr txBox="1"/>
          <p:nvPr/>
        </p:nvSpPr>
        <p:spPr>
          <a:xfrm>
            <a:off x="555883" y="587408"/>
            <a:ext cx="11080229" cy="1077218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algn="just"/>
            <a:r>
              <a:rPr lang="en-PH" sz="3200" dirty="0"/>
              <a:t>32. Alin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sumusunod</a:t>
            </a:r>
            <a:r>
              <a:rPr lang="en-PH" sz="3200" dirty="0"/>
              <a:t> ang </a:t>
            </a:r>
            <a:r>
              <a:rPr lang="en-PH" sz="3200" dirty="0" err="1"/>
              <a:t>nagpapatunay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ang </a:t>
            </a:r>
            <a:r>
              <a:rPr lang="en-PH" sz="3200" dirty="0" err="1"/>
              <a:t>wika</a:t>
            </a:r>
            <a:r>
              <a:rPr lang="en-PH" sz="3200" dirty="0"/>
              <a:t> ay </a:t>
            </a:r>
            <a:r>
              <a:rPr lang="en-PH" sz="3200" b="1" dirty="0"/>
              <a:t>MAKAPANGYARIHAN</a:t>
            </a:r>
            <a:r>
              <a:rPr lang="en-PH" sz="3200" dirty="0"/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C9E83B-1B01-EEF9-823C-1A4283ECCEE6}"/>
              </a:ext>
            </a:extLst>
          </p:cNvPr>
          <p:cNvSpPr txBox="1"/>
          <p:nvPr/>
        </p:nvSpPr>
        <p:spPr>
          <a:xfrm>
            <a:off x="450952" y="2964305"/>
            <a:ext cx="115274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A. </a:t>
            </a:r>
            <a:r>
              <a:rPr lang="en-US" sz="3200" kern="12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nagbabago</a:t>
            </a: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ang </a:t>
            </a:r>
            <a:r>
              <a:rPr lang="en-US" sz="3200" kern="12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wika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paglipas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panahon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B. ang </a:t>
            </a:r>
            <a:r>
              <a:rPr lang="en-US" sz="3200" kern="12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wika</a:t>
            </a: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ay may </a:t>
            </a:r>
            <a:r>
              <a:rPr lang="en-US" sz="3200" kern="12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sinusundang</a:t>
            </a: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 </a:t>
            </a:r>
            <a:r>
              <a:rPr lang="en-US" sz="3200" kern="12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padron</a:t>
            </a: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at </a:t>
            </a:r>
            <a:r>
              <a:rPr lang="en-US" sz="3200" kern="12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balangkas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C</a:t>
            </a:r>
            <a:r>
              <a:rPr lang="en-US" sz="3200" dirty="0">
                <a:latin typeface="Bookman Old Style" panose="02050604050505020204" pitchFamily="18" charset="0"/>
              </a:rPr>
              <a:t>. ang </a:t>
            </a:r>
            <a:r>
              <a:rPr lang="en-US" sz="3200" dirty="0" err="1">
                <a:latin typeface="Bookman Old Style" panose="02050604050505020204" pitchFamily="18" charset="0"/>
              </a:rPr>
              <a:t>mga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wikang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ginagamit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isang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komunidad</a:t>
            </a:r>
            <a:r>
              <a:rPr lang="en-US" sz="3200" dirty="0">
                <a:latin typeface="Bookman Old Style" panose="02050604050505020204" pitchFamily="18" charset="0"/>
              </a:rPr>
              <a:t> ay </a:t>
            </a:r>
            <a:r>
              <a:rPr lang="en-US" sz="3200" dirty="0" err="1">
                <a:latin typeface="Bookman Old Style" panose="02050604050505020204" pitchFamily="18" charset="0"/>
              </a:rPr>
              <a:t>batay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napagkasunduan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mamamayan</a:t>
            </a:r>
            <a:b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US" sz="3200" kern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sz="3200" dirty="0">
                <a:latin typeface="Bookman Old Style" panose="02050604050505020204" pitchFamily="18" charset="0"/>
              </a:rPr>
              <a:t>D. may </a:t>
            </a:r>
            <a:r>
              <a:rPr lang="en-US" sz="3200" dirty="0" err="1">
                <a:latin typeface="Bookman Old Style" panose="02050604050505020204" pitchFamily="18" charset="0"/>
              </a:rPr>
              <a:t>kakayahan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wikang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makaimpluwensya</a:t>
            </a:r>
            <a:r>
              <a:rPr lang="en-US" sz="3200" dirty="0">
                <a:latin typeface="Bookman Old Style" panose="02050604050505020204" pitchFamily="18" charset="0"/>
              </a:rPr>
              <a:t> at </a:t>
            </a:r>
            <a:r>
              <a:rPr lang="en-US" sz="3200" dirty="0" err="1">
                <a:latin typeface="Bookman Old Style" panose="02050604050505020204" pitchFamily="18" charset="0"/>
              </a:rPr>
              <a:t>kontrolin</a:t>
            </a:r>
            <a:r>
              <a:rPr lang="en-US" sz="3200" dirty="0">
                <a:latin typeface="Bookman Old Style" panose="02050604050505020204" pitchFamily="18" charset="0"/>
              </a:rPr>
              <a:t> ang </a:t>
            </a:r>
            <a:r>
              <a:rPr lang="en-US" sz="3200" dirty="0" err="1">
                <a:latin typeface="Bookman Old Style" panose="02050604050505020204" pitchFamily="18" charset="0"/>
              </a:rPr>
              <a:t>pag-iisip</a:t>
            </a:r>
            <a:r>
              <a:rPr lang="en-US" sz="3200" dirty="0">
                <a:latin typeface="Bookman Old Style" panose="02050604050505020204" pitchFamily="18" charset="0"/>
              </a:rPr>
              <a:t> ng </a:t>
            </a:r>
            <a:r>
              <a:rPr lang="en-US" sz="3200" dirty="0" err="1">
                <a:latin typeface="Bookman Old Style" panose="02050604050505020204" pitchFamily="18" charset="0"/>
              </a:rPr>
              <a:t>tao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sa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isang</a:t>
            </a:r>
            <a:r>
              <a:rPr lang="en-US" sz="3200" dirty="0">
                <a:latin typeface="Bookman Old Style" panose="02050604050505020204" pitchFamily="18" charset="0"/>
              </a:rPr>
              <a:t> </a:t>
            </a:r>
            <a:r>
              <a:rPr lang="en-US" sz="3200" dirty="0" err="1">
                <a:latin typeface="Bookman Old Style" panose="02050604050505020204" pitchFamily="18" charset="0"/>
              </a:rPr>
              <a:t>sitwasyon</a:t>
            </a:r>
            <a:endParaRPr lang="en-PH" sz="2600" dirty="0"/>
          </a:p>
        </p:txBody>
      </p:sp>
    </p:spTree>
    <p:extLst>
      <p:ext uri="{BB962C8B-B14F-4D97-AF65-F5344CB8AC3E}">
        <p14:creationId xmlns:p14="http://schemas.microsoft.com/office/powerpoint/2010/main" val="124270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EF42D-19F0-A0C0-B625-5EB19D37D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07C65-9BB7-4BC0-BD9F-60BDE90DE93C}"/>
              </a:ext>
            </a:extLst>
          </p:cNvPr>
          <p:cNvSpPr txBox="1"/>
          <p:nvPr/>
        </p:nvSpPr>
        <p:spPr>
          <a:xfrm>
            <a:off x="929390" y="2975947"/>
            <a:ext cx="10598046" cy="1938992"/>
          </a:xfrm>
          <a:prstGeom prst="rect">
            <a:avLst/>
          </a:prstGeom>
          <a:pattFill prst="ltUpDiag">
            <a:fgClr>
              <a:srgbClr val="EBB7E5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sz="4000">
                <a:latin typeface="Bookman Old Style" panose="02050604050505020204" pitchFamily="18" charset="0"/>
              </a:rPr>
              <a:t>D. may kakayahan ang wikang makaimpluwensya at kontrolin ang pag-iisip ng tao sa isang sitwasyon</a:t>
            </a:r>
            <a:endParaRPr lang="en-US" sz="4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76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6784</TotalTime>
  <Words>3271</Words>
  <Application>Microsoft Office PowerPoint</Application>
  <PresentationFormat>Widescreen</PresentationFormat>
  <Paragraphs>183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Aptos</vt:lpstr>
      <vt:lpstr>Aptos Display</vt:lpstr>
      <vt:lpstr>Arial</vt:lpstr>
      <vt:lpstr>Bookman Old Style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ALONA GRIFALDIA</dc:creator>
  <cp:lastModifiedBy>ALONA GRIFALDIA</cp:lastModifiedBy>
  <cp:revision>66</cp:revision>
  <dcterms:created xsi:type="dcterms:W3CDTF">2025-02-04T11:08:01Z</dcterms:created>
  <dcterms:modified xsi:type="dcterms:W3CDTF">2026-01-09T07:34:23Z</dcterms:modified>
</cp:coreProperties>
</file>