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sldIdLst>
    <p:sldId id="256" r:id="rId2"/>
    <p:sldId id="283" r:id="rId3"/>
    <p:sldId id="284" r:id="rId4"/>
    <p:sldId id="262" r:id="rId5"/>
    <p:sldId id="257" r:id="rId6"/>
    <p:sldId id="260" r:id="rId7"/>
    <p:sldId id="258" r:id="rId8"/>
    <p:sldId id="261" r:id="rId9"/>
    <p:sldId id="263" r:id="rId10"/>
    <p:sldId id="259" r:id="rId11"/>
    <p:sldId id="267" r:id="rId12"/>
    <p:sldId id="278" r:id="rId13"/>
    <p:sldId id="279" r:id="rId14"/>
    <p:sldId id="268" r:id="rId15"/>
    <p:sldId id="269" r:id="rId16"/>
    <p:sldId id="271" r:id="rId17"/>
    <p:sldId id="272" r:id="rId18"/>
    <p:sldId id="274" r:id="rId19"/>
    <p:sldId id="276" r:id="rId20"/>
    <p:sldId id="277" r:id="rId21"/>
    <p:sldId id="281" r:id="rId22"/>
    <p:sldId id="282" r:id="rId23"/>
    <p:sldId id="286" r:id="rId24"/>
    <p:sldId id="285" r:id="rId25"/>
    <p:sldId id="289" r:id="rId26"/>
    <p:sldId id="290" r:id="rId27"/>
    <p:sldId id="291" r:id="rId28"/>
    <p:sldId id="292" r:id="rId29"/>
    <p:sldId id="28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065" autoAdjust="0"/>
  </p:normalViewPr>
  <p:slideViewPr>
    <p:cSldViewPr snapToGrid="0">
      <p:cViewPr varScale="1">
        <p:scale>
          <a:sx n="56" d="100"/>
          <a:sy n="56" d="100"/>
        </p:scale>
        <p:origin x="12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E62315-8928-8A4C-9BF6-981E74652EBA}"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245389-678B-E049-8A84-E1BE482AD07B}" type="slidenum">
              <a:rPr lang="en-US" smtClean="0"/>
              <a:t>‹#›</a:t>
            </a:fld>
            <a:endParaRPr lang="en-US"/>
          </a:p>
        </p:txBody>
      </p:sp>
    </p:spTree>
    <p:extLst>
      <p:ext uri="{BB962C8B-B14F-4D97-AF65-F5344CB8AC3E}">
        <p14:creationId xmlns:p14="http://schemas.microsoft.com/office/powerpoint/2010/main" val="1386209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14042"/>
                </a:solidFill>
                <a:effectLst/>
                <a:latin typeface="Inter"/>
              </a:rPr>
              <a:t>It is not easy to recognize the presence of the three pairs. However, one can reach the same conclusions using other clues. For instance, one may note that the same couple of shapes appear in the first and fourth items of the sequence, as is the second and fifth items. It is only logical that the next item of the series will include two hearts located in the right and left cells. This reasoning should lead us to narrow the possible answer to options (A) and (D). Figuring out the grey portions' movement pattern leaves us with possible options (B) and (D). Combining these two conclusions, and we're left with choice (D) as the only option to comply with this problem's reasoning.</a:t>
            </a:r>
            <a:endParaRPr lang="en-US" dirty="0"/>
          </a:p>
        </p:txBody>
      </p:sp>
      <p:sp>
        <p:nvSpPr>
          <p:cNvPr id="4" name="Slide Number Placeholder 3"/>
          <p:cNvSpPr>
            <a:spLocks noGrp="1"/>
          </p:cNvSpPr>
          <p:nvPr>
            <p:ph type="sldNum" sz="quarter" idx="5"/>
          </p:nvPr>
        </p:nvSpPr>
        <p:spPr/>
        <p:txBody>
          <a:bodyPr/>
          <a:lstStyle/>
          <a:p>
            <a:fld id="{A3245389-678B-E049-8A84-E1BE482AD07B}" type="slidenum">
              <a:rPr lang="en-US" smtClean="0"/>
              <a:t>6</a:t>
            </a:fld>
            <a:endParaRPr lang="en-US"/>
          </a:p>
        </p:txBody>
      </p:sp>
    </p:spTree>
    <p:extLst>
      <p:ext uri="{BB962C8B-B14F-4D97-AF65-F5344CB8AC3E}">
        <p14:creationId xmlns:p14="http://schemas.microsoft.com/office/powerpoint/2010/main" val="56551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14042"/>
                </a:solidFill>
                <a:effectLst/>
                <a:latin typeface="Inter"/>
              </a:rPr>
              <a:t>Thus, the outer shape in the missing frame should be a square (just like the middle shape in the 5th frame), the central form should be a triangle (like the inner shape in the 5th frame), and the internal structure should be a diamond (like the outer shape in the 4th frame).</a:t>
            </a:r>
          </a:p>
          <a:p>
            <a:endParaRPr lang="en-US" dirty="0"/>
          </a:p>
        </p:txBody>
      </p:sp>
      <p:sp>
        <p:nvSpPr>
          <p:cNvPr id="4" name="Slide Number Placeholder 3"/>
          <p:cNvSpPr>
            <a:spLocks noGrp="1"/>
          </p:cNvSpPr>
          <p:nvPr>
            <p:ph type="sldNum" sz="quarter" idx="5"/>
          </p:nvPr>
        </p:nvSpPr>
        <p:spPr/>
        <p:txBody>
          <a:bodyPr/>
          <a:lstStyle/>
          <a:p>
            <a:fld id="{A3245389-678B-E049-8A84-E1BE482AD07B}" type="slidenum">
              <a:rPr lang="en-US" smtClean="0"/>
              <a:t>8</a:t>
            </a:fld>
            <a:endParaRPr lang="en-US"/>
          </a:p>
        </p:txBody>
      </p:sp>
    </p:spTree>
    <p:extLst>
      <p:ext uri="{BB962C8B-B14F-4D97-AF65-F5344CB8AC3E}">
        <p14:creationId xmlns:p14="http://schemas.microsoft.com/office/powerpoint/2010/main" val="56551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dirty="0">
                <a:solidFill>
                  <a:srgbClr val="414042"/>
                </a:solidFill>
                <a:effectLst/>
                <a:latin typeface="Inter"/>
              </a:rPr>
              <a:t>We can eliminate the answer (A) because it is missing a circle. We can further eliminate answers (B) and (D), because the star is in the wrong position, and the answer (C) because it has the circle in the wrong place.</a:t>
            </a:r>
          </a:p>
          <a:p>
            <a:r>
              <a:rPr lang="en-US" sz="1200" b="0" i="0" dirty="0">
                <a:solidFill>
                  <a:srgbClr val="414042"/>
                </a:solidFill>
                <a:effectLst/>
                <a:latin typeface="Inter"/>
              </a:rPr>
              <a:t>Therefore, we are left with the answer (E) choice as the only correct solution.</a:t>
            </a:r>
          </a:p>
          <a:p>
            <a:endParaRPr lang="en-US" sz="1600" dirty="0"/>
          </a:p>
        </p:txBody>
      </p:sp>
      <p:sp>
        <p:nvSpPr>
          <p:cNvPr id="4" name="Slide Number Placeholder 3"/>
          <p:cNvSpPr>
            <a:spLocks noGrp="1"/>
          </p:cNvSpPr>
          <p:nvPr>
            <p:ph type="sldNum" sz="quarter" idx="5"/>
          </p:nvPr>
        </p:nvSpPr>
        <p:spPr/>
        <p:txBody>
          <a:bodyPr/>
          <a:lstStyle/>
          <a:p>
            <a:fld id="{A3245389-678B-E049-8A84-E1BE482AD07B}" type="slidenum">
              <a:rPr lang="en-US" smtClean="0"/>
              <a:t>11</a:t>
            </a:fld>
            <a:endParaRPr lang="en-US"/>
          </a:p>
        </p:txBody>
      </p:sp>
    </p:spTree>
    <p:extLst>
      <p:ext uri="{BB962C8B-B14F-4D97-AF65-F5344CB8AC3E}">
        <p14:creationId xmlns:p14="http://schemas.microsoft.com/office/powerpoint/2010/main" val="56551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14042"/>
                </a:solidFill>
                <a:effectLst/>
                <a:latin typeface="Inter"/>
              </a:rPr>
              <a:t>We can eliminate the answer (A) because it is missing a circle. We can further eliminate answers (B) and (D), because the star is in the wrong position, and the answer (C) because it has the circle in the wrong place.</a:t>
            </a:r>
          </a:p>
          <a:p>
            <a:r>
              <a:rPr lang="en-US" b="0" i="0" dirty="0">
                <a:solidFill>
                  <a:srgbClr val="414042"/>
                </a:solidFill>
                <a:effectLst/>
                <a:latin typeface="Inter"/>
              </a:rPr>
              <a:t>Therefore, we are left with the answer (E) choice as the only correct solution.</a:t>
            </a:r>
          </a:p>
          <a:p>
            <a:endParaRPr lang="en-US" b="0" i="0" dirty="0">
              <a:solidFill>
                <a:srgbClr val="414042"/>
              </a:solidFill>
              <a:effectLst/>
              <a:latin typeface="Inter"/>
            </a:endParaRPr>
          </a:p>
        </p:txBody>
      </p:sp>
      <p:sp>
        <p:nvSpPr>
          <p:cNvPr id="4" name="Slide Number Placeholder 3"/>
          <p:cNvSpPr>
            <a:spLocks noGrp="1"/>
          </p:cNvSpPr>
          <p:nvPr>
            <p:ph type="sldNum" sz="quarter" idx="5"/>
          </p:nvPr>
        </p:nvSpPr>
        <p:spPr/>
        <p:txBody>
          <a:bodyPr/>
          <a:lstStyle/>
          <a:p>
            <a:fld id="{A3245389-678B-E049-8A84-E1BE482AD07B}" type="slidenum">
              <a:rPr lang="en-US" smtClean="0"/>
              <a:t>13</a:t>
            </a:fld>
            <a:endParaRPr lang="en-US"/>
          </a:p>
        </p:txBody>
      </p:sp>
    </p:spTree>
    <p:extLst>
      <p:ext uri="{BB962C8B-B14F-4D97-AF65-F5344CB8AC3E}">
        <p14:creationId xmlns:p14="http://schemas.microsoft.com/office/powerpoint/2010/main" val="56551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dirty="0">
                <a:solidFill>
                  <a:srgbClr val="414042"/>
                </a:solidFill>
                <a:effectLst/>
                <a:latin typeface="Inter"/>
              </a:rPr>
              <a:t>We can eliminate the answer (A) because it is missing a circle. We can further eliminate answers (B) and (D), because the star is in the wrong position, and the answer (C) because it has the circle in the wrong place.</a:t>
            </a:r>
          </a:p>
          <a:p>
            <a:r>
              <a:rPr lang="en-US" sz="1200" b="0" i="0" dirty="0">
                <a:solidFill>
                  <a:srgbClr val="414042"/>
                </a:solidFill>
                <a:effectLst/>
                <a:latin typeface="Inter"/>
              </a:rPr>
              <a:t>Therefore, we are left with the answer (E) choice as the only correct solution.</a:t>
            </a:r>
          </a:p>
          <a:p>
            <a:endParaRPr lang="en-US" sz="1600" dirty="0"/>
          </a:p>
        </p:txBody>
      </p:sp>
      <p:sp>
        <p:nvSpPr>
          <p:cNvPr id="4" name="Slide Number Placeholder 3"/>
          <p:cNvSpPr>
            <a:spLocks noGrp="1"/>
          </p:cNvSpPr>
          <p:nvPr>
            <p:ph type="sldNum" sz="quarter" idx="5"/>
          </p:nvPr>
        </p:nvSpPr>
        <p:spPr/>
        <p:txBody>
          <a:bodyPr/>
          <a:lstStyle/>
          <a:p>
            <a:fld id="{A3245389-678B-E049-8A84-E1BE482AD07B}" type="slidenum">
              <a:rPr lang="en-US" smtClean="0"/>
              <a:t>15</a:t>
            </a:fld>
            <a:endParaRPr lang="en-US"/>
          </a:p>
        </p:txBody>
      </p:sp>
    </p:spTree>
    <p:extLst>
      <p:ext uri="{BB962C8B-B14F-4D97-AF65-F5344CB8AC3E}">
        <p14:creationId xmlns:p14="http://schemas.microsoft.com/office/powerpoint/2010/main" val="56551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14042"/>
                </a:solidFill>
                <a:effectLst/>
                <a:latin typeface="Inter"/>
              </a:rPr>
              <a:t>You have probably noticed that the amount, type and </a:t>
            </a:r>
            <a:r>
              <a:rPr lang="en-US" b="0" i="0" dirty="0" err="1">
                <a:solidFill>
                  <a:srgbClr val="414042"/>
                </a:solidFill>
                <a:effectLst/>
                <a:latin typeface="Inter"/>
              </a:rPr>
              <a:t>colour</a:t>
            </a:r>
            <a:r>
              <a:rPr lang="en-US" b="0" i="0" dirty="0">
                <a:solidFill>
                  <a:srgbClr val="414042"/>
                </a:solidFill>
                <a:effectLst/>
                <a:latin typeface="Inter"/>
              </a:rPr>
              <a:t> of items are insignificant features and simply distracters.</a:t>
            </a:r>
          </a:p>
        </p:txBody>
      </p:sp>
      <p:sp>
        <p:nvSpPr>
          <p:cNvPr id="4" name="Slide Number Placeholder 3"/>
          <p:cNvSpPr>
            <a:spLocks noGrp="1"/>
          </p:cNvSpPr>
          <p:nvPr>
            <p:ph type="sldNum" sz="quarter" idx="5"/>
          </p:nvPr>
        </p:nvSpPr>
        <p:spPr/>
        <p:txBody>
          <a:bodyPr/>
          <a:lstStyle/>
          <a:p>
            <a:fld id="{A3245389-678B-E049-8A84-E1BE482AD07B}" type="slidenum">
              <a:rPr lang="en-US" smtClean="0"/>
              <a:t>18</a:t>
            </a:fld>
            <a:endParaRPr lang="en-US"/>
          </a:p>
        </p:txBody>
      </p:sp>
    </p:spTree>
    <p:extLst>
      <p:ext uri="{BB962C8B-B14F-4D97-AF65-F5344CB8AC3E}">
        <p14:creationId xmlns:p14="http://schemas.microsoft.com/office/powerpoint/2010/main" val="56551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14042"/>
                </a:solidFill>
                <a:effectLst/>
                <a:latin typeface="Inter"/>
              </a:rPr>
              <a:t>Answer (B) can be eliminated as the blank section remains blank, and the dotted area becomes shaded instead of becoming blank.</a:t>
            </a:r>
            <a:br>
              <a:rPr lang="en-US" b="0" i="0" dirty="0">
                <a:solidFill>
                  <a:srgbClr val="414042"/>
                </a:solidFill>
                <a:effectLst/>
                <a:latin typeface="Inter"/>
              </a:rPr>
            </a:br>
            <a:r>
              <a:rPr lang="en-US" b="0" i="0" dirty="0">
                <a:solidFill>
                  <a:srgbClr val="414042"/>
                </a:solidFill>
                <a:effectLst/>
                <a:latin typeface="Inter"/>
              </a:rPr>
              <a:t>Answer (C) can be eliminated as the dotted section remains dotted.</a:t>
            </a:r>
            <a:br>
              <a:rPr lang="en-US" b="0" i="0" dirty="0">
                <a:solidFill>
                  <a:srgbClr val="414042"/>
                </a:solidFill>
                <a:effectLst/>
                <a:latin typeface="Inter"/>
              </a:rPr>
            </a:br>
            <a:r>
              <a:rPr lang="en-US" b="0" i="0" dirty="0">
                <a:solidFill>
                  <a:srgbClr val="414042"/>
                </a:solidFill>
                <a:effectLst/>
                <a:latin typeface="Inter"/>
              </a:rPr>
              <a:t>Answer (D) can be eliminated as the blank section becomes dotted instead of shaded, and the dotted area becomes shaded instead of blank.</a:t>
            </a:r>
            <a:br>
              <a:rPr lang="en-US" b="0" i="0" dirty="0">
                <a:solidFill>
                  <a:srgbClr val="414042"/>
                </a:solidFill>
                <a:effectLst/>
                <a:latin typeface="Inter"/>
              </a:rPr>
            </a:br>
            <a:r>
              <a:rPr lang="en-US" b="0" i="0" dirty="0">
                <a:solidFill>
                  <a:srgbClr val="414042"/>
                </a:solidFill>
                <a:effectLst/>
                <a:latin typeface="Inter"/>
              </a:rPr>
              <a:t>Answer (E) can be eliminated as the blank section becomes dotted instead of shaded.</a:t>
            </a:r>
          </a:p>
          <a:p>
            <a:r>
              <a:rPr lang="en-US" b="0" i="0" dirty="0">
                <a:solidFill>
                  <a:srgbClr val="414042"/>
                </a:solidFill>
                <a:effectLst/>
                <a:latin typeface="Inter"/>
              </a:rPr>
              <a:t>We are left with answer 1, which is the correct answer, as it portrays figure Z while the blank section becomes shaded and the dotted area becomes blank.</a:t>
            </a:r>
          </a:p>
          <a:p>
            <a:endParaRPr lang="en-US" b="0" i="0" dirty="0">
              <a:solidFill>
                <a:srgbClr val="414042"/>
              </a:solidFill>
              <a:effectLst/>
              <a:latin typeface="Inter"/>
            </a:endParaRPr>
          </a:p>
        </p:txBody>
      </p:sp>
      <p:sp>
        <p:nvSpPr>
          <p:cNvPr id="4" name="Slide Number Placeholder 3"/>
          <p:cNvSpPr>
            <a:spLocks noGrp="1"/>
          </p:cNvSpPr>
          <p:nvPr>
            <p:ph type="sldNum" sz="quarter" idx="5"/>
          </p:nvPr>
        </p:nvSpPr>
        <p:spPr/>
        <p:txBody>
          <a:bodyPr/>
          <a:lstStyle/>
          <a:p>
            <a:fld id="{A3245389-678B-E049-8A84-E1BE482AD07B}" type="slidenum">
              <a:rPr lang="en-US" smtClean="0"/>
              <a:t>20</a:t>
            </a:fld>
            <a:endParaRPr lang="en-US"/>
          </a:p>
        </p:txBody>
      </p:sp>
    </p:spTree>
    <p:extLst>
      <p:ext uri="{BB962C8B-B14F-4D97-AF65-F5344CB8AC3E}">
        <p14:creationId xmlns:p14="http://schemas.microsoft.com/office/powerpoint/2010/main" val="56551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14042"/>
                </a:solidFill>
                <a:effectLst/>
                <a:latin typeface="Inter"/>
              </a:rPr>
              <a:t>Visualizing the entire figure flipped vertically can be challenging, breaking figure Z into smaller parts and imagining those parts flipped independently. First, notice the two triangles: the outer triangle on the left-hand side and the inner triangle. If you try to visualize the outer triangle flipped vertically, you will realize it looks the same.</a:t>
            </a:r>
            <a:br>
              <a:rPr lang="en-US" dirty="0"/>
            </a:br>
            <a:r>
              <a:rPr lang="en-US" b="0" i="0" dirty="0">
                <a:solidFill>
                  <a:srgbClr val="414042"/>
                </a:solidFill>
                <a:effectLst/>
                <a:latin typeface="Inter"/>
              </a:rPr>
              <a:t>Based on this alone, you can already solve the problem. The only two answer choices that show the outer triangle unchanged are answers three and. As stated above, answer five can be eliminated since it is identical to figure Z.</a:t>
            </a:r>
            <a:br>
              <a:rPr lang="en-US" dirty="0"/>
            </a:br>
            <a:r>
              <a:rPr lang="en-US" b="0" i="0" dirty="0">
                <a:solidFill>
                  <a:srgbClr val="414042"/>
                </a:solidFill>
                <a:effectLst/>
                <a:latin typeface="Inter"/>
              </a:rPr>
              <a:t>If you want to examine further, notice that the inner triangle base in figure Z is on top.</a:t>
            </a:r>
            <a:br>
              <a:rPr lang="en-US" dirty="0"/>
            </a:br>
            <a:r>
              <a:rPr lang="en-US" b="0" i="0" dirty="0">
                <a:solidFill>
                  <a:srgbClr val="414042"/>
                </a:solidFill>
                <a:effectLst/>
                <a:latin typeface="Inter"/>
              </a:rPr>
              <a:t>In contrast, the triangle 'points down'. If it is then flipped vertically, the ground will be on the bottom while the triangle 'points up'.</a:t>
            </a:r>
          </a:p>
        </p:txBody>
      </p:sp>
      <p:sp>
        <p:nvSpPr>
          <p:cNvPr id="4" name="Slide Number Placeholder 3"/>
          <p:cNvSpPr>
            <a:spLocks noGrp="1"/>
          </p:cNvSpPr>
          <p:nvPr>
            <p:ph type="sldNum" sz="quarter" idx="5"/>
          </p:nvPr>
        </p:nvSpPr>
        <p:spPr/>
        <p:txBody>
          <a:bodyPr/>
          <a:lstStyle/>
          <a:p>
            <a:fld id="{A3245389-678B-E049-8A84-E1BE482AD07B}" type="slidenum">
              <a:rPr lang="en-US" smtClean="0"/>
              <a:t>22</a:t>
            </a:fld>
            <a:endParaRPr lang="en-US"/>
          </a:p>
        </p:txBody>
      </p:sp>
    </p:spTree>
    <p:extLst>
      <p:ext uri="{BB962C8B-B14F-4D97-AF65-F5344CB8AC3E}">
        <p14:creationId xmlns:p14="http://schemas.microsoft.com/office/powerpoint/2010/main" val="56551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The black area is increasing in size each step</a:t>
            </a:r>
          </a:p>
          <a:p>
            <a:r>
              <a:rPr lang="en-US" b="1" dirty="0"/>
              <a:t>1st figure:</a:t>
            </a:r>
            <a:r>
              <a:rPr lang="en-US" dirty="0"/>
              <a:t> small black triangle</a:t>
            </a:r>
          </a:p>
          <a:p>
            <a:r>
              <a:rPr lang="en-US" b="1" dirty="0"/>
              <a:t>2nd figure:</a:t>
            </a:r>
            <a:r>
              <a:rPr lang="en-US" dirty="0"/>
              <a:t> larger arrow-like shape</a:t>
            </a:r>
          </a:p>
          <a:p>
            <a:r>
              <a:rPr lang="en-US" b="1" dirty="0"/>
              <a:t>3rd figure:</a:t>
            </a:r>
            <a:r>
              <a:rPr lang="en-US" dirty="0"/>
              <a:t> larger block with diagonal cut</a:t>
            </a:r>
          </a:p>
          <a:p>
            <a:r>
              <a:rPr lang="en-US" b="1" dirty="0"/>
              <a:t>4th figure:</a:t>
            </a:r>
            <a:r>
              <a:rPr lang="en-US" dirty="0"/>
              <a:t> largest so far — half the square</a:t>
            </a:r>
          </a:p>
          <a:p>
            <a:r>
              <a:rPr lang="en-US" dirty="0"/>
              <a:t>👉 So the </a:t>
            </a:r>
            <a:r>
              <a:rPr lang="en-US" b="1" dirty="0"/>
              <a:t>next figure must be even larger</a:t>
            </a:r>
            <a:r>
              <a:rPr lang="en-US" dirty="0"/>
              <a:t>, not smaller.</a:t>
            </a:r>
          </a:p>
          <a:p>
            <a:r>
              <a:rPr lang="en-US" dirty="0"/>
              <a:t>This immediately eliminates </a:t>
            </a:r>
            <a:r>
              <a:rPr lang="en-US" b="1" dirty="0"/>
              <a:t>A, B, and C</a:t>
            </a:r>
            <a:r>
              <a:rPr lang="en-US" dirty="0"/>
              <a:t>, because they reduce or break the growth pattern.</a:t>
            </a:r>
          </a:p>
          <a:p>
            <a:endParaRPr lang="en-PH" dirty="0"/>
          </a:p>
          <a:p>
            <a:endParaRPr lang="en-PH" dirty="0"/>
          </a:p>
        </p:txBody>
      </p:sp>
      <p:sp>
        <p:nvSpPr>
          <p:cNvPr id="4" name="Slide Number Placeholder 3"/>
          <p:cNvSpPr>
            <a:spLocks noGrp="1"/>
          </p:cNvSpPr>
          <p:nvPr>
            <p:ph type="sldNum" sz="quarter" idx="5"/>
          </p:nvPr>
        </p:nvSpPr>
        <p:spPr/>
        <p:txBody>
          <a:bodyPr/>
          <a:lstStyle/>
          <a:p>
            <a:fld id="{A3245389-678B-E049-8A84-E1BE482AD07B}" type="slidenum">
              <a:rPr lang="en-US" smtClean="0"/>
              <a:t>24</a:t>
            </a:fld>
            <a:endParaRPr lang="en-US"/>
          </a:p>
        </p:txBody>
      </p:sp>
    </p:spTree>
    <p:extLst>
      <p:ext uri="{BB962C8B-B14F-4D97-AF65-F5344CB8AC3E}">
        <p14:creationId xmlns:p14="http://schemas.microsoft.com/office/powerpoint/2010/main" val="2203166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CF9C2-B12C-8B71-27D0-116BBB5FD0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6B3B5-D9E2-F2BF-6E09-66313EB76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F82A1A-F54F-1C70-E778-14F0A6A2D4B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BD71131-E2C4-3883-02D3-A1B4A5B37FA1}"/>
              </a:ext>
            </a:extLst>
          </p:cNvPr>
          <p:cNvSpPr>
            <a:spLocks noGrp="1"/>
          </p:cNvSpPr>
          <p:nvPr>
            <p:ph type="sldNum" sz="quarter" idx="5"/>
          </p:nvPr>
        </p:nvSpPr>
        <p:spPr/>
        <p:txBody>
          <a:bodyPr/>
          <a:lstStyle/>
          <a:p>
            <a:fld id="{A3245389-678B-E049-8A84-E1BE482AD07B}" type="slidenum">
              <a:rPr lang="en-US" smtClean="0"/>
              <a:t>25</a:t>
            </a:fld>
            <a:endParaRPr lang="en-US"/>
          </a:p>
        </p:txBody>
      </p:sp>
    </p:spTree>
    <p:extLst>
      <p:ext uri="{BB962C8B-B14F-4D97-AF65-F5344CB8AC3E}">
        <p14:creationId xmlns:p14="http://schemas.microsoft.com/office/powerpoint/2010/main" val="1519404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BEF10-F5C4-B0AD-75E0-1958209FE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44E14-4DB7-7564-723B-F70F03D8D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44A12-9C61-54FC-443B-0C1BBAA525FA}"/>
              </a:ext>
            </a:extLst>
          </p:cNvPr>
          <p:cNvSpPr>
            <a:spLocks noGrp="1"/>
          </p:cNvSpPr>
          <p:nvPr>
            <p:ph type="body" idx="1"/>
          </p:nvPr>
        </p:nvSpPr>
        <p:spPr/>
        <p:txBody>
          <a:bodyPr/>
          <a:lstStyle/>
          <a:p>
            <a:pPr fontAlgn="t"/>
            <a:r>
              <a:rPr lang="en-US" sz="1200" b="1" i="0" kern="1200" dirty="0" err="1">
                <a:solidFill>
                  <a:schemeClr val="tx1"/>
                </a:solidFill>
                <a:effectLst/>
                <a:latin typeface="+mn-lt"/>
                <a:ea typeface="+mn-ea"/>
                <a:cs typeface="+mn-cs"/>
              </a:rPr>
              <a:t>Pwde</a:t>
            </a:r>
            <a:r>
              <a:rPr lang="en-US" sz="1200" b="1" i="0" kern="1200" dirty="0">
                <a:solidFill>
                  <a:schemeClr val="tx1"/>
                </a:solidFill>
                <a:effectLst/>
                <a:latin typeface="+mn-lt"/>
                <a:ea typeface="+mn-ea"/>
                <a:cs typeface="+mn-cs"/>
              </a:rPr>
              <a:t> natin </a:t>
            </a:r>
            <a:r>
              <a:rPr lang="en-US" sz="1200" b="1" i="0" kern="1200" dirty="0" err="1">
                <a:solidFill>
                  <a:schemeClr val="tx1"/>
                </a:solidFill>
                <a:effectLst/>
                <a:latin typeface="+mn-lt"/>
                <a:ea typeface="+mn-ea"/>
                <a:cs typeface="+mn-cs"/>
              </a:rPr>
              <a:t>tingnan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yung</a:t>
            </a:r>
            <a:r>
              <a:rPr lang="en-US" sz="1200" b="1" i="0" kern="1200" dirty="0">
                <a:solidFill>
                  <a:schemeClr val="tx1"/>
                </a:solidFill>
                <a:effectLst/>
                <a:latin typeface="+mn-lt"/>
                <a:ea typeface="+mn-ea"/>
                <a:cs typeface="+mn-cs"/>
              </a:rPr>
              <a:t> shape </a:t>
            </a:r>
            <a:r>
              <a:rPr lang="en-US" sz="1200" b="1" i="0" kern="1200" dirty="0" err="1">
                <a:solidFill>
                  <a:schemeClr val="tx1"/>
                </a:solidFill>
                <a:effectLst/>
                <a:latin typeface="+mn-lt"/>
                <a:ea typeface="+mn-ea"/>
                <a:cs typeface="+mn-cs"/>
              </a:rPr>
              <a:t>na</a:t>
            </a:r>
            <a:r>
              <a:rPr lang="en-US" sz="1200" b="1" i="0" kern="1200" dirty="0">
                <a:solidFill>
                  <a:schemeClr val="tx1"/>
                </a:solidFill>
                <a:effectLst/>
                <a:latin typeface="+mn-lt"/>
                <a:ea typeface="+mn-ea"/>
                <a:cs typeface="+mn-cs"/>
              </a:rPr>
              <a:t> existing </a:t>
            </a:r>
            <a:r>
              <a:rPr lang="en-US" sz="1200" b="1" i="0" kern="1200" dirty="0" err="1">
                <a:solidFill>
                  <a:schemeClr val="tx1"/>
                </a:solidFill>
                <a:effectLst/>
                <a:latin typeface="+mn-lt"/>
                <a:ea typeface="+mn-ea"/>
                <a:cs typeface="+mn-cs"/>
              </a:rPr>
              <a:t>sa</a:t>
            </a:r>
            <a:r>
              <a:rPr lang="en-US" sz="1200" b="1" i="0" kern="1200" dirty="0">
                <a:solidFill>
                  <a:schemeClr val="tx1"/>
                </a:solidFill>
                <a:effectLst/>
                <a:latin typeface="+mn-lt"/>
                <a:ea typeface="+mn-ea"/>
                <a:cs typeface="+mn-cs"/>
              </a:rPr>
              <a:t> lahat ng boxes- </a:t>
            </a:r>
            <a:r>
              <a:rPr lang="en-US" sz="1200" b="1" i="0" kern="1200" dirty="0" err="1">
                <a:solidFill>
                  <a:schemeClr val="tx1"/>
                </a:solidFill>
                <a:effectLst/>
                <a:latin typeface="+mn-lt"/>
                <a:ea typeface="+mn-ea"/>
                <a:cs typeface="+mn-cs"/>
              </a:rPr>
              <a:t>yung</a:t>
            </a:r>
            <a:r>
              <a:rPr lang="en-US" sz="1200" b="1" i="0" kern="1200" dirty="0">
                <a:solidFill>
                  <a:schemeClr val="tx1"/>
                </a:solidFill>
                <a:effectLst/>
                <a:latin typeface="+mn-lt"/>
                <a:ea typeface="+mn-ea"/>
                <a:cs typeface="+mn-cs"/>
              </a:rPr>
              <a:t> SQUARE</a:t>
            </a:r>
          </a:p>
          <a:p>
            <a:pPr fontAlgn="t"/>
            <a:r>
              <a:rPr lang="en-US" sz="1200" b="1" i="0" kern="1200" dirty="0">
                <a:solidFill>
                  <a:schemeClr val="tx1"/>
                </a:solidFill>
                <a:effectLst/>
                <a:latin typeface="+mn-lt"/>
                <a:ea typeface="+mn-ea"/>
                <a:cs typeface="+mn-cs"/>
              </a:rPr>
              <a:t>Yung shapes </a:t>
            </a:r>
            <a:r>
              <a:rPr lang="en-US" sz="1200" b="1" i="0" kern="1200" dirty="0" err="1">
                <a:solidFill>
                  <a:schemeClr val="tx1"/>
                </a:solidFill>
                <a:effectLst/>
                <a:latin typeface="+mn-lt"/>
                <a:ea typeface="+mn-ea"/>
                <a:cs typeface="+mn-cs"/>
              </a:rPr>
              <a:t>hindi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nagrerepeat</a:t>
            </a:r>
            <a:r>
              <a:rPr lang="en-US" sz="1200" b="1" i="0" kern="1200" dirty="0">
                <a:solidFill>
                  <a:schemeClr val="tx1"/>
                </a:solidFill>
                <a:effectLst/>
                <a:latin typeface="+mn-lt"/>
                <a:ea typeface="+mn-ea"/>
                <a:cs typeface="+mn-cs"/>
              </a:rPr>
              <a:t> ng position in the pattern</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Why not A, B, or D?</a:t>
            </a:r>
          </a:p>
          <a:p>
            <a:pPr fontAlgn="t"/>
            <a:r>
              <a:rPr lang="en-US" sz="1200" b="1" i="0" kern="1200" dirty="0">
                <a:solidFill>
                  <a:schemeClr val="tx1"/>
                </a:solidFill>
                <a:effectLst/>
                <a:latin typeface="+mn-lt"/>
                <a:ea typeface="+mn-ea"/>
                <a:cs typeface="+mn-cs"/>
              </a:rPr>
              <a:t>A</a:t>
            </a:r>
            <a:r>
              <a:rPr lang="en-US" sz="1200" b="0" i="0" kern="1200" dirty="0">
                <a:solidFill>
                  <a:schemeClr val="tx1"/>
                </a:solidFill>
                <a:effectLst/>
                <a:latin typeface="+mn-lt"/>
                <a:ea typeface="+mn-ea"/>
                <a:cs typeface="+mn-cs"/>
              </a:rPr>
              <a:t> breaks the </a:t>
            </a:r>
            <a:r>
              <a:rPr lang="en-US" sz="1200" b="1" i="0" kern="1200" dirty="0">
                <a:solidFill>
                  <a:schemeClr val="tx1"/>
                </a:solidFill>
                <a:effectLst/>
                <a:latin typeface="+mn-lt"/>
                <a:ea typeface="+mn-ea"/>
                <a:cs typeface="+mn-cs"/>
              </a:rPr>
              <a:t>clockwise edge progression</a:t>
            </a:r>
            <a:r>
              <a:rPr lang="en-US" sz="1200" b="0" i="0" kern="1200" dirty="0">
                <a:solidFill>
                  <a:schemeClr val="tx1"/>
                </a:solidFill>
                <a:effectLst/>
                <a:latin typeface="+mn-lt"/>
                <a:ea typeface="+mn-ea"/>
                <a:cs typeface="+mn-cs"/>
              </a:rPr>
              <a:t> for at least one bar.</a:t>
            </a:r>
          </a:p>
          <a:p>
            <a:pPr fontAlgn="t"/>
            <a:r>
              <a:rPr lang="en-US" sz="1200" b="1" i="0" kern="1200" dirty="0">
                <a:solidFill>
                  <a:schemeClr val="tx1"/>
                </a:solidFill>
                <a:effectLst/>
                <a:latin typeface="+mn-lt"/>
                <a:ea typeface="+mn-ea"/>
                <a:cs typeface="+mn-cs"/>
              </a:rPr>
              <a:t>B</a:t>
            </a:r>
            <a:r>
              <a:rPr lang="en-US" sz="1200" b="0" i="0" kern="1200" dirty="0">
                <a:solidFill>
                  <a:schemeClr val="tx1"/>
                </a:solidFill>
                <a:effectLst/>
                <a:latin typeface="+mn-lt"/>
                <a:ea typeface="+mn-ea"/>
                <a:cs typeface="+mn-cs"/>
              </a:rPr>
              <a:t> satisfies part of the edge placement but </a:t>
            </a:r>
            <a:r>
              <a:rPr lang="en-US" sz="1200" b="1" i="0" kern="1200" dirty="0">
                <a:solidFill>
                  <a:schemeClr val="tx1"/>
                </a:solidFill>
                <a:effectLst/>
                <a:latin typeface="+mn-lt"/>
                <a:ea typeface="+mn-ea"/>
                <a:cs typeface="+mn-cs"/>
              </a:rPr>
              <a:t>fails the column toggle/swap</a:t>
            </a:r>
            <a:r>
              <a:rPr lang="en-US" sz="1200" b="0" i="0" kern="1200" dirty="0">
                <a:solidFill>
                  <a:schemeClr val="tx1"/>
                </a:solidFill>
                <a:effectLst/>
                <a:latin typeface="+mn-lt"/>
                <a:ea typeface="+mn-ea"/>
                <a:cs typeface="+mn-cs"/>
              </a:rPr>
              <a:t> for the small shapes.</a:t>
            </a:r>
          </a:p>
          <a:p>
            <a:pPr fontAlgn="t"/>
            <a:r>
              <a:rPr lang="en-US" sz="1200" b="1" i="0" kern="1200" dirty="0">
                <a:solidFill>
                  <a:schemeClr val="tx1"/>
                </a:solidFill>
                <a:effectLst/>
                <a:latin typeface="+mn-lt"/>
                <a:ea typeface="+mn-ea"/>
                <a:cs typeface="+mn-cs"/>
              </a:rPr>
              <a:t>D</a:t>
            </a:r>
            <a:r>
              <a:rPr lang="en-US" sz="1200" b="0" i="0" kern="1200" dirty="0">
                <a:solidFill>
                  <a:schemeClr val="tx1"/>
                </a:solidFill>
                <a:effectLst/>
                <a:latin typeface="+mn-lt"/>
                <a:ea typeface="+mn-ea"/>
                <a:cs typeface="+mn-cs"/>
              </a:rPr>
              <a:t> gets the toggle closer but </a:t>
            </a:r>
            <a:r>
              <a:rPr lang="en-US" sz="1200" b="1" i="0" kern="1200" dirty="0">
                <a:solidFill>
                  <a:schemeClr val="tx1"/>
                </a:solidFill>
                <a:effectLst/>
                <a:latin typeface="+mn-lt"/>
                <a:ea typeface="+mn-ea"/>
                <a:cs typeface="+mn-cs"/>
              </a:rPr>
              <a:t>misplaces a bar</a:t>
            </a:r>
            <a:r>
              <a:rPr lang="en-US" sz="1200" b="0" i="0" kern="1200" dirty="0">
                <a:solidFill>
                  <a:schemeClr val="tx1"/>
                </a:solidFill>
                <a:effectLst/>
                <a:latin typeface="+mn-lt"/>
                <a:ea typeface="+mn-ea"/>
                <a:cs typeface="+mn-cs"/>
              </a:rPr>
              <a:t> (violates the one‑step clockwise advance in the row).</a:t>
            </a:r>
          </a:p>
        </p:txBody>
      </p:sp>
      <p:sp>
        <p:nvSpPr>
          <p:cNvPr id="4" name="Slide Number Placeholder 3">
            <a:extLst>
              <a:ext uri="{FF2B5EF4-FFF2-40B4-BE49-F238E27FC236}">
                <a16:creationId xmlns:a16="http://schemas.microsoft.com/office/drawing/2014/main" id="{AF4411CB-1927-ADC4-DA7F-73CDB8644CAE}"/>
              </a:ext>
            </a:extLst>
          </p:cNvPr>
          <p:cNvSpPr>
            <a:spLocks noGrp="1"/>
          </p:cNvSpPr>
          <p:nvPr>
            <p:ph type="sldNum" sz="quarter" idx="5"/>
          </p:nvPr>
        </p:nvSpPr>
        <p:spPr/>
        <p:txBody>
          <a:bodyPr/>
          <a:lstStyle/>
          <a:p>
            <a:fld id="{A3245389-678B-E049-8A84-E1BE482AD07B}" type="slidenum">
              <a:rPr lang="en-US" smtClean="0"/>
              <a:t>26</a:t>
            </a:fld>
            <a:endParaRPr lang="en-US"/>
          </a:p>
        </p:txBody>
      </p:sp>
    </p:spTree>
    <p:extLst>
      <p:ext uri="{BB962C8B-B14F-4D97-AF65-F5344CB8AC3E}">
        <p14:creationId xmlns:p14="http://schemas.microsoft.com/office/powerpoint/2010/main" val="3935042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74E03-C614-EDEE-FE6E-A2B44E089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1E3CC-CD8E-BA15-F82A-DDDD3F7D1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E1062A-0D6E-B4A3-2BB0-239405085DB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7254695-AC5C-D727-AEC4-F0DC23DA3E12}"/>
              </a:ext>
            </a:extLst>
          </p:cNvPr>
          <p:cNvSpPr>
            <a:spLocks noGrp="1"/>
          </p:cNvSpPr>
          <p:nvPr>
            <p:ph type="sldNum" sz="quarter" idx="5"/>
          </p:nvPr>
        </p:nvSpPr>
        <p:spPr/>
        <p:txBody>
          <a:bodyPr/>
          <a:lstStyle/>
          <a:p>
            <a:fld id="{A3245389-678B-E049-8A84-E1BE482AD07B}" type="slidenum">
              <a:rPr lang="en-US" smtClean="0"/>
              <a:t>27</a:t>
            </a:fld>
            <a:endParaRPr lang="en-US"/>
          </a:p>
        </p:txBody>
      </p:sp>
    </p:spTree>
    <p:extLst>
      <p:ext uri="{BB962C8B-B14F-4D97-AF65-F5344CB8AC3E}">
        <p14:creationId xmlns:p14="http://schemas.microsoft.com/office/powerpoint/2010/main" val="3405362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11BB1-D671-A7E6-F359-429685130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9AD63-32CB-3002-91DE-A20797C059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E56CA-7BF2-E22C-043B-81810255955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F0620F5-925E-77CF-8ECF-CFC5028E05AB}"/>
              </a:ext>
            </a:extLst>
          </p:cNvPr>
          <p:cNvSpPr>
            <a:spLocks noGrp="1"/>
          </p:cNvSpPr>
          <p:nvPr>
            <p:ph type="sldNum" sz="quarter" idx="5"/>
          </p:nvPr>
        </p:nvSpPr>
        <p:spPr/>
        <p:txBody>
          <a:bodyPr/>
          <a:lstStyle/>
          <a:p>
            <a:fld id="{A3245389-678B-E049-8A84-E1BE482AD07B}" type="slidenum">
              <a:rPr lang="en-US" smtClean="0"/>
              <a:t>28</a:t>
            </a:fld>
            <a:endParaRPr lang="en-US"/>
          </a:p>
        </p:txBody>
      </p:sp>
    </p:spTree>
    <p:extLst>
      <p:ext uri="{BB962C8B-B14F-4D97-AF65-F5344CB8AC3E}">
        <p14:creationId xmlns:p14="http://schemas.microsoft.com/office/powerpoint/2010/main" val="132952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Counter clockwise movement of the magnet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a:solidFill>
                  <a:schemeClr val="tx1"/>
                </a:solidFill>
                <a:effectLst/>
                <a:latin typeface="+mn-lt"/>
                <a:ea typeface="+mn-ea"/>
                <a:cs typeface="+mn-cs"/>
              </a:rPr>
              <a:t>Diappearance</a:t>
            </a:r>
            <a:r>
              <a:rPr lang="en-US" sz="1200" b="1" i="0" kern="1200" dirty="0">
                <a:solidFill>
                  <a:schemeClr val="tx1"/>
                </a:solidFill>
                <a:effectLst/>
                <a:latin typeface="+mn-lt"/>
                <a:ea typeface="+mn-ea"/>
                <a:cs typeface="+mn-cs"/>
              </a:rPr>
              <a:t> of the magnet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p:cNvSpPr>
            <a:spLocks noGrp="1"/>
          </p:cNvSpPr>
          <p:nvPr>
            <p:ph type="sldNum" sz="quarter" idx="5"/>
          </p:nvPr>
        </p:nvSpPr>
        <p:spPr/>
        <p:txBody>
          <a:bodyPr/>
          <a:lstStyle/>
          <a:p>
            <a:fld id="{A3245389-678B-E049-8A84-E1BE482AD07B}" type="slidenum">
              <a:rPr lang="en-US" smtClean="0"/>
              <a:t>29</a:t>
            </a:fld>
            <a:endParaRPr lang="en-US"/>
          </a:p>
        </p:txBody>
      </p:sp>
    </p:spTree>
    <p:extLst>
      <p:ext uri="{BB962C8B-B14F-4D97-AF65-F5344CB8AC3E}">
        <p14:creationId xmlns:p14="http://schemas.microsoft.com/office/powerpoint/2010/main" val="3188727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1/17/2026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1/17/2026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1/17/2026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E6C9B-E6A0-D1BD-DDC8-E1755451095A}"/>
              </a:ext>
            </a:extLst>
          </p:cNvPr>
          <p:cNvSpPr>
            <a:spLocks noGrp="1"/>
          </p:cNvSpPr>
          <p:nvPr>
            <p:ph type="ctrTitle"/>
          </p:nvPr>
        </p:nvSpPr>
        <p:spPr/>
        <p:txBody>
          <a:bodyPr/>
          <a:lstStyle/>
          <a:p>
            <a:r>
              <a:rPr lang="en-US" dirty="0"/>
              <a:t>ABSTRACT REASONING</a:t>
            </a:r>
          </a:p>
        </p:txBody>
      </p:sp>
      <p:sp>
        <p:nvSpPr>
          <p:cNvPr id="3" name="Subtitle 2">
            <a:extLst>
              <a:ext uri="{FF2B5EF4-FFF2-40B4-BE49-F238E27FC236}">
                <a16:creationId xmlns:a16="http://schemas.microsoft.com/office/drawing/2014/main" id="{43FF5776-93DC-DA97-8319-71129277F4DE}"/>
              </a:ext>
            </a:extLst>
          </p:cNvPr>
          <p:cNvSpPr>
            <a:spLocks noGrp="1"/>
          </p:cNvSpPr>
          <p:nvPr>
            <p:ph type="subTitle" idx="1"/>
          </p:nvPr>
        </p:nvSpPr>
        <p:spPr/>
        <p:txBody>
          <a:bodyPr/>
          <a:lstStyle/>
          <a:p>
            <a:r>
              <a:rPr lang="en-US" dirty="0"/>
              <a:t>BENJAMIN B. FERNANDEZ, Jr.</a:t>
            </a:r>
          </a:p>
        </p:txBody>
      </p:sp>
    </p:spTree>
    <p:extLst>
      <p:ext uri="{BB962C8B-B14F-4D97-AF65-F5344CB8AC3E}">
        <p14:creationId xmlns:p14="http://schemas.microsoft.com/office/powerpoint/2010/main" val="128229744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9D614-2455-AA2E-0C82-03277205CC4D}"/>
              </a:ext>
            </a:extLst>
          </p:cNvPr>
          <p:cNvSpPr>
            <a:spLocks noGrp="1"/>
          </p:cNvSpPr>
          <p:nvPr>
            <p:ph type="title"/>
          </p:nvPr>
        </p:nvSpPr>
        <p:spPr/>
        <p:txBody>
          <a:bodyPr/>
          <a:lstStyle/>
          <a:p>
            <a:r>
              <a:rPr lang="en-US" dirty="0"/>
              <a:t>WHAT IS ABSTRACT  REASONING ?</a:t>
            </a:r>
            <a:endParaRPr lang="en-PH" dirty="0"/>
          </a:p>
        </p:txBody>
      </p:sp>
      <p:sp>
        <p:nvSpPr>
          <p:cNvPr id="3" name="Content Placeholder 2">
            <a:extLst>
              <a:ext uri="{FF2B5EF4-FFF2-40B4-BE49-F238E27FC236}">
                <a16:creationId xmlns:a16="http://schemas.microsoft.com/office/drawing/2014/main" id="{9C653970-997C-EA49-11B3-7595AFE48F4C}"/>
              </a:ext>
            </a:extLst>
          </p:cNvPr>
          <p:cNvSpPr>
            <a:spLocks noGrp="1"/>
          </p:cNvSpPr>
          <p:nvPr>
            <p:ph idx="1"/>
          </p:nvPr>
        </p:nvSpPr>
        <p:spPr/>
        <p:txBody>
          <a:bodyPr>
            <a:normAutofit/>
          </a:bodyPr>
          <a:lstStyle/>
          <a:p>
            <a:r>
              <a:rPr lang="en-US" sz="3200" dirty="0"/>
              <a:t>Abstract reasoning is the cognitive ability to analyze information, identify patterns, and solve problems using logic and critical thinking without relying on concrete examples</a:t>
            </a:r>
            <a:endParaRPr lang="en-PH" sz="3200" dirty="0"/>
          </a:p>
        </p:txBody>
      </p:sp>
    </p:spTree>
    <p:extLst>
      <p:ext uri="{BB962C8B-B14F-4D97-AF65-F5344CB8AC3E}">
        <p14:creationId xmlns:p14="http://schemas.microsoft.com/office/powerpoint/2010/main" val="35554983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6979C-DCB5-1621-2156-F80132C97531}"/>
              </a:ext>
            </a:extLst>
          </p:cNvPr>
          <p:cNvSpPr>
            <a:spLocks noGrp="1"/>
          </p:cNvSpPr>
          <p:nvPr>
            <p:ph type="title"/>
          </p:nvPr>
        </p:nvSpPr>
        <p:spPr/>
        <p:txBody>
          <a:bodyPr/>
          <a:lstStyle/>
          <a:p>
            <a:r>
              <a:rPr lang="en-US" dirty="0"/>
              <a:t>HOW TO SOLVE ABSTRACT REASONING</a:t>
            </a:r>
            <a:endParaRPr lang="en-PH" dirty="0"/>
          </a:p>
        </p:txBody>
      </p:sp>
      <p:sp>
        <p:nvSpPr>
          <p:cNvPr id="3" name="Content Placeholder 2">
            <a:extLst>
              <a:ext uri="{FF2B5EF4-FFF2-40B4-BE49-F238E27FC236}">
                <a16:creationId xmlns:a16="http://schemas.microsoft.com/office/drawing/2014/main" id="{28FC153F-415E-2A11-3011-4C17376E671A}"/>
              </a:ext>
            </a:extLst>
          </p:cNvPr>
          <p:cNvSpPr>
            <a:spLocks noGrp="1"/>
          </p:cNvSpPr>
          <p:nvPr>
            <p:ph idx="1"/>
          </p:nvPr>
        </p:nvSpPr>
        <p:spPr/>
        <p:txBody>
          <a:bodyPr/>
          <a:lstStyle/>
          <a:p>
            <a:r>
              <a:rPr lang="en-PH" sz="3600" dirty="0"/>
              <a:t>Inventory</a:t>
            </a:r>
          </a:p>
          <a:p>
            <a:r>
              <a:rPr lang="en-PH" sz="3600" dirty="0"/>
              <a:t>Rule-Finding</a:t>
            </a:r>
          </a:p>
          <a:p>
            <a:r>
              <a:rPr lang="en-PH" sz="3600" dirty="0"/>
              <a:t>Elimination</a:t>
            </a:r>
          </a:p>
        </p:txBody>
      </p:sp>
    </p:spTree>
    <p:extLst>
      <p:ext uri="{BB962C8B-B14F-4D97-AF65-F5344CB8AC3E}">
        <p14:creationId xmlns:p14="http://schemas.microsoft.com/office/powerpoint/2010/main" val="16175387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039FB-DEF9-4288-35F8-53E468A073AE}"/>
              </a:ext>
            </a:extLst>
          </p:cNvPr>
          <p:cNvSpPr>
            <a:spLocks noGrp="1"/>
          </p:cNvSpPr>
          <p:nvPr>
            <p:ph type="title"/>
          </p:nvPr>
        </p:nvSpPr>
        <p:spPr/>
        <p:txBody>
          <a:bodyPr>
            <a:normAutofit/>
          </a:bodyPr>
          <a:lstStyle/>
          <a:p>
            <a:r>
              <a:rPr lang="en-US" sz="3600" b="1" i="0" dirty="0">
                <a:solidFill>
                  <a:srgbClr val="414042"/>
                </a:solidFill>
                <a:effectLst/>
                <a:latin typeface="Inter"/>
              </a:rPr>
              <a:t>Next In Series Questions</a:t>
            </a:r>
            <a:endParaRPr lang="en-US" sz="3600" dirty="0"/>
          </a:p>
        </p:txBody>
      </p:sp>
      <p:sp>
        <p:nvSpPr>
          <p:cNvPr id="3" name="Content Placeholder 2">
            <a:extLst>
              <a:ext uri="{FF2B5EF4-FFF2-40B4-BE49-F238E27FC236}">
                <a16:creationId xmlns:a16="http://schemas.microsoft.com/office/drawing/2014/main" id="{6301F8EF-2526-9A50-9725-EB39DF820371}"/>
              </a:ext>
            </a:extLst>
          </p:cNvPr>
          <p:cNvSpPr>
            <a:spLocks noGrp="1"/>
          </p:cNvSpPr>
          <p:nvPr>
            <p:ph idx="1"/>
          </p:nvPr>
        </p:nvSpPr>
        <p:spPr/>
        <p:txBody>
          <a:bodyPr>
            <a:normAutofit/>
          </a:bodyPr>
          <a:lstStyle/>
          <a:p>
            <a:endParaRPr lang="en-US" sz="3200" b="1" i="0" dirty="0">
              <a:solidFill>
                <a:srgbClr val="414042"/>
              </a:solidFill>
              <a:effectLst/>
              <a:latin typeface="Inter"/>
            </a:endParaRPr>
          </a:p>
          <a:p>
            <a:r>
              <a:rPr lang="en-US" sz="3200" b="0" i="0" dirty="0">
                <a:solidFill>
                  <a:srgbClr val="414042"/>
                </a:solidFill>
                <a:effectLst/>
                <a:latin typeface="Inter"/>
              </a:rPr>
              <a:t>Next in Series questions test your ability to identify patterns and predict the next item in a sequence. These questions often involve rotations, </a:t>
            </a:r>
            <a:r>
              <a:rPr lang="en-US" sz="3200" b="0" i="0" dirty="0" err="1">
                <a:solidFill>
                  <a:srgbClr val="414042"/>
                </a:solidFill>
                <a:effectLst/>
                <a:latin typeface="Inter"/>
              </a:rPr>
              <a:t>colour</a:t>
            </a:r>
            <a:r>
              <a:rPr lang="en-US" sz="3200" b="0" i="0" dirty="0">
                <a:solidFill>
                  <a:srgbClr val="414042"/>
                </a:solidFill>
                <a:effectLst/>
                <a:latin typeface="Inter"/>
              </a:rPr>
              <a:t> changes, and other visual patterns.</a:t>
            </a:r>
          </a:p>
          <a:p>
            <a:endParaRPr lang="en-US" sz="3200" dirty="0"/>
          </a:p>
        </p:txBody>
      </p:sp>
    </p:spTree>
    <p:extLst>
      <p:ext uri="{BB962C8B-B14F-4D97-AF65-F5344CB8AC3E}">
        <p14:creationId xmlns:p14="http://schemas.microsoft.com/office/powerpoint/2010/main" val="251985867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60F7-2897-E7C0-126D-47D602262A1C}"/>
              </a:ext>
            </a:extLst>
          </p:cNvPr>
          <p:cNvSpPr>
            <a:spLocks noGrp="1"/>
          </p:cNvSpPr>
          <p:nvPr>
            <p:ph type="title"/>
          </p:nvPr>
        </p:nvSpPr>
        <p:spPr/>
        <p:txBody>
          <a:bodyPr/>
          <a:lstStyle/>
          <a:p>
            <a:r>
              <a:rPr lang="en-US" dirty="0"/>
              <a:t>Question 1: </a:t>
            </a:r>
            <a:r>
              <a:rPr lang="en-US" b="1" i="0" dirty="0">
                <a:solidFill>
                  <a:srgbClr val="414042"/>
                </a:solidFill>
                <a:effectLst/>
                <a:latin typeface="Inter"/>
              </a:rPr>
              <a:t>Next In Series Questions</a:t>
            </a:r>
            <a:r>
              <a:rPr lang="en-US" dirty="0"/>
              <a:t> </a:t>
            </a:r>
          </a:p>
        </p:txBody>
      </p:sp>
      <p:sp>
        <p:nvSpPr>
          <p:cNvPr id="3" name="Content Placeholder 2">
            <a:extLst>
              <a:ext uri="{FF2B5EF4-FFF2-40B4-BE49-F238E27FC236}">
                <a16:creationId xmlns:a16="http://schemas.microsoft.com/office/drawing/2014/main" id="{4EB8143F-5B74-7F29-5E07-65ADD3B8E014}"/>
              </a:ext>
            </a:extLst>
          </p:cNvPr>
          <p:cNvSpPr>
            <a:spLocks noGrp="1"/>
          </p:cNvSpPr>
          <p:nvPr>
            <p:ph idx="1"/>
          </p:nvPr>
        </p:nvSpPr>
        <p:spPr>
          <a:xfrm>
            <a:off x="1451579" y="2015732"/>
            <a:ext cx="3725539" cy="3450613"/>
          </a:xfrm>
        </p:spPr>
        <p:txBody>
          <a:bodyPr>
            <a:noAutofit/>
          </a:bodyPr>
          <a:lstStyle/>
          <a:p>
            <a:pPr marL="457200" indent="-457200">
              <a:buAutoNum type="arabicPeriod"/>
            </a:pPr>
            <a:r>
              <a:rPr lang="en-US" sz="3200" b="0" i="0" dirty="0">
                <a:solidFill>
                  <a:srgbClr val="414042"/>
                </a:solidFill>
                <a:effectLst/>
                <a:latin typeface="Inter"/>
              </a:rPr>
              <a:t>Choose the image that completes the pattern (From left to right)</a:t>
            </a:r>
            <a:endParaRPr lang="en-US" sz="3200" dirty="0">
              <a:solidFill>
                <a:srgbClr val="414042"/>
              </a:solidFill>
              <a:latin typeface="Inter"/>
            </a:endParaRPr>
          </a:p>
          <a:p>
            <a:pPr marL="457200" indent="-457200">
              <a:buAutoNum type="arabicPeriod"/>
            </a:pPr>
            <a:endParaRPr lang="en-US" sz="3200" dirty="0">
              <a:solidFill>
                <a:srgbClr val="414042"/>
              </a:solidFill>
              <a:latin typeface="Inter"/>
            </a:endParaRPr>
          </a:p>
          <a:p>
            <a:pPr marL="0" indent="0">
              <a:buNone/>
            </a:pPr>
            <a:endParaRPr lang="en-US" sz="3200" dirty="0"/>
          </a:p>
        </p:txBody>
      </p:sp>
      <p:pic>
        <p:nvPicPr>
          <p:cNvPr id="6" name="Picture 5">
            <a:extLst>
              <a:ext uri="{FF2B5EF4-FFF2-40B4-BE49-F238E27FC236}">
                <a16:creationId xmlns:a16="http://schemas.microsoft.com/office/drawing/2014/main" id="{6D0532FD-06DE-3A68-BE1A-8F1BC633F2DE}"/>
              </a:ext>
            </a:extLst>
          </p:cNvPr>
          <p:cNvPicPr>
            <a:picLocks noChangeAspect="1"/>
          </p:cNvPicPr>
          <p:nvPr/>
        </p:nvPicPr>
        <p:blipFill>
          <a:blip r:embed="rId2"/>
          <a:stretch>
            <a:fillRect/>
          </a:stretch>
        </p:blipFill>
        <p:spPr>
          <a:xfrm>
            <a:off x="5574896" y="2136756"/>
            <a:ext cx="6500027" cy="3598415"/>
          </a:xfrm>
          <a:prstGeom prst="rect">
            <a:avLst/>
          </a:prstGeom>
        </p:spPr>
      </p:pic>
    </p:spTree>
    <p:extLst>
      <p:ext uri="{BB962C8B-B14F-4D97-AF65-F5344CB8AC3E}">
        <p14:creationId xmlns:p14="http://schemas.microsoft.com/office/powerpoint/2010/main" val="238291516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DFC-A38D-F436-DEB1-F0F4F70F5CBD}"/>
              </a:ext>
            </a:extLst>
          </p:cNvPr>
          <p:cNvSpPr>
            <a:spLocks noGrp="1"/>
          </p:cNvSpPr>
          <p:nvPr>
            <p:ph type="title"/>
          </p:nvPr>
        </p:nvSpPr>
        <p:spPr/>
        <p:txBody>
          <a:bodyPr/>
          <a:lstStyle/>
          <a:p>
            <a:r>
              <a:rPr lang="en-US" dirty="0"/>
              <a:t>1. Answer: d</a:t>
            </a:r>
          </a:p>
        </p:txBody>
      </p:sp>
      <p:sp>
        <p:nvSpPr>
          <p:cNvPr id="3" name="Content Placeholder 2">
            <a:extLst>
              <a:ext uri="{FF2B5EF4-FFF2-40B4-BE49-F238E27FC236}">
                <a16:creationId xmlns:a16="http://schemas.microsoft.com/office/drawing/2014/main" id="{D664A40D-7C96-4282-6194-E95C86045E41}"/>
              </a:ext>
            </a:extLst>
          </p:cNvPr>
          <p:cNvSpPr>
            <a:spLocks noGrp="1"/>
          </p:cNvSpPr>
          <p:nvPr>
            <p:ph idx="1"/>
          </p:nvPr>
        </p:nvSpPr>
        <p:spPr/>
        <p:txBody>
          <a:bodyPr>
            <a:normAutofit/>
          </a:bodyPr>
          <a:lstStyle/>
          <a:p>
            <a:pPr marL="0" indent="0">
              <a:buNone/>
            </a:pPr>
            <a:r>
              <a:rPr lang="en-US" sz="2800" b="0" i="0" dirty="0">
                <a:solidFill>
                  <a:srgbClr val="414042"/>
                </a:solidFill>
                <a:effectLst/>
                <a:latin typeface="Inter"/>
              </a:rPr>
              <a:t>Explanation</a:t>
            </a:r>
          </a:p>
          <a:p>
            <a:r>
              <a:rPr lang="en-US" sz="2800" b="0" i="0" dirty="0">
                <a:solidFill>
                  <a:srgbClr val="414042"/>
                </a:solidFill>
                <a:effectLst/>
                <a:latin typeface="Inter"/>
              </a:rPr>
              <a:t>Each circle is divided into six portions; three pairs of identical shapes are located in opposite cells; the grey pieces rotate clockwise. All the inner parts rotate in a counter-clockwise direction. </a:t>
            </a:r>
            <a:endParaRPr lang="en-US" sz="2800" dirty="0"/>
          </a:p>
        </p:txBody>
      </p:sp>
    </p:spTree>
    <p:extLst>
      <p:ext uri="{BB962C8B-B14F-4D97-AF65-F5344CB8AC3E}">
        <p14:creationId xmlns:p14="http://schemas.microsoft.com/office/powerpoint/2010/main" val="101179051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669046F-5838-4C7A-BBE8-A77F40FD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D5E6CDB-92ED-43A1-9491-C46E2C8E9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16" name="Group 15">
            <a:extLst>
              <a:ext uri="{FF2B5EF4-FFF2-40B4-BE49-F238E27FC236}">
                <a16:creationId xmlns:a16="http://schemas.microsoft.com/office/drawing/2014/main" id="{EBB966BC-DC49-4138-8DEF-B1CD130339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7" y="482171"/>
            <a:ext cx="6104331" cy="5149101"/>
            <a:chOff x="632237" y="482171"/>
            <a:chExt cx="6104331" cy="5149101"/>
          </a:xfrm>
        </p:grpSpPr>
        <p:sp>
          <p:nvSpPr>
            <p:cNvPr id="17" name="Rectangle 16">
              <a:extLst>
                <a:ext uri="{FF2B5EF4-FFF2-40B4-BE49-F238E27FC236}">
                  <a16:creationId xmlns:a16="http://schemas.microsoft.com/office/drawing/2014/main" id="{EDD0BD06-EC5B-4F0E-A221-562BC2BA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237" y="482171"/>
              <a:ext cx="610433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34200B3-EC47-4A5B-A640-7118BF6AD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5296" y="812507"/>
              <a:ext cx="5471355"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23B9DAF8-7DB4-40CB-85F8-7E02F95C6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7042" y="984450"/>
            <a:ext cx="5145580"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606AED2C-61BA-485C-9DD4-B23B6280F9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8029" y="1847088"/>
            <a:ext cx="3520368"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6F4260F7-2897-E7C0-126D-47D602262A1C}"/>
              </a:ext>
            </a:extLst>
          </p:cNvPr>
          <p:cNvSpPr>
            <a:spLocks noGrp="1"/>
          </p:cNvSpPr>
          <p:nvPr>
            <p:ph type="title"/>
          </p:nvPr>
        </p:nvSpPr>
        <p:spPr>
          <a:xfrm>
            <a:off x="7218030" y="804520"/>
            <a:ext cx="3520367" cy="1049235"/>
          </a:xfrm>
        </p:spPr>
        <p:txBody>
          <a:bodyPr>
            <a:normAutofit fontScale="90000"/>
          </a:bodyPr>
          <a:lstStyle/>
          <a:p>
            <a:r>
              <a:rPr lang="en-US" dirty="0"/>
              <a:t>Question 2: </a:t>
            </a:r>
            <a:r>
              <a:rPr lang="en-US" b="1" i="0" dirty="0">
                <a:solidFill>
                  <a:srgbClr val="414042"/>
                </a:solidFill>
                <a:effectLst/>
                <a:latin typeface="Inter"/>
              </a:rPr>
              <a:t>Next In Series Questions</a:t>
            </a:r>
            <a:br>
              <a:rPr lang="en-US" dirty="0"/>
            </a:br>
            <a:endParaRPr lang="en-US" dirty="0"/>
          </a:p>
        </p:txBody>
      </p:sp>
      <p:pic>
        <p:nvPicPr>
          <p:cNvPr id="7" name="Picture 6">
            <a:extLst>
              <a:ext uri="{FF2B5EF4-FFF2-40B4-BE49-F238E27FC236}">
                <a16:creationId xmlns:a16="http://schemas.microsoft.com/office/drawing/2014/main" id="{85E07D38-D01C-C400-9D1D-D7496AB19C6D}"/>
              </a:ext>
            </a:extLst>
          </p:cNvPr>
          <p:cNvPicPr>
            <a:picLocks noChangeAspect="1"/>
          </p:cNvPicPr>
          <p:nvPr/>
        </p:nvPicPr>
        <p:blipFill>
          <a:blip r:embed="rId2"/>
          <a:stretch>
            <a:fillRect/>
          </a:stretch>
        </p:blipFill>
        <p:spPr>
          <a:xfrm>
            <a:off x="1271223" y="1812987"/>
            <a:ext cx="4825148" cy="2472888"/>
          </a:xfrm>
          <a:prstGeom prst="rect">
            <a:avLst/>
          </a:prstGeom>
        </p:spPr>
      </p:pic>
      <p:sp>
        <p:nvSpPr>
          <p:cNvPr id="3" name="Content Placeholder 2">
            <a:extLst>
              <a:ext uri="{FF2B5EF4-FFF2-40B4-BE49-F238E27FC236}">
                <a16:creationId xmlns:a16="http://schemas.microsoft.com/office/drawing/2014/main" id="{4EB8143F-5B74-7F29-5E07-65ADD3B8E014}"/>
              </a:ext>
            </a:extLst>
          </p:cNvPr>
          <p:cNvSpPr>
            <a:spLocks noGrp="1"/>
          </p:cNvSpPr>
          <p:nvPr>
            <p:ph idx="1"/>
          </p:nvPr>
        </p:nvSpPr>
        <p:spPr>
          <a:xfrm>
            <a:off x="7218029" y="2015732"/>
            <a:ext cx="3520368" cy="3450613"/>
          </a:xfrm>
        </p:spPr>
        <p:txBody>
          <a:bodyPr>
            <a:noAutofit/>
          </a:bodyPr>
          <a:lstStyle/>
          <a:p>
            <a:pPr marL="0" indent="0">
              <a:buNone/>
            </a:pPr>
            <a:r>
              <a:rPr lang="en-US" sz="3200" b="0" i="0" dirty="0">
                <a:effectLst/>
                <a:latin typeface="Inter"/>
              </a:rPr>
              <a:t>2.</a:t>
            </a:r>
            <a:r>
              <a:rPr lang="en-US" sz="3200" b="0" i="0" dirty="0">
                <a:solidFill>
                  <a:srgbClr val="414042"/>
                </a:solidFill>
                <a:effectLst/>
                <a:latin typeface="Inter"/>
              </a:rPr>
              <a:t> Choose the image that completes the pattern (From left to right)</a:t>
            </a:r>
            <a:endParaRPr lang="en-US" sz="3200" dirty="0">
              <a:latin typeface="Inter"/>
            </a:endParaRPr>
          </a:p>
          <a:p>
            <a:pPr marL="0" indent="0">
              <a:buNone/>
            </a:pPr>
            <a:endParaRPr lang="en-US" sz="3200" dirty="0"/>
          </a:p>
        </p:txBody>
      </p:sp>
      <p:pic>
        <p:nvPicPr>
          <p:cNvPr id="24" name="Picture 23">
            <a:extLst>
              <a:ext uri="{FF2B5EF4-FFF2-40B4-BE49-F238E27FC236}">
                <a16:creationId xmlns:a16="http://schemas.microsoft.com/office/drawing/2014/main" id="{7EFCF05C-6070-460B-8E60-12BE3EFD19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6" name="Straight Connector 25">
            <a:extLst>
              <a:ext uri="{FF2B5EF4-FFF2-40B4-BE49-F238E27FC236}">
                <a16:creationId xmlns:a16="http://schemas.microsoft.com/office/drawing/2014/main" id="{CFD731F1-726F-453E-9516-3058095DE9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00426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DFC-A38D-F436-DEB1-F0F4F70F5CBD}"/>
              </a:ext>
            </a:extLst>
          </p:cNvPr>
          <p:cNvSpPr>
            <a:spLocks noGrp="1"/>
          </p:cNvSpPr>
          <p:nvPr>
            <p:ph type="title"/>
          </p:nvPr>
        </p:nvSpPr>
        <p:spPr/>
        <p:txBody>
          <a:bodyPr/>
          <a:lstStyle/>
          <a:p>
            <a:r>
              <a:rPr lang="en-US" dirty="0"/>
              <a:t>2. Answer: a</a:t>
            </a:r>
          </a:p>
        </p:txBody>
      </p:sp>
      <p:sp>
        <p:nvSpPr>
          <p:cNvPr id="3" name="Content Placeholder 2">
            <a:extLst>
              <a:ext uri="{FF2B5EF4-FFF2-40B4-BE49-F238E27FC236}">
                <a16:creationId xmlns:a16="http://schemas.microsoft.com/office/drawing/2014/main" id="{D664A40D-7C96-4282-6194-E95C86045E41}"/>
              </a:ext>
            </a:extLst>
          </p:cNvPr>
          <p:cNvSpPr>
            <a:spLocks noGrp="1"/>
          </p:cNvSpPr>
          <p:nvPr>
            <p:ph idx="1"/>
          </p:nvPr>
        </p:nvSpPr>
        <p:spPr/>
        <p:txBody>
          <a:bodyPr>
            <a:noAutofit/>
          </a:bodyPr>
          <a:lstStyle/>
          <a:p>
            <a:pPr marL="0" indent="0">
              <a:buNone/>
            </a:pPr>
            <a:r>
              <a:rPr lang="en-US" sz="3200" b="0" i="0" dirty="0">
                <a:solidFill>
                  <a:srgbClr val="414042"/>
                </a:solidFill>
                <a:effectLst/>
                <a:latin typeface="Inter"/>
              </a:rPr>
              <a:t>Explanation</a:t>
            </a:r>
          </a:p>
          <a:p>
            <a:r>
              <a:rPr lang="en-US" sz="3200" b="0" i="0" dirty="0">
                <a:solidFill>
                  <a:srgbClr val="414042"/>
                </a:solidFill>
                <a:effectLst/>
                <a:latin typeface="Inter"/>
              </a:rPr>
              <a:t>The logic: The inner shape in one frame becomes the middle shape in the next frame; the central form becomes the outer shape in the next frame, and the external form becomes the inner shape two frames later.</a:t>
            </a:r>
          </a:p>
          <a:p>
            <a:pPr marL="0" indent="0">
              <a:buNone/>
            </a:pPr>
            <a:endParaRPr lang="en-US" sz="3200" dirty="0"/>
          </a:p>
        </p:txBody>
      </p:sp>
    </p:spTree>
    <p:extLst>
      <p:ext uri="{BB962C8B-B14F-4D97-AF65-F5344CB8AC3E}">
        <p14:creationId xmlns:p14="http://schemas.microsoft.com/office/powerpoint/2010/main" val="303238263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039FB-DEF9-4288-35F8-53E468A073AE}"/>
              </a:ext>
            </a:extLst>
          </p:cNvPr>
          <p:cNvSpPr>
            <a:spLocks noGrp="1"/>
          </p:cNvSpPr>
          <p:nvPr>
            <p:ph type="title"/>
          </p:nvPr>
        </p:nvSpPr>
        <p:spPr>
          <a:xfrm>
            <a:off x="1498644" y="791072"/>
            <a:ext cx="9603275" cy="1049235"/>
          </a:xfrm>
        </p:spPr>
        <p:txBody>
          <a:bodyPr>
            <a:normAutofit/>
          </a:bodyPr>
          <a:lstStyle/>
          <a:p>
            <a:r>
              <a:rPr lang="en-US" sz="3600" b="1" i="0" dirty="0">
                <a:solidFill>
                  <a:srgbClr val="414042"/>
                </a:solidFill>
                <a:effectLst/>
                <a:latin typeface="Inter"/>
              </a:rPr>
              <a:t>Matrices Questions</a:t>
            </a:r>
          </a:p>
        </p:txBody>
      </p:sp>
      <p:sp>
        <p:nvSpPr>
          <p:cNvPr id="3" name="Content Placeholder 2">
            <a:extLst>
              <a:ext uri="{FF2B5EF4-FFF2-40B4-BE49-F238E27FC236}">
                <a16:creationId xmlns:a16="http://schemas.microsoft.com/office/drawing/2014/main" id="{6301F8EF-2526-9A50-9725-EB39DF820371}"/>
              </a:ext>
            </a:extLst>
          </p:cNvPr>
          <p:cNvSpPr>
            <a:spLocks noGrp="1"/>
          </p:cNvSpPr>
          <p:nvPr>
            <p:ph idx="1"/>
          </p:nvPr>
        </p:nvSpPr>
        <p:spPr/>
        <p:txBody>
          <a:bodyPr>
            <a:normAutofit/>
          </a:bodyPr>
          <a:lstStyle/>
          <a:p>
            <a:r>
              <a:rPr lang="en-US" sz="3200" b="0" i="0" dirty="0">
                <a:solidFill>
                  <a:srgbClr val="414042"/>
                </a:solidFill>
                <a:effectLst/>
                <a:latin typeface="Inter"/>
              </a:rPr>
              <a:t>Matrices questions require you to identify patterns both horizontally and vertically. These questions are usually more complex than Next in Series questions because they involve multiple patterns.</a:t>
            </a:r>
          </a:p>
        </p:txBody>
      </p:sp>
    </p:spTree>
    <p:extLst>
      <p:ext uri="{BB962C8B-B14F-4D97-AF65-F5344CB8AC3E}">
        <p14:creationId xmlns:p14="http://schemas.microsoft.com/office/powerpoint/2010/main" val="218545008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60F7-2897-E7C0-126D-47D602262A1C}"/>
              </a:ext>
            </a:extLst>
          </p:cNvPr>
          <p:cNvSpPr>
            <a:spLocks noGrp="1"/>
          </p:cNvSpPr>
          <p:nvPr>
            <p:ph type="title"/>
          </p:nvPr>
        </p:nvSpPr>
        <p:spPr>
          <a:xfrm>
            <a:off x="3576214" y="988177"/>
            <a:ext cx="9603275" cy="1049235"/>
          </a:xfrm>
        </p:spPr>
        <p:txBody>
          <a:bodyPr/>
          <a:lstStyle/>
          <a:p>
            <a:r>
              <a:rPr lang="en-US" dirty="0"/>
              <a:t>Question 3: </a:t>
            </a:r>
            <a:r>
              <a:rPr lang="en-US" b="1" i="0" dirty="0">
                <a:solidFill>
                  <a:srgbClr val="414042"/>
                </a:solidFill>
                <a:effectLst/>
                <a:latin typeface="Inter"/>
              </a:rPr>
              <a:t>Matrices Questions</a:t>
            </a:r>
            <a:endParaRPr lang="en-US" dirty="0"/>
          </a:p>
        </p:txBody>
      </p:sp>
      <p:sp>
        <p:nvSpPr>
          <p:cNvPr id="3" name="Content Placeholder 2">
            <a:extLst>
              <a:ext uri="{FF2B5EF4-FFF2-40B4-BE49-F238E27FC236}">
                <a16:creationId xmlns:a16="http://schemas.microsoft.com/office/drawing/2014/main" id="{4EB8143F-5B74-7F29-5E07-65ADD3B8E014}"/>
              </a:ext>
            </a:extLst>
          </p:cNvPr>
          <p:cNvSpPr>
            <a:spLocks noGrp="1"/>
          </p:cNvSpPr>
          <p:nvPr>
            <p:ph idx="1"/>
          </p:nvPr>
        </p:nvSpPr>
        <p:spPr>
          <a:xfrm>
            <a:off x="3292241" y="1955221"/>
            <a:ext cx="8480659" cy="3450613"/>
          </a:xfrm>
        </p:spPr>
        <p:txBody>
          <a:bodyPr>
            <a:noAutofit/>
          </a:bodyPr>
          <a:lstStyle/>
          <a:p>
            <a:pPr marL="0" indent="0">
              <a:buNone/>
            </a:pPr>
            <a:r>
              <a:rPr lang="en-US" sz="3200" b="0" i="0" dirty="0">
                <a:solidFill>
                  <a:srgbClr val="414042"/>
                </a:solidFill>
                <a:effectLst/>
                <a:latin typeface="Inter"/>
              </a:rPr>
              <a:t>3. Choose the correct three figures to complete the sequence:</a:t>
            </a:r>
            <a:endParaRPr lang="en-US" sz="3200" dirty="0">
              <a:solidFill>
                <a:srgbClr val="414042"/>
              </a:solidFill>
              <a:latin typeface="Inter"/>
            </a:endParaRPr>
          </a:p>
          <a:p>
            <a:pPr marL="457200" indent="-457200">
              <a:buAutoNum type="arabicPeriod"/>
            </a:pPr>
            <a:endParaRPr lang="en-US" sz="3200" dirty="0">
              <a:solidFill>
                <a:srgbClr val="414042"/>
              </a:solidFill>
              <a:latin typeface="Inter"/>
            </a:endParaRPr>
          </a:p>
          <a:p>
            <a:pPr marL="0" indent="0">
              <a:buNone/>
            </a:pPr>
            <a:endParaRPr lang="en-US" sz="3200" dirty="0"/>
          </a:p>
        </p:txBody>
      </p:sp>
      <p:pic>
        <p:nvPicPr>
          <p:cNvPr id="4" name="Picture 3">
            <a:extLst>
              <a:ext uri="{FF2B5EF4-FFF2-40B4-BE49-F238E27FC236}">
                <a16:creationId xmlns:a16="http://schemas.microsoft.com/office/drawing/2014/main" id="{2BF68EB6-4365-9766-9413-2B5ED3B5EFE5}"/>
              </a:ext>
            </a:extLst>
          </p:cNvPr>
          <p:cNvPicPr>
            <a:picLocks noChangeAspect="1"/>
          </p:cNvPicPr>
          <p:nvPr/>
        </p:nvPicPr>
        <p:blipFill>
          <a:blip r:embed="rId2"/>
          <a:stretch>
            <a:fillRect/>
          </a:stretch>
        </p:blipFill>
        <p:spPr>
          <a:xfrm>
            <a:off x="69812" y="712694"/>
            <a:ext cx="3054303" cy="4932699"/>
          </a:xfrm>
          <a:prstGeom prst="rect">
            <a:avLst/>
          </a:prstGeom>
        </p:spPr>
      </p:pic>
      <p:pic>
        <p:nvPicPr>
          <p:cNvPr id="8" name="Picture 7">
            <a:extLst>
              <a:ext uri="{FF2B5EF4-FFF2-40B4-BE49-F238E27FC236}">
                <a16:creationId xmlns:a16="http://schemas.microsoft.com/office/drawing/2014/main" id="{E29FFF64-4B2F-C509-1984-22A0DDB179DF}"/>
              </a:ext>
            </a:extLst>
          </p:cNvPr>
          <p:cNvPicPr>
            <a:picLocks noChangeAspect="1"/>
          </p:cNvPicPr>
          <p:nvPr/>
        </p:nvPicPr>
        <p:blipFill>
          <a:blip r:embed="rId3"/>
          <a:stretch>
            <a:fillRect/>
          </a:stretch>
        </p:blipFill>
        <p:spPr>
          <a:xfrm>
            <a:off x="5255220" y="3004456"/>
            <a:ext cx="6813551" cy="2401378"/>
          </a:xfrm>
          <a:prstGeom prst="rect">
            <a:avLst/>
          </a:prstGeom>
        </p:spPr>
      </p:pic>
    </p:spTree>
    <p:extLst>
      <p:ext uri="{BB962C8B-B14F-4D97-AF65-F5344CB8AC3E}">
        <p14:creationId xmlns:p14="http://schemas.microsoft.com/office/powerpoint/2010/main" val="361566866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DFC-A38D-F436-DEB1-F0F4F70F5CBD}"/>
              </a:ext>
            </a:extLst>
          </p:cNvPr>
          <p:cNvSpPr>
            <a:spLocks noGrp="1"/>
          </p:cNvSpPr>
          <p:nvPr>
            <p:ph type="title"/>
          </p:nvPr>
        </p:nvSpPr>
        <p:spPr/>
        <p:txBody>
          <a:bodyPr/>
          <a:lstStyle/>
          <a:p>
            <a:r>
              <a:rPr lang="en-US" dirty="0"/>
              <a:t>3. Answer: B</a:t>
            </a:r>
          </a:p>
        </p:txBody>
      </p:sp>
      <p:sp>
        <p:nvSpPr>
          <p:cNvPr id="3" name="Content Placeholder 2">
            <a:extLst>
              <a:ext uri="{FF2B5EF4-FFF2-40B4-BE49-F238E27FC236}">
                <a16:creationId xmlns:a16="http://schemas.microsoft.com/office/drawing/2014/main" id="{D664A40D-7C96-4282-6194-E95C86045E41}"/>
              </a:ext>
            </a:extLst>
          </p:cNvPr>
          <p:cNvSpPr>
            <a:spLocks noGrp="1"/>
          </p:cNvSpPr>
          <p:nvPr>
            <p:ph idx="1"/>
          </p:nvPr>
        </p:nvSpPr>
        <p:spPr>
          <a:xfrm>
            <a:off x="416859" y="2015732"/>
            <a:ext cx="11577917" cy="3450613"/>
          </a:xfrm>
        </p:spPr>
        <p:txBody>
          <a:bodyPr>
            <a:noAutofit/>
          </a:bodyPr>
          <a:lstStyle/>
          <a:p>
            <a:pPr marL="0" indent="0">
              <a:buNone/>
            </a:pPr>
            <a:r>
              <a:rPr lang="en-US" sz="3200" b="0" i="0" dirty="0">
                <a:solidFill>
                  <a:srgbClr val="414042"/>
                </a:solidFill>
                <a:effectLst/>
                <a:latin typeface="Inter"/>
              </a:rPr>
              <a:t>Explanation</a:t>
            </a:r>
          </a:p>
          <a:p>
            <a:r>
              <a:rPr lang="en-US" b="0" i="0" dirty="0">
                <a:solidFill>
                  <a:srgbClr val="414042"/>
                </a:solidFill>
                <a:effectLst/>
                <a:latin typeface="Inter"/>
              </a:rPr>
              <a:t>All shapes move to the right one step each row, where the rightmost shape moves to the leftmost position. Also, for each shape, the blackened half alternates every row.</a:t>
            </a:r>
            <a:br>
              <a:rPr lang="en-US" dirty="0"/>
            </a:br>
            <a:r>
              <a:rPr lang="en-US" b="0" i="0" dirty="0">
                <a:solidFill>
                  <a:srgbClr val="414042"/>
                </a:solidFill>
                <a:effectLst/>
                <a:latin typeface="Inter"/>
              </a:rPr>
              <a:t>Following this logic, we expect the order of shapes to be, from left to right – a triangle, a circle and a square, with blackened halves similarly as they were in the second row.</a:t>
            </a:r>
          </a:p>
        </p:txBody>
      </p:sp>
    </p:spTree>
    <p:extLst>
      <p:ext uri="{BB962C8B-B14F-4D97-AF65-F5344CB8AC3E}">
        <p14:creationId xmlns:p14="http://schemas.microsoft.com/office/powerpoint/2010/main" val="265115736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0F178E2-AACB-4EFE-A67A-5327512E4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F8F31E2E-F25D-43B0-9B21-1DE46FC6DC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04301" y="1847088"/>
            <a:ext cx="354251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6F4260F7-2897-E7C0-126D-47D602262A1C}"/>
              </a:ext>
            </a:extLst>
          </p:cNvPr>
          <p:cNvSpPr>
            <a:spLocks noGrp="1"/>
          </p:cNvSpPr>
          <p:nvPr>
            <p:ph type="title"/>
          </p:nvPr>
        </p:nvSpPr>
        <p:spPr>
          <a:xfrm>
            <a:off x="7202821" y="804519"/>
            <a:ext cx="3543993" cy="1049235"/>
          </a:xfrm>
        </p:spPr>
        <p:txBody>
          <a:bodyPr>
            <a:normAutofit/>
          </a:bodyPr>
          <a:lstStyle/>
          <a:p>
            <a:r>
              <a:rPr lang="en-US" sz="2700"/>
              <a:t>Question 4: </a:t>
            </a:r>
            <a:r>
              <a:rPr lang="en-US" sz="2700" b="1" i="0">
                <a:effectLst/>
                <a:latin typeface="Inter"/>
              </a:rPr>
              <a:t>Matrices Questions</a:t>
            </a:r>
            <a:endParaRPr lang="en-US" sz="2700"/>
          </a:p>
        </p:txBody>
      </p:sp>
      <p:sp>
        <p:nvSpPr>
          <p:cNvPr id="15" name="Rectangle 14">
            <a:extLst>
              <a:ext uri="{FF2B5EF4-FFF2-40B4-BE49-F238E27FC236}">
                <a16:creationId xmlns:a16="http://schemas.microsoft.com/office/drawing/2014/main" id="{EE282A56-24D8-489E-AC37-6EA78E071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5" name="Picture 4">
            <a:extLst>
              <a:ext uri="{FF2B5EF4-FFF2-40B4-BE49-F238E27FC236}">
                <a16:creationId xmlns:a16="http://schemas.microsoft.com/office/drawing/2014/main" id="{DEE23E9C-C76D-B13E-5153-6DC7A6F753A1}"/>
              </a:ext>
            </a:extLst>
          </p:cNvPr>
          <p:cNvPicPr>
            <a:picLocks noChangeAspect="1"/>
          </p:cNvPicPr>
          <p:nvPr/>
        </p:nvPicPr>
        <p:blipFill>
          <a:blip r:embed="rId2"/>
          <a:stretch>
            <a:fillRect/>
          </a:stretch>
        </p:blipFill>
        <p:spPr>
          <a:xfrm>
            <a:off x="141420" y="158441"/>
            <a:ext cx="3482561" cy="3553633"/>
          </a:xfrm>
          <a:prstGeom prst="rect">
            <a:avLst/>
          </a:prstGeom>
        </p:spPr>
      </p:pic>
      <p:pic>
        <p:nvPicPr>
          <p:cNvPr id="6" name="Picture 5">
            <a:extLst>
              <a:ext uri="{FF2B5EF4-FFF2-40B4-BE49-F238E27FC236}">
                <a16:creationId xmlns:a16="http://schemas.microsoft.com/office/drawing/2014/main" id="{43238EDA-38E0-56D7-D03B-A048F8C94B66}"/>
              </a:ext>
            </a:extLst>
          </p:cNvPr>
          <p:cNvPicPr>
            <a:picLocks noChangeAspect="1"/>
          </p:cNvPicPr>
          <p:nvPr/>
        </p:nvPicPr>
        <p:blipFill>
          <a:blip r:embed="rId3"/>
          <a:stretch>
            <a:fillRect/>
          </a:stretch>
        </p:blipFill>
        <p:spPr>
          <a:xfrm>
            <a:off x="3891628" y="158441"/>
            <a:ext cx="2737772" cy="5703692"/>
          </a:xfrm>
          <a:prstGeom prst="rect">
            <a:avLst/>
          </a:prstGeom>
        </p:spPr>
      </p:pic>
      <p:sp>
        <p:nvSpPr>
          <p:cNvPr id="3" name="Content Placeholder 2">
            <a:extLst>
              <a:ext uri="{FF2B5EF4-FFF2-40B4-BE49-F238E27FC236}">
                <a16:creationId xmlns:a16="http://schemas.microsoft.com/office/drawing/2014/main" id="{4EB8143F-5B74-7F29-5E07-65ADD3B8E014}"/>
              </a:ext>
            </a:extLst>
          </p:cNvPr>
          <p:cNvSpPr>
            <a:spLocks noGrp="1"/>
          </p:cNvSpPr>
          <p:nvPr>
            <p:ph idx="1"/>
          </p:nvPr>
        </p:nvSpPr>
        <p:spPr>
          <a:xfrm>
            <a:off x="7202821" y="2015732"/>
            <a:ext cx="3543993" cy="3450613"/>
          </a:xfrm>
        </p:spPr>
        <p:txBody>
          <a:bodyPr>
            <a:noAutofit/>
          </a:bodyPr>
          <a:lstStyle/>
          <a:p>
            <a:pPr marL="0" indent="0">
              <a:buNone/>
            </a:pPr>
            <a:r>
              <a:rPr lang="en-US" sz="2800" dirty="0">
                <a:latin typeface="Inter"/>
              </a:rPr>
              <a:t>4</a:t>
            </a:r>
            <a:r>
              <a:rPr lang="en-US" sz="2800" b="0" i="0" dirty="0">
                <a:effectLst/>
                <a:latin typeface="Inter"/>
              </a:rPr>
              <a:t>. Which of the following boxes should replace the question mark (?) to complete the pattern?</a:t>
            </a:r>
            <a:endParaRPr lang="en-US" sz="2800" dirty="0">
              <a:latin typeface="Inter"/>
            </a:endParaRPr>
          </a:p>
        </p:txBody>
      </p:sp>
      <p:pic>
        <p:nvPicPr>
          <p:cNvPr id="17" name="Picture 16">
            <a:extLst>
              <a:ext uri="{FF2B5EF4-FFF2-40B4-BE49-F238E27FC236}">
                <a16:creationId xmlns:a16="http://schemas.microsoft.com/office/drawing/2014/main" id="{A21A879E-4440-4322-879E-91929B1414B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9" name="Straight Connector 18">
            <a:extLst>
              <a:ext uri="{FF2B5EF4-FFF2-40B4-BE49-F238E27FC236}">
                <a16:creationId xmlns:a16="http://schemas.microsoft.com/office/drawing/2014/main" id="{02B8CEF1-AE40-447A-B7A4-2024DDCDFD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616656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DFC-A38D-F436-DEB1-F0F4F70F5CBD}"/>
              </a:ext>
            </a:extLst>
          </p:cNvPr>
          <p:cNvSpPr>
            <a:spLocks noGrp="1"/>
          </p:cNvSpPr>
          <p:nvPr>
            <p:ph type="title"/>
          </p:nvPr>
        </p:nvSpPr>
        <p:spPr/>
        <p:txBody>
          <a:bodyPr/>
          <a:lstStyle/>
          <a:p>
            <a:r>
              <a:rPr lang="en-US" dirty="0"/>
              <a:t>4. Answer: E</a:t>
            </a:r>
          </a:p>
        </p:txBody>
      </p:sp>
      <p:sp>
        <p:nvSpPr>
          <p:cNvPr id="3" name="Content Placeholder 2">
            <a:extLst>
              <a:ext uri="{FF2B5EF4-FFF2-40B4-BE49-F238E27FC236}">
                <a16:creationId xmlns:a16="http://schemas.microsoft.com/office/drawing/2014/main" id="{D664A40D-7C96-4282-6194-E95C86045E41}"/>
              </a:ext>
            </a:extLst>
          </p:cNvPr>
          <p:cNvSpPr>
            <a:spLocks noGrp="1"/>
          </p:cNvSpPr>
          <p:nvPr>
            <p:ph idx="1"/>
          </p:nvPr>
        </p:nvSpPr>
        <p:spPr>
          <a:xfrm>
            <a:off x="416859" y="2015732"/>
            <a:ext cx="11577917" cy="3450613"/>
          </a:xfrm>
        </p:spPr>
        <p:txBody>
          <a:bodyPr>
            <a:noAutofit/>
          </a:bodyPr>
          <a:lstStyle/>
          <a:p>
            <a:pPr marL="0" indent="0">
              <a:buNone/>
            </a:pPr>
            <a:r>
              <a:rPr lang="en-US" sz="3200" b="0" i="0" dirty="0">
                <a:solidFill>
                  <a:srgbClr val="414042"/>
                </a:solidFill>
                <a:effectLst/>
                <a:latin typeface="Inter"/>
              </a:rPr>
              <a:t>Explanation</a:t>
            </a:r>
          </a:p>
          <a:p>
            <a:r>
              <a:rPr lang="en-US" b="0" i="0" dirty="0">
                <a:solidFill>
                  <a:srgbClr val="414042"/>
                </a:solidFill>
                <a:effectLst/>
                <a:latin typeface="Inter"/>
              </a:rPr>
              <a:t>In this matrix, there are two rules:</a:t>
            </a:r>
          </a:p>
          <a:p>
            <a:r>
              <a:rPr lang="en-US" b="0" i="0" dirty="0">
                <a:solidFill>
                  <a:srgbClr val="414042"/>
                </a:solidFill>
                <a:effectLst/>
                <a:latin typeface="Inter"/>
              </a:rPr>
              <a:t>The circle: Across a row (from left to right) the circle always remains in the same row but moves one column to the right in each successive frame. Down a column, in each frame, the circle is still in the same row but is in different columns.</a:t>
            </a:r>
            <a:br>
              <a:rPr lang="en-US" b="0" i="0" dirty="0">
                <a:solidFill>
                  <a:srgbClr val="414042"/>
                </a:solidFill>
                <a:effectLst/>
                <a:latin typeface="Inter"/>
              </a:rPr>
            </a:br>
            <a:r>
              <a:rPr lang="en-US" b="0" i="0" dirty="0">
                <a:solidFill>
                  <a:srgbClr val="414042"/>
                </a:solidFill>
                <a:effectLst/>
                <a:latin typeface="Inter"/>
              </a:rPr>
              <a:t>The star: Across a row (from left to right) the star always remains in the same column but moves up one row in each successive frame. The star forever remains in the same row down a column but moves one column to the left in each succeeding frame.</a:t>
            </a:r>
            <a:br>
              <a:rPr lang="en-US" b="0" i="0" dirty="0">
                <a:solidFill>
                  <a:srgbClr val="414042"/>
                </a:solidFill>
                <a:effectLst/>
                <a:latin typeface="Inter"/>
              </a:rPr>
            </a:br>
            <a:r>
              <a:rPr lang="en-US" b="0" i="0" dirty="0">
                <a:solidFill>
                  <a:srgbClr val="414042"/>
                </a:solidFill>
                <a:effectLst/>
                <a:latin typeface="Inter"/>
              </a:rPr>
              <a:t>(In the upper-right frame the star and circle end up in the same position and the circle covers the star).</a:t>
            </a:r>
          </a:p>
        </p:txBody>
      </p:sp>
    </p:spTree>
    <p:extLst>
      <p:ext uri="{BB962C8B-B14F-4D97-AF65-F5344CB8AC3E}">
        <p14:creationId xmlns:p14="http://schemas.microsoft.com/office/powerpoint/2010/main" val="419179967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1E8EC89-86BC-4558-B010-53DF36A5A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4CCCDDFF-B9CC-494C-8BEE-2451CD79A0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7" y="1847088"/>
            <a:ext cx="352371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6F4260F7-2897-E7C0-126D-47D602262A1C}"/>
              </a:ext>
            </a:extLst>
          </p:cNvPr>
          <p:cNvSpPr>
            <a:spLocks noGrp="1"/>
          </p:cNvSpPr>
          <p:nvPr>
            <p:ph type="title"/>
          </p:nvPr>
        </p:nvSpPr>
        <p:spPr>
          <a:xfrm>
            <a:off x="207726" y="210541"/>
            <a:ext cx="8586649" cy="1146109"/>
          </a:xfrm>
        </p:spPr>
        <p:txBody>
          <a:bodyPr>
            <a:noAutofit/>
          </a:bodyPr>
          <a:lstStyle/>
          <a:p>
            <a:r>
              <a:rPr lang="en-US" dirty="0"/>
              <a:t>Question 5: </a:t>
            </a:r>
            <a:r>
              <a:rPr lang="en-US" b="1" i="0" dirty="0">
                <a:solidFill>
                  <a:srgbClr val="414042"/>
                </a:solidFill>
                <a:effectLst/>
                <a:latin typeface="Inter"/>
              </a:rPr>
              <a:t>Matrices Questions</a:t>
            </a:r>
            <a:br>
              <a:rPr lang="en-US" dirty="0"/>
            </a:br>
            <a:endParaRPr lang="en-US" dirty="0"/>
          </a:p>
        </p:txBody>
      </p:sp>
      <p:sp>
        <p:nvSpPr>
          <p:cNvPr id="32" name="Rectangle 31">
            <a:extLst>
              <a:ext uri="{FF2B5EF4-FFF2-40B4-BE49-F238E27FC236}">
                <a16:creationId xmlns:a16="http://schemas.microsoft.com/office/drawing/2014/main" id="{54977EF3-E0BF-4719-9C15-8564B7D68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4EB8143F-5B74-7F29-5E07-65ADD3B8E014}"/>
              </a:ext>
            </a:extLst>
          </p:cNvPr>
          <p:cNvSpPr>
            <a:spLocks noGrp="1"/>
          </p:cNvSpPr>
          <p:nvPr>
            <p:ph idx="1"/>
          </p:nvPr>
        </p:nvSpPr>
        <p:spPr>
          <a:xfrm>
            <a:off x="416859" y="2015732"/>
            <a:ext cx="4559905" cy="3450613"/>
          </a:xfrm>
        </p:spPr>
        <p:txBody>
          <a:bodyPr>
            <a:noAutofit/>
          </a:bodyPr>
          <a:lstStyle/>
          <a:p>
            <a:pPr marL="0" indent="0">
              <a:buNone/>
            </a:pPr>
            <a:r>
              <a:rPr lang="en-US" sz="3200" dirty="0">
                <a:latin typeface="Inter"/>
              </a:rPr>
              <a:t>5. </a:t>
            </a:r>
            <a:r>
              <a:rPr lang="en-US" sz="2800" b="0" i="0" dirty="0">
                <a:solidFill>
                  <a:srgbClr val="414042"/>
                </a:solidFill>
                <a:effectLst/>
                <a:latin typeface="Inter"/>
              </a:rPr>
              <a:t>Which of the following boxes should replace the question mark (?) to complete the pattern?</a:t>
            </a:r>
          </a:p>
          <a:p>
            <a:pPr marL="0" indent="0">
              <a:buNone/>
            </a:pPr>
            <a:endParaRPr lang="en-US" sz="2800" dirty="0">
              <a:solidFill>
                <a:srgbClr val="414042"/>
              </a:solidFill>
              <a:latin typeface="Inter"/>
            </a:endParaRPr>
          </a:p>
          <a:p>
            <a:pPr marL="0" indent="0">
              <a:buNone/>
            </a:pPr>
            <a:endParaRPr lang="en-US" sz="3200" dirty="0"/>
          </a:p>
        </p:txBody>
      </p:sp>
      <p:pic>
        <p:nvPicPr>
          <p:cNvPr id="33" name="Picture 32">
            <a:extLst>
              <a:ext uri="{FF2B5EF4-FFF2-40B4-BE49-F238E27FC236}">
                <a16:creationId xmlns:a16="http://schemas.microsoft.com/office/drawing/2014/main" id="{A5DC397C-2B77-4200-B02F-47CA26CA2AC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4" name="Straight Connector 33">
            <a:extLst>
              <a:ext uri="{FF2B5EF4-FFF2-40B4-BE49-F238E27FC236}">
                <a16:creationId xmlns:a16="http://schemas.microsoft.com/office/drawing/2014/main" id="{13AFA304-05B8-441F-BA73-B92E08BD6E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8A9FCC8-1A37-748E-BDC6-4FEF4D0879C9}"/>
              </a:ext>
            </a:extLst>
          </p:cNvPr>
          <p:cNvPicPr>
            <a:picLocks noChangeAspect="1"/>
          </p:cNvPicPr>
          <p:nvPr/>
        </p:nvPicPr>
        <p:blipFill>
          <a:blip r:embed="rId3"/>
          <a:stretch>
            <a:fillRect/>
          </a:stretch>
        </p:blipFill>
        <p:spPr>
          <a:xfrm>
            <a:off x="7438236" y="0"/>
            <a:ext cx="4623776" cy="4105937"/>
          </a:xfrm>
          <a:prstGeom prst="rect">
            <a:avLst/>
          </a:prstGeom>
        </p:spPr>
      </p:pic>
      <p:pic>
        <p:nvPicPr>
          <p:cNvPr id="21" name="Picture 20">
            <a:extLst>
              <a:ext uri="{FF2B5EF4-FFF2-40B4-BE49-F238E27FC236}">
                <a16:creationId xmlns:a16="http://schemas.microsoft.com/office/drawing/2014/main" id="{192A8B48-52B3-2828-C32E-8CD1CD8C8987}"/>
              </a:ext>
            </a:extLst>
          </p:cNvPr>
          <p:cNvPicPr>
            <a:picLocks noChangeAspect="1"/>
          </p:cNvPicPr>
          <p:nvPr/>
        </p:nvPicPr>
        <p:blipFill>
          <a:blip r:embed="rId4"/>
          <a:stretch>
            <a:fillRect/>
          </a:stretch>
        </p:blipFill>
        <p:spPr>
          <a:xfrm>
            <a:off x="5202698" y="4244887"/>
            <a:ext cx="6572443" cy="1369259"/>
          </a:xfrm>
          <a:prstGeom prst="rect">
            <a:avLst/>
          </a:prstGeom>
        </p:spPr>
      </p:pic>
      <p:sp>
        <p:nvSpPr>
          <p:cNvPr id="25" name="Content Placeholder 2">
            <a:extLst>
              <a:ext uri="{FF2B5EF4-FFF2-40B4-BE49-F238E27FC236}">
                <a16:creationId xmlns:a16="http://schemas.microsoft.com/office/drawing/2014/main" id="{C8F06405-D6B5-424C-F0FC-E4AB19F361F6}"/>
              </a:ext>
            </a:extLst>
          </p:cNvPr>
          <p:cNvSpPr txBox="1">
            <a:spLocks/>
          </p:cNvSpPr>
          <p:nvPr/>
        </p:nvSpPr>
        <p:spPr>
          <a:xfrm>
            <a:off x="5679142" y="5531869"/>
            <a:ext cx="5925670" cy="254663"/>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3200" dirty="0">
                <a:latin typeface="Inter"/>
              </a:rPr>
              <a:t>A            B          C             D            E</a:t>
            </a:r>
            <a:endParaRPr lang="en-US" sz="3200" dirty="0"/>
          </a:p>
        </p:txBody>
      </p:sp>
    </p:spTree>
    <p:extLst>
      <p:ext uri="{BB962C8B-B14F-4D97-AF65-F5344CB8AC3E}">
        <p14:creationId xmlns:p14="http://schemas.microsoft.com/office/powerpoint/2010/main" val="138893353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DFC-A38D-F436-DEB1-F0F4F70F5CBD}"/>
              </a:ext>
            </a:extLst>
          </p:cNvPr>
          <p:cNvSpPr>
            <a:spLocks noGrp="1"/>
          </p:cNvSpPr>
          <p:nvPr>
            <p:ph type="title"/>
          </p:nvPr>
        </p:nvSpPr>
        <p:spPr/>
        <p:txBody>
          <a:bodyPr/>
          <a:lstStyle/>
          <a:p>
            <a:r>
              <a:rPr lang="en-US" dirty="0"/>
              <a:t>5. Answer: C</a:t>
            </a:r>
          </a:p>
        </p:txBody>
      </p:sp>
      <p:sp>
        <p:nvSpPr>
          <p:cNvPr id="3" name="Content Placeholder 2">
            <a:extLst>
              <a:ext uri="{FF2B5EF4-FFF2-40B4-BE49-F238E27FC236}">
                <a16:creationId xmlns:a16="http://schemas.microsoft.com/office/drawing/2014/main" id="{D664A40D-7C96-4282-6194-E95C86045E41}"/>
              </a:ext>
            </a:extLst>
          </p:cNvPr>
          <p:cNvSpPr>
            <a:spLocks noGrp="1"/>
          </p:cNvSpPr>
          <p:nvPr>
            <p:ph idx="1"/>
          </p:nvPr>
        </p:nvSpPr>
        <p:spPr>
          <a:xfrm>
            <a:off x="416859" y="2015732"/>
            <a:ext cx="11577917" cy="3450613"/>
          </a:xfrm>
        </p:spPr>
        <p:txBody>
          <a:bodyPr>
            <a:noAutofit/>
          </a:bodyPr>
          <a:lstStyle/>
          <a:p>
            <a:pPr marL="0" indent="0">
              <a:buNone/>
            </a:pPr>
            <a:r>
              <a:rPr lang="en-US" sz="3200" b="0" i="0" dirty="0">
                <a:solidFill>
                  <a:srgbClr val="414042"/>
                </a:solidFill>
                <a:effectLst/>
                <a:latin typeface="Inter"/>
              </a:rPr>
              <a:t>Explanation</a:t>
            </a:r>
          </a:p>
          <a:p>
            <a:r>
              <a:rPr lang="en-US" b="0" i="0" dirty="0">
                <a:solidFill>
                  <a:srgbClr val="414042"/>
                </a:solidFill>
                <a:effectLst/>
                <a:latin typeface="Inter"/>
              </a:rPr>
              <a:t>In this matrix:</a:t>
            </a:r>
            <a:br>
              <a:rPr lang="en-US" b="0" i="0" dirty="0">
                <a:solidFill>
                  <a:srgbClr val="414042"/>
                </a:solidFill>
                <a:effectLst/>
                <a:latin typeface="Inter"/>
              </a:rPr>
            </a:br>
            <a:r>
              <a:rPr lang="en-US" b="0" i="0" dirty="0">
                <a:solidFill>
                  <a:srgbClr val="414042"/>
                </a:solidFill>
                <a:effectLst/>
                <a:latin typeface="Inter"/>
              </a:rPr>
              <a:t>In each row and column, one of the boxes is the combination of the other two boxes.</a:t>
            </a:r>
          </a:p>
          <a:p>
            <a:r>
              <a:rPr lang="en-US" b="0" i="0" dirty="0">
                <a:solidFill>
                  <a:srgbClr val="414042"/>
                </a:solidFill>
                <a:effectLst/>
                <a:latin typeface="Inter"/>
              </a:rPr>
              <a:t>The two boxes are different (and do not contain a common element) down the third column. Therefore, the missing box should contain a combination of those two boxes. Notice also, that across the third row if the first box is combined with the second box, which is blank, it would produce a box identical to the first box.</a:t>
            </a:r>
          </a:p>
        </p:txBody>
      </p:sp>
    </p:spTree>
    <p:extLst>
      <p:ext uri="{BB962C8B-B14F-4D97-AF65-F5344CB8AC3E}">
        <p14:creationId xmlns:p14="http://schemas.microsoft.com/office/powerpoint/2010/main" val="3430857616"/>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039FB-DEF9-4288-35F8-53E468A073AE}"/>
              </a:ext>
            </a:extLst>
          </p:cNvPr>
          <p:cNvSpPr>
            <a:spLocks noGrp="1"/>
          </p:cNvSpPr>
          <p:nvPr>
            <p:ph type="title"/>
          </p:nvPr>
        </p:nvSpPr>
        <p:spPr>
          <a:xfrm>
            <a:off x="1498644" y="791072"/>
            <a:ext cx="9603275" cy="1049235"/>
          </a:xfrm>
        </p:spPr>
        <p:txBody>
          <a:bodyPr>
            <a:normAutofit/>
          </a:bodyPr>
          <a:lstStyle/>
          <a:p>
            <a:r>
              <a:rPr lang="en-US" sz="3600" b="1" i="0" dirty="0">
                <a:solidFill>
                  <a:srgbClr val="414042"/>
                </a:solidFill>
                <a:effectLst/>
                <a:latin typeface="Inter"/>
              </a:rPr>
              <a:t>Odd One Out Questions</a:t>
            </a:r>
          </a:p>
        </p:txBody>
      </p:sp>
      <p:sp>
        <p:nvSpPr>
          <p:cNvPr id="3" name="Content Placeholder 2">
            <a:extLst>
              <a:ext uri="{FF2B5EF4-FFF2-40B4-BE49-F238E27FC236}">
                <a16:creationId xmlns:a16="http://schemas.microsoft.com/office/drawing/2014/main" id="{6301F8EF-2526-9A50-9725-EB39DF820371}"/>
              </a:ext>
            </a:extLst>
          </p:cNvPr>
          <p:cNvSpPr>
            <a:spLocks noGrp="1"/>
          </p:cNvSpPr>
          <p:nvPr>
            <p:ph idx="1"/>
          </p:nvPr>
        </p:nvSpPr>
        <p:spPr/>
        <p:txBody>
          <a:bodyPr>
            <a:normAutofit/>
          </a:bodyPr>
          <a:lstStyle/>
          <a:p>
            <a:endParaRPr lang="en-US" sz="3200" b="1" i="0" dirty="0">
              <a:solidFill>
                <a:srgbClr val="414042"/>
              </a:solidFill>
              <a:effectLst/>
              <a:latin typeface="Inter"/>
            </a:endParaRPr>
          </a:p>
          <a:p>
            <a:r>
              <a:rPr lang="en-US" sz="3200" b="0" i="0" dirty="0">
                <a:solidFill>
                  <a:srgbClr val="414042"/>
                </a:solidFill>
                <a:effectLst/>
                <a:latin typeface="Inter"/>
              </a:rPr>
              <a:t>Odd One Out questions ask you to identify the figure that does not belong in a set based on logical reasoning.</a:t>
            </a:r>
          </a:p>
        </p:txBody>
      </p:sp>
    </p:spTree>
    <p:extLst>
      <p:ext uri="{BB962C8B-B14F-4D97-AF65-F5344CB8AC3E}">
        <p14:creationId xmlns:p14="http://schemas.microsoft.com/office/powerpoint/2010/main" val="64705176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60F7-2897-E7C0-126D-47D602262A1C}"/>
              </a:ext>
            </a:extLst>
          </p:cNvPr>
          <p:cNvSpPr>
            <a:spLocks noGrp="1"/>
          </p:cNvSpPr>
          <p:nvPr>
            <p:ph type="title"/>
          </p:nvPr>
        </p:nvSpPr>
        <p:spPr>
          <a:xfrm>
            <a:off x="207726" y="210541"/>
            <a:ext cx="8586649" cy="1146109"/>
          </a:xfrm>
        </p:spPr>
        <p:txBody>
          <a:bodyPr>
            <a:noAutofit/>
          </a:bodyPr>
          <a:lstStyle/>
          <a:p>
            <a:r>
              <a:rPr lang="en-US" dirty="0"/>
              <a:t>Question 6</a:t>
            </a:r>
            <a:r>
              <a:rPr lang="en-US"/>
              <a:t>: </a:t>
            </a:r>
            <a:r>
              <a:rPr lang="en-US" sz="3200" b="1" i="0">
                <a:solidFill>
                  <a:srgbClr val="414042"/>
                </a:solidFill>
                <a:effectLst/>
                <a:latin typeface="Inter"/>
              </a:rPr>
              <a:t>Odd One Out Questions</a:t>
            </a:r>
            <a:br>
              <a:rPr lang="en-US" dirty="0"/>
            </a:br>
            <a:endParaRPr lang="en-US" dirty="0"/>
          </a:p>
        </p:txBody>
      </p:sp>
      <p:sp>
        <p:nvSpPr>
          <p:cNvPr id="3" name="Content Placeholder 2">
            <a:extLst>
              <a:ext uri="{FF2B5EF4-FFF2-40B4-BE49-F238E27FC236}">
                <a16:creationId xmlns:a16="http://schemas.microsoft.com/office/drawing/2014/main" id="{4EB8143F-5B74-7F29-5E07-65ADD3B8E014}"/>
              </a:ext>
            </a:extLst>
          </p:cNvPr>
          <p:cNvSpPr>
            <a:spLocks noGrp="1"/>
          </p:cNvSpPr>
          <p:nvPr>
            <p:ph idx="1"/>
          </p:nvPr>
        </p:nvSpPr>
        <p:spPr>
          <a:xfrm>
            <a:off x="531159" y="3892925"/>
            <a:ext cx="11463617" cy="1647380"/>
          </a:xfrm>
        </p:spPr>
        <p:txBody>
          <a:bodyPr>
            <a:noAutofit/>
          </a:bodyPr>
          <a:lstStyle/>
          <a:p>
            <a:pPr marL="0" indent="0">
              <a:buNone/>
            </a:pPr>
            <a:r>
              <a:rPr lang="en-US" sz="3200" dirty="0">
                <a:latin typeface="Inter"/>
              </a:rPr>
              <a:t>6. </a:t>
            </a:r>
            <a:r>
              <a:rPr lang="en-US" sz="2800" b="0" i="0" dirty="0">
                <a:solidFill>
                  <a:srgbClr val="414042"/>
                </a:solidFill>
                <a:effectLst/>
                <a:latin typeface="Inter"/>
              </a:rPr>
              <a:t>Which of the following boxes should replace the question mark (?) to complete the pattern?</a:t>
            </a:r>
            <a:endParaRPr lang="en-US" sz="2800" dirty="0">
              <a:solidFill>
                <a:srgbClr val="414042"/>
              </a:solidFill>
              <a:latin typeface="Inter"/>
            </a:endParaRPr>
          </a:p>
          <a:p>
            <a:pPr marL="0" indent="0">
              <a:buNone/>
            </a:pPr>
            <a:endParaRPr lang="en-US" sz="3200" dirty="0"/>
          </a:p>
        </p:txBody>
      </p:sp>
      <p:pic>
        <p:nvPicPr>
          <p:cNvPr id="6" name="Picture 5">
            <a:extLst>
              <a:ext uri="{FF2B5EF4-FFF2-40B4-BE49-F238E27FC236}">
                <a16:creationId xmlns:a16="http://schemas.microsoft.com/office/drawing/2014/main" id="{673EEE4B-B511-7CE9-B6A9-0F841956CEEC}"/>
              </a:ext>
            </a:extLst>
          </p:cNvPr>
          <p:cNvPicPr>
            <a:picLocks noChangeAspect="1"/>
          </p:cNvPicPr>
          <p:nvPr/>
        </p:nvPicPr>
        <p:blipFill>
          <a:blip r:embed="rId2"/>
          <a:stretch>
            <a:fillRect/>
          </a:stretch>
        </p:blipFill>
        <p:spPr>
          <a:xfrm>
            <a:off x="1146880" y="935999"/>
            <a:ext cx="9898240" cy="2805039"/>
          </a:xfrm>
          <a:prstGeom prst="rect">
            <a:avLst/>
          </a:prstGeom>
        </p:spPr>
      </p:pic>
    </p:spTree>
    <p:extLst>
      <p:ext uri="{BB962C8B-B14F-4D97-AF65-F5344CB8AC3E}">
        <p14:creationId xmlns:p14="http://schemas.microsoft.com/office/powerpoint/2010/main" val="4210591109"/>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DFC-A38D-F436-DEB1-F0F4F70F5CBD}"/>
              </a:ext>
            </a:extLst>
          </p:cNvPr>
          <p:cNvSpPr>
            <a:spLocks noGrp="1"/>
          </p:cNvSpPr>
          <p:nvPr>
            <p:ph type="title"/>
          </p:nvPr>
        </p:nvSpPr>
        <p:spPr/>
        <p:txBody>
          <a:bodyPr/>
          <a:lstStyle/>
          <a:p>
            <a:r>
              <a:rPr lang="en-US" dirty="0"/>
              <a:t>6. Answer: C</a:t>
            </a:r>
          </a:p>
        </p:txBody>
      </p:sp>
      <p:sp>
        <p:nvSpPr>
          <p:cNvPr id="3" name="Content Placeholder 2">
            <a:extLst>
              <a:ext uri="{FF2B5EF4-FFF2-40B4-BE49-F238E27FC236}">
                <a16:creationId xmlns:a16="http://schemas.microsoft.com/office/drawing/2014/main" id="{D664A40D-7C96-4282-6194-E95C86045E41}"/>
              </a:ext>
            </a:extLst>
          </p:cNvPr>
          <p:cNvSpPr>
            <a:spLocks noGrp="1"/>
          </p:cNvSpPr>
          <p:nvPr>
            <p:ph idx="1"/>
          </p:nvPr>
        </p:nvSpPr>
        <p:spPr>
          <a:xfrm>
            <a:off x="416859" y="2015732"/>
            <a:ext cx="11577917" cy="3450613"/>
          </a:xfrm>
        </p:spPr>
        <p:txBody>
          <a:bodyPr>
            <a:noAutofit/>
          </a:bodyPr>
          <a:lstStyle/>
          <a:p>
            <a:pPr marL="0" indent="0">
              <a:buNone/>
            </a:pPr>
            <a:r>
              <a:rPr lang="en-US" sz="3200" b="0" i="0" dirty="0">
                <a:solidFill>
                  <a:srgbClr val="414042"/>
                </a:solidFill>
                <a:effectLst/>
                <a:latin typeface="Inter"/>
              </a:rPr>
              <a:t>Explanation</a:t>
            </a:r>
          </a:p>
          <a:p>
            <a:r>
              <a:rPr lang="en-US" b="0" i="0" dirty="0">
                <a:solidFill>
                  <a:srgbClr val="414042"/>
                </a:solidFill>
                <a:effectLst/>
                <a:latin typeface="Inter"/>
              </a:rPr>
              <a:t>The logic: In all of the options except for option three, a vertical line separates these boxes into two equal, symmetrical halves that mirror one another. If these boxes were pieces of paper that were folded vertically, the items in the boxes would be matching and perfectly identical. The right and left halves are mirror images of one another. This is not the case for option three. In option 3, there is no mirroring effect between the halves. Both hearts have to be on the top or on the box's bottom to be symmetrical.</a:t>
            </a:r>
          </a:p>
          <a:p>
            <a:pPr marL="0" indent="0">
              <a:buNone/>
            </a:pPr>
            <a:endParaRPr lang="en-US" b="0" i="0" dirty="0">
              <a:solidFill>
                <a:srgbClr val="414042"/>
              </a:solidFill>
              <a:effectLst/>
              <a:latin typeface="Inter"/>
            </a:endParaRPr>
          </a:p>
        </p:txBody>
      </p:sp>
    </p:spTree>
    <p:extLst>
      <p:ext uri="{BB962C8B-B14F-4D97-AF65-F5344CB8AC3E}">
        <p14:creationId xmlns:p14="http://schemas.microsoft.com/office/powerpoint/2010/main" val="82619618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60F7-2897-E7C0-126D-47D602262A1C}"/>
              </a:ext>
            </a:extLst>
          </p:cNvPr>
          <p:cNvSpPr>
            <a:spLocks noGrp="1"/>
          </p:cNvSpPr>
          <p:nvPr>
            <p:ph type="title"/>
          </p:nvPr>
        </p:nvSpPr>
        <p:spPr>
          <a:xfrm>
            <a:off x="207726" y="210541"/>
            <a:ext cx="8586649" cy="1146109"/>
          </a:xfrm>
        </p:spPr>
        <p:txBody>
          <a:bodyPr>
            <a:noAutofit/>
          </a:bodyPr>
          <a:lstStyle/>
          <a:p>
            <a:r>
              <a:rPr lang="en-US" dirty="0"/>
              <a:t>Question 7: </a:t>
            </a:r>
            <a:r>
              <a:rPr lang="en-US" b="1" i="0" dirty="0">
                <a:solidFill>
                  <a:srgbClr val="414042"/>
                </a:solidFill>
                <a:effectLst/>
                <a:latin typeface="Inter"/>
              </a:rPr>
              <a:t>Analogies Questions</a:t>
            </a:r>
            <a:br>
              <a:rPr lang="en-US" b="1" i="0" dirty="0">
                <a:solidFill>
                  <a:srgbClr val="414042"/>
                </a:solidFill>
                <a:effectLst/>
                <a:latin typeface="Inter"/>
              </a:rPr>
            </a:br>
            <a:br>
              <a:rPr lang="en-US" dirty="0"/>
            </a:br>
            <a:endParaRPr lang="en-US" dirty="0"/>
          </a:p>
        </p:txBody>
      </p:sp>
      <p:sp>
        <p:nvSpPr>
          <p:cNvPr id="3" name="Content Placeholder 2">
            <a:extLst>
              <a:ext uri="{FF2B5EF4-FFF2-40B4-BE49-F238E27FC236}">
                <a16:creationId xmlns:a16="http://schemas.microsoft.com/office/drawing/2014/main" id="{4EB8143F-5B74-7F29-5E07-65ADD3B8E014}"/>
              </a:ext>
            </a:extLst>
          </p:cNvPr>
          <p:cNvSpPr>
            <a:spLocks noGrp="1"/>
          </p:cNvSpPr>
          <p:nvPr>
            <p:ph idx="1"/>
          </p:nvPr>
        </p:nvSpPr>
        <p:spPr>
          <a:xfrm>
            <a:off x="110585" y="1848972"/>
            <a:ext cx="4390465" cy="1647380"/>
          </a:xfrm>
        </p:spPr>
        <p:txBody>
          <a:bodyPr>
            <a:noAutofit/>
          </a:bodyPr>
          <a:lstStyle/>
          <a:p>
            <a:pPr marL="0" indent="0">
              <a:buNone/>
            </a:pPr>
            <a:r>
              <a:rPr lang="en-US" sz="3200" dirty="0">
                <a:latin typeface="Inter"/>
              </a:rPr>
              <a:t>7. </a:t>
            </a:r>
            <a:r>
              <a:rPr lang="en-US" sz="3200" b="0" i="0" dirty="0">
                <a:solidFill>
                  <a:srgbClr val="414042"/>
                </a:solidFill>
                <a:effectLst/>
                <a:latin typeface="Inter"/>
              </a:rPr>
              <a:t>Which option completes the sequence best?</a:t>
            </a:r>
            <a:endParaRPr lang="en-US" sz="3200" dirty="0">
              <a:solidFill>
                <a:srgbClr val="414042"/>
              </a:solidFill>
              <a:latin typeface="Inter"/>
            </a:endParaRPr>
          </a:p>
          <a:p>
            <a:pPr marL="0" indent="0">
              <a:buNone/>
            </a:pPr>
            <a:endParaRPr lang="en-US" sz="3200" dirty="0"/>
          </a:p>
        </p:txBody>
      </p:sp>
      <p:pic>
        <p:nvPicPr>
          <p:cNvPr id="7" name="Picture 6">
            <a:extLst>
              <a:ext uri="{FF2B5EF4-FFF2-40B4-BE49-F238E27FC236}">
                <a16:creationId xmlns:a16="http://schemas.microsoft.com/office/drawing/2014/main" id="{E186004D-1FF0-2D08-B530-426E9F7EC6EF}"/>
              </a:ext>
            </a:extLst>
          </p:cNvPr>
          <p:cNvPicPr>
            <a:picLocks noChangeAspect="1"/>
          </p:cNvPicPr>
          <p:nvPr/>
        </p:nvPicPr>
        <p:blipFill>
          <a:blip r:embed="rId2"/>
          <a:stretch>
            <a:fillRect/>
          </a:stretch>
        </p:blipFill>
        <p:spPr>
          <a:xfrm>
            <a:off x="4579544" y="1731613"/>
            <a:ext cx="7612456" cy="4104411"/>
          </a:xfrm>
          <a:prstGeom prst="rect">
            <a:avLst/>
          </a:prstGeom>
        </p:spPr>
      </p:pic>
    </p:spTree>
    <p:extLst>
      <p:ext uri="{BB962C8B-B14F-4D97-AF65-F5344CB8AC3E}">
        <p14:creationId xmlns:p14="http://schemas.microsoft.com/office/powerpoint/2010/main" val="417061011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DFC-A38D-F436-DEB1-F0F4F70F5CBD}"/>
              </a:ext>
            </a:extLst>
          </p:cNvPr>
          <p:cNvSpPr>
            <a:spLocks noGrp="1"/>
          </p:cNvSpPr>
          <p:nvPr>
            <p:ph type="title"/>
          </p:nvPr>
        </p:nvSpPr>
        <p:spPr/>
        <p:txBody>
          <a:bodyPr/>
          <a:lstStyle/>
          <a:p>
            <a:r>
              <a:rPr lang="en-US" dirty="0"/>
              <a:t>7. Answer: A</a:t>
            </a:r>
          </a:p>
        </p:txBody>
      </p:sp>
      <p:sp>
        <p:nvSpPr>
          <p:cNvPr id="3" name="Content Placeholder 2">
            <a:extLst>
              <a:ext uri="{FF2B5EF4-FFF2-40B4-BE49-F238E27FC236}">
                <a16:creationId xmlns:a16="http://schemas.microsoft.com/office/drawing/2014/main" id="{D664A40D-7C96-4282-6194-E95C86045E41}"/>
              </a:ext>
            </a:extLst>
          </p:cNvPr>
          <p:cNvSpPr>
            <a:spLocks noGrp="1"/>
          </p:cNvSpPr>
          <p:nvPr>
            <p:ph idx="1"/>
          </p:nvPr>
        </p:nvSpPr>
        <p:spPr>
          <a:xfrm>
            <a:off x="416859" y="2015732"/>
            <a:ext cx="11577917" cy="3450613"/>
          </a:xfrm>
        </p:spPr>
        <p:txBody>
          <a:bodyPr>
            <a:noAutofit/>
          </a:bodyPr>
          <a:lstStyle/>
          <a:p>
            <a:pPr marL="0" indent="0">
              <a:buNone/>
            </a:pPr>
            <a:r>
              <a:rPr lang="en-US" sz="3200" b="0" i="0" dirty="0">
                <a:solidFill>
                  <a:srgbClr val="414042"/>
                </a:solidFill>
                <a:effectLst/>
                <a:latin typeface="Inter"/>
              </a:rPr>
              <a:t>Explanation</a:t>
            </a:r>
          </a:p>
          <a:p>
            <a:r>
              <a:rPr lang="en-US" b="0" i="0" dirty="0">
                <a:solidFill>
                  <a:srgbClr val="414042"/>
                </a:solidFill>
                <a:effectLst/>
                <a:latin typeface="Inter"/>
              </a:rPr>
              <a:t>The relationship between figure X and figure Y is as follows:</a:t>
            </a:r>
          </a:p>
          <a:p>
            <a:r>
              <a:rPr lang="en-US" b="0" i="0" dirty="0">
                <a:solidFill>
                  <a:srgbClr val="414042"/>
                </a:solidFill>
                <a:effectLst/>
                <a:latin typeface="Inter"/>
              </a:rPr>
              <a:t>Figure Y represents figure X with:</a:t>
            </a:r>
            <a:br>
              <a:rPr lang="en-US" b="0" i="0" dirty="0">
                <a:solidFill>
                  <a:srgbClr val="414042"/>
                </a:solidFill>
                <a:effectLst/>
                <a:latin typeface="Inter"/>
              </a:rPr>
            </a:br>
            <a:r>
              <a:rPr lang="en-US" b="0" i="0" dirty="0">
                <a:solidFill>
                  <a:srgbClr val="414042"/>
                </a:solidFill>
                <a:effectLst/>
                <a:latin typeface="Inter"/>
              </a:rPr>
              <a:t>1) The dotted section becoming white, and</a:t>
            </a:r>
            <a:br>
              <a:rPr lang="en-US" b="0" i="0" dirty="0">
                <a:solidFill>
                  <a:srgbClr val="414042"/>
                </a:solidFill>
                <a:effectLst/>
                <a:latin typeface="Inter"/>
              </a:rPr>
            </a:br>
            <a:r>
              <a:rPr lang="en-US" b="0" i="0" dirty="0">
                <a:solidFill>
                  <a:srgbClr val="414042"/>
                </a:solidFill>
                <a:effectLst/>
                <a:latin typeface="Inter"/>
              </a:rPr>
              <a:t>2) The white area becoming shaded.</a:t>
            </a:r>
          </a:p>
          <a:p>
            <a:r>
              <a:rPr lang="en-US" b="0" i="0" dirty="0">
                <a:solidFill>
                  <a:srgbClr val="414042"/>
                </a:solidFill>
                <a:effectLst/>
                <a:latin typeface="Inter"/>
              </a:rPr>
              <a:t>The correct answer must have the same relationship with figure Z.</a:t>
            </a:r>
          </a:p>
          <a:p>
            <a:pPr marL="0" indent="0">
              <a:buNone/>
            </a:pPr>
            <a:endParaRPr lang="en-US" b="0" i="0" dirty="0">
              <a:solidFill>
                <a:srgbClr val="414042"/>
              </a:solidFill>
              <a:effectLst/>
              <a:latin typeface="Inter"/>
            </a:endParaRPr>
          </a:p>
        </p:txBody>
      </p:sp>
    </p:spTree>
    <p:extLst>
      <p:ext uri="{BB962C8B-B14F-4D97-AF65-F5344CB8AC3E}">
        <p14:creationId xmlns:p14="http://schemas.microsoft.com/office/powerpoint/2010/main" val="2371051932"/>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60F7-2897-E7C0-126D-47D602262A1C}"/>
              </a:ext>
            </a:extLst>
          </p:cNvPr>
          <p:cNvSpPr>
            <a:spLocks noGrp="1"/>
          </p:cNvSpPr>
          <p:nvPr>
            <p:ph type="title"/>
          </p:nvPr>
        </p:nvSpPr>
        <p:spPr>
          <a:xfrm>
            <a:off x="207726" y="210541"/>
            <a:ext cx="8586649" cy="1146109"/>
          </a:xfrm>
        </p:spPr>
        <p:txBody>
          <a:bodyPr>
            <a:noAutofit/>
          </a:bodyPr>
          <a:lstStyle/>
          <a:p>
            <a:r>
              <a:rPr lang="en-US" dirty="0"/>
              <a:t>Question 8: </a:t>
            </a:r>
            <a:r>
              <a:rPr lang="en-US" b="1" i="0" dirty="0">
                <a:solidFill>
                  <a:srgbClr val="414042"/>
                </a:solidFill>
                <a:effectLst/>
                <a:latin typeface="Inter"/>
              </a:rPr>
              <a:t>Analogies Questions</a:t>
            </a:r>
            <a:br>
              <a:rPr lang="en-US" b="1" i="0" dirty="0">
                <a:solidFill>
                  <a:srgbClr val="414042"/>
                </a:solidFill>
                <a:effectLst/>
                <a:latin typeface="Inter"/>
              </a:rPr>
            </a:br>
            <a:br>
              <a:rPr lang="en-US" dirty="0"/>
            </a:br>
            <a:endParaRPr lang="en-US" dirty="0"/>
          </a:p>
        </p:txBody>
      </p:sp>
      <p:sp>
        <p:nvSpPr>
          <p:cNvPr id="3" name="Content Placeholder 2">
            <a:extLst>
              <a:ext uri="{FF2B5EF4-FFF2-40B4-BE49-F238E27FC236}">
                <a16:creationId xmlns:a16="http://schemas.microsoft.com/office/drawing/2014/main" id="{4EB8143F-5B74-7F29-5E07-65ADD3B8E014}"/>
              </a:ext>
            </a:extLst>
          </p:cNvPr>
          <p:cNvSpPr>
            <a:spLocks noGrp="1"/>
          </p:cNvSpPr>
          <p:nvPr>
            <p:ph idx="1"/>
          </p:nvPr>
        </p:nvSpPr>
        <p:spPr>
          <a:xfrm>
            <a:off x="110585" y="1848972"/>
            <a:ext cx="4390465" cy="1647380"/>
          </a:xfrm>
        </p:spPr>
        <p:txBody>
          <a:bodyPr>
            <a:noAutofit/>
          </a:bodyPr>
          <a:lstStyle/>
          <a:p>
            <a:pPr marL="0" indent="0">
              <a:buNone/>
            </a:pPr>
            <a:r>
              <a:rPr lang="en-US" sz="3200" dirty="0">
                <a:latin typeface="Inter"/>
              </a:rPr>
              <a:t>8. </a:t>
            </a:r>
            <a:r>
              <a:rPr lang="en-US" sz="3200" b="0" i="0" dirty="0">
                <a:solidFill>
                  <a:srgbClr val="414042"/>
                </a:solidFill>
                <a:effectLst/>
                <a:latin typeface="Inter"/>
              </a:rPr>
              <a:t>Which option completes the sequence best?</a:t>
            </a:r>
            <a:endParaRPr lang="en-US" sz="3200" dirty="0">
              <a:solidFill>
                <a:srgbClr val="414042"/>
              </a:solidFill>
              <a:latin typeface="Inter"/>
            </a:endParaRPr>
          </a:p>
          <a:p>
            <a:pPr marL="0" indent="0">
              <a:buNone/>
            </a:pPr>
            <a:endParaRPr lang="en-US" sz="3200" dirty="0"/>
          </a:p>
        </p:txBody>
      </p:sp>
      <p:pic>
        <p:nvPicPr>
          <p:cNvPr id="6" name="Picture 5">
            <a:extLst>
              <a:ext uri="{FF2B5EF4-FFF2-40B4-BE49-F238E27FC236}">
                <a16:creationId xmlns:a16="http://schemas.microsoft.com/office/drawing/2014/main" id="{C25DD702-E746-B853-DAF3-526DBA8C9A99}"/>
              </a:ext>
            </a:extLst>
          </p:cNvPr>
          <p:cNvPicPr>
            <a:picLocks noChangeAspect="1"/>
          </p:cNvPicPr>
          <p:nvPr/>
        </p:nvPicPr>
        <p:blipFill>
          <a:blip r:embed="rId2"/>
          <a:stretch>
            <a:fillRect/>
          </a:stretch>
        </p:blipFill>
        <p:spPr>
          <a:xfrm>
            <a:off x="4643231" y="1991566"/>
            <a:ext cx="7246574" cy="3757052"/>
          </a:xfrm>
          <a:prstGeom prst="rect">
            <a:avLst/>
          </a:prstGeom>
        </p:spPr>
      </p:pic>
    </p:spTree>
    <p:extLst>
      <p:ext uri="{BB962C8B-B14F-4D97-AF65-F5344CB8AC3E}">
        <p14:creationId xmlns:p14="http://schemas.microsoft.com/office/powerpoint/2010/main" val="1435871866"/>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DFC-A38D-F436-DEB1-F0F4F70F5CBD}"/>
              </a:ext>
            </a:extLst>
          </p:cNvPr>
          <p:cNvSpPr>
            <a:spLocks noGrp="1"/>
          </p:cNvSpPr>
          <p:nvPr>
            <p:ph type="title"/>
          </p:nvPr>
        </p:nvSpPr>
        <p:spPr/>
        <p:txBody>
          <a:bodyPr/>
          <a:lstStyle/>
          <a:p>
            <a:r>
              <a:rPr lang="en-US" dirty="0"/>
              <a:t>8. Answer: C</a:t>
            </a:r>
          </a:p>
        </p:txBody>
      </p:sp>
      <p:sp>
        <p:nvSpPr>
          <p:cNvPr id="3" name="Content Placeholder 2">
            <a:extLst>
              <a:ext uri="{FF2B5EF4-FFF2-40B4-BE49-F238E27FC236}">
                <a16:creationId xmlns:a16="http://schemas.microsoft.com/office/drawing/2014/main" id="{D664A40D-7C96-4282-6194-E95C86045E41}"/>
              </a:ext>
            </a:extLst>
          </p:cNvPr>
          <p:cNvSpPr>
            <a:spLocks noGrp="1"/>
          </p:cNvSpPr>
          <p:nvPr>
            <p:ph idx="1"/>
          </p:nvPr>
        </p:nvSpPr>
        <p:spPr>
          <a:xfrm>
            <a:off x="416859" y="2015732"/>
            <a:ext cx="11577917" cy="3450613"/>
          </a:xfrm>
        </p:spPr>
        <p:txBody>
          <a:bodyPr>
            <a:noAutofit/>
          </a:bodyPr>
          <a:lstStyle/>
          <a:p>
            <a:pPr marL="0" indent="0">
              <a:buNone/>
            </a:pPr>
            <a:r>
              <a:rPr lang="en-US" sz="3200" b="0" i="0" dirty="0">
                <a:solidFill>
                  <a:srgbClr val="414042"/>
                </a:solidFill>
                <a:effectLst/>
                <a:latin typeface="Inter"/>
              </a:rPr>
              <a:t>Explanation</a:t>
            </a:r>
          </a:p>
          <a:p>
            <a:r>
              <a:rPr lang="en-US" b="0" i="0" dirty="0">
                <a:solidFill>
                  <a:srgbClr val="414042"/>
                </a:solidFill>
                <a:effectLst/>
                <a:latin typeface="Inter"/>
              </a:rPr>
              <a:t>Figure X and figure Y are as follows: figure Y is figure X flipped vertically.</a:t>
            </a:r>
          </a:p>
          <a:p>
            <a:r>
              <a:rPr lang="en-US" b="0" i="0" dirty="0">
                <a:solidFill>
                  <a:srgbClr val="414042"/>
                </a:solidFill>
                <a:effectLst/>
                <a:latin typeface="Inter"/>
              </a:rPr>
              <a:t>The correct answer must have the same relationship as figure Z.</a:t>
            </a:r>
          </a:p>
          <a:p>
            <a:r>
              <a:rPr lang="en-US" b="0" i="0" dirty="0">
                <a:solidFill>
                  <a:srgbClr val="414042"/>
                </a:solidFill>
                <a:effectLst/>
                <a:latin typeface="Inter"/>
              </a:rPr>
              <a:t>You can eliminate answer A, as it represents figure Z rotated 90° counterclockwise.</a:t>
            </a:r>
            <a:br>
              <a:rPr lang="en-US" b="0" i="0" dirty="0">
                <a:solidFill>
                  <a:srgbClr val="414042"/>
                </a:solidFill>
                <a:effectLst/>
                <a:latin typeface="Inter"/>
              </a:rPr>
            </a:br>
            <a:r>
              <a:rPr lang="en-US" b="0" i="0" dirty="0">
                <a:solidFill>
                  <a:srgbClr val="414042"/>
                </a:solidFill>
                <a:effectLst/>
                <a:latin typeface="Inter"/>
              </a:rPr>
              <a:t>You can eliminate answer B, as it represents figure Z flipped vertically and rotated 90° counterclockwise.</a:t>
            </a:r>
            <a:br>
              <a:rPr lang="en-US" b="0" i="0" dirty="0">
                <a:solidFill>
                  <a:srgbClr val="414042"/>
                </a:solidFill>
                <a:effectLst/>
                <a:latin typeface="Inter"/>
              </a:rPr>
            </a:br>
            <a:r>
              <a:rPr lang="en-US" b="0" i="0" dirty="0">
                <a:solidFill>
                  <a:srgbClr val="414042"/>
                </a:solidFill>
                <a:effectLst/>
                <a:latin typeface="Inter"/>
              </a:rPr>
              <a:t>You can eliminate answer D, as it represents figure Z flipped horizontally.</a:t>
            </a:r>
            <a:br>
              <a:rPr lang="en-US" b="0" i="0" dirty="0">
                <a:solidFill>
                  <a:srgbClr val="414042"/>
                </a:solidFill>
                <a:effectLst/>
                <a:latin typeface="Inter"/>
              </a:rPr>
            </a:br>
            <a:r>
              <a:rPr lang="en-US" b="0" i="0" dirty="0">
                <a:solidFill>
                  <a:srgbClr val="414042"/>
                </a:solidFill>
                <a:effectLst/>
                <a:latin typeface="Inter"/>
              </a:rPr>
              <a:t>You can eliminate answer E, as it is identical to figure Z.</a:t>
            </a:r>
          </a:p>
          <a:p>
            <a:r>
              <a:rPr lang="en-US" b="0" i="0" dirty="0">
                <a:solidFill>
                  <a:srgbClr val="414042"/>
                </a:solidFill>
                <a:effectLst/>
                <a:latin typeface="Inter"/>
              </a:rPr>
              <a:t>You are left with answer 3, which is the correct answer, as it is depicted in figure Z flipped vertically.</a:t>
            </a:r>
          </a:p>
        </p:txBody>
      </p:sp>
    </p:spTree>
    <p:extLst>
      <p:ext uri="{BB962C8B-B14F-4D97-AF65-F5344CB8AC3E}">
        <p14:creationId xmlns:p14="http://schemas.microsoft.com/office/powerpoint/2010/main" val="2989585051"/>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E09AB-4FBC-4C0C-8921-6106186D7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60DCF-8CE9-229F-A408-561013A5509C}"/>
              </a:ext>
            </a:extLst>
          </p:cNvPr>
          <p:cNvSpPr>
            <a:spLocks noGrp="1"/>
          </p:cNvSpPr>
          <p:nvPr>
            <p:ph type="ctrTitle"/>
          </p:nvPr>
        </p:nvSpPr>
        <p:spPr/>
        <p:txBody>
          <a:bodyPr/>
          <a:lstStyle/>
          <a:p>
            <a:r>
              <a:rPr lang="en-US" dirty="0"/>
              <a:t>ABSTRACT REASONING</a:t>
            </a:r>
          </a:p>
        </p:txBody>
      </p:sp>
      <p:sp>
        <p:nvSpPr>
          <p:cNvPr id="3" name="Subtitle 2">
            <a:extLst>
              <a:ext uri="{FF2B5EF4-FFF2-40B4-BE49-F238E27FC236}">
                <a16:creationId xmlns:a16="http://schemas.microsoft.com/office/drawing/2014/main" id="{CB727499-B3A4-5519-C6F3-41D80910E863}"/>
              </a:ext>
            </a:extLst>
          </p:cNvPr>
          <p:cNvSpPr>
            <a:spLocks noGrp="1"/>
          </p:cNvSpPr>
          <p:nvPr>
            <p:ph type="subTitle" idx="1"/>
          </p:nvPr>
        </p:nvSpPr>
        <p:spPr/>
        <p:txBody>
          <a:bodyPr/>
          <a:lstStyle/>
          <a:p>
            <a:r>
              <a:rPr lang="en-US" dirty="0"/>
              <a:t>Maria </a:t>
            </a:r>
            <a:r>
              <a:rPr lang="en-US" dirty="0" err="1"/>
              <a:t>isabel</a:t>
            </a:r>
            <a:r>
              <a:rPr lang="en-US" dirty="0"/>
              <a:t> r. </a:t>
            </a:r>
            <a:r>
              <a:rPr lang="en-US" dirty="0" err="1"/>
              <a:t>fernandez</a:t>
            </a:r>
            <a:endParaRPr lang="en-US" dirty="0"/>
          </a:p>
        </p:txBody>
      </p:sp>
    </p:spTree>
    <p:extLst>
      <p:ext uri="{BB962C8B-B14F-4D97-AF65-F5344CB8AC3E}">
        <p14:creationId xmlns:p14="http://schemas.microsoft.com/office/powerpoint/2010/main" val="4084774695"/>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518A-4B5A-24DC-4F7E-309F5BEB3D23}"/>
              </a:ext>
            </a:extLst>
          </p:cNvPr>
          <p:cNvSpPr>
            <a:spLocks noGrp="1"/>
          </p:cNvSpPr>
          <p:nvPr>
            <p:ph type="title"/>
          </p:nvPr>
        </p:nvSpPr>
        <p:spPr/>
        <p:txBody>
          <a:bodyPr/>
          <a:lstStyle/>
          <a:p>
            <a:r>
              <a:rPr lang="en-PH" dirty="0"/>
              <a:t>9. PATTERN COMPLETION</a:t>
            </a:r>
          </a:p>
        </p:txBody>
      </p:sp>
      <p:pic>
        <p:nvPicPr>
          <p:cNvPr id="9" name="Picture 8">
            <a:extLst>
              <a:ext uri="{FF2B5EF4-FFF2-40B4-BE49-F238E27FC236}">
                <a16:creationId xmlns:a16="http://schemas.microsoft.com/office/drawing/2014/main" id="{81A082CF-8838-9994-047A-F542FBAB607E}"/>
              </a:ext>
            </a:extLst>
          </p:cNvPr>
          <p:cNvPicPr>
            <a:picLocks noChangeAspect="1"/>
          </p:cNvPicPr>
          <p:nvPr/>
        </p:nvPicPr>
        <p:blipFill>
          <a:blip r:embed="rId3"/>
          <a:stretch>
            <a:fillRect/>
          </a:stretch>
        </p:blipFill>
        <p:spPr>
          <a:xfrm>
            <a:off x="569871" y="1650738"/>
            <a:ext cx="5087544" cy="1661450"/>
          </a:xfrm>
          <a:prstGeom prst="rect">
            <a:avLst/>
          </a:prstGeom>
        </p:spPr>
      </p:pic>
      <p:pic>
        <p:nvPicPr>
          <p:cNvPr id="11" name="Picture 10">
            <a:extLst>
              <a:ext uri="{FF2B5EF4-FFF2-40B4-BE49-F238E27FC236}">
                <a16:creationId xmlns:a16="http://schemas.microsoft.com/office/drawing/2014/main" id="{E510CEBE-25EA-67D1-B691-58148336ED4E}"/>
              </a:ext>
            </a:extLst>
          </p:cNvPr>
          <p:cNvPicPr>
            <a:picLocks noChangeAspect="1"/>
          </p:cNvPicPr>
          <p:nvPr/>
        </p:nvPicPr>
        <p:blipFill>
          <a:blip r:embed="rId4"/>
          <a:stretch>
            <a:fillRect/>
          </a:stretch>
        </p:blipFill>
        <p:spPr>
          <a:xfrm>
            <a:off x="569871" y="3429000"/>
            <a:ext cx="5087544" cy="1818482"/>
          </a:xfrm>
          <a:prstGeom prst="rect">
            <a:avLst/>
          </a:prstGeom>
        </p:spPr>
      </p:pic>
      <p:sp>
        <p:nvSpPr>
          <p:cNvPr id="12" name="Content Placeholder 2">
            <a:extLst>
              <a:ext uri="{FF2B5EF4-FFF2-40B4-BE49-F238E27FC236}">
                <a16:creationId xmlns:a16="http://schemas.microsoft.com/office/drawing/2014/main" id="{425244AC-F0ED-B44F-BC3D-03B35838FFD1}"/>
              </a:ext>
            </a:extLst>
          </p:cNvPr>
          <p:cNvSpPr>
            <a:spLocks noGrp="1"/>
          </p:cNvSpPr>
          <p:nvPr>
            <p:ph idx="1"/>
          </p:nvPr>
        </p:nvSpPr>
        <p:spPr>
          <a:xfrm>
            <a:off x="138550" y="5364294"/>
            <a:ext cx="6607306" cy="1049235"/>
          </a:xfrm>
        </p:spPr>
        <p:txBody>
          <a:bodyPr>
            <a:normAutofit/>
          </a:bodyPr>
          <a:lstStyle/>
          <a:p>
            <a:pPr>
              <a:lnSpc>
                <a:spcPct val="100000"/>
              </a:lnSpc>
            </a:pPr>
            <a:r>
              <a:rPr lang="en-US" sz="3200" b="1" i="0" dirty="0">
                <a:solidFill>
                  <a:srgbClr val="414042"/>
                </a:solidFill>
                <a:effectLst/>
                <a:latin typeface="Inter"/>
              </a:rPr>
              <a:t>Which figure completes the series?</a:t>
            </a:r>
          </a:p>
        </p:txBody>
      </p:sp>
      <p:sp>
        <p:nvSpPr>
          <p:cNvPr id="13" name="Content Placeholder 2">
            <a:extLst>
              <a:ext uri="{FF2B5EF4-FFF2-40B4-BE49-F238E27FC236}">
                <a16:creationId xmlns:a16="http://schemas.microsoft.com/office/drawing/2014/main" id="{53CA5E3E-4477-03A7-0283-6A0F13F69545}"/>
              </a:ext>
            </a:extLst>
          </p:cNvPr>
          <p:cNvSpPr txBox="1">
            <a:spLocks/>
          </p:cNvSpPr>
          <p:nvPr/>
        </p:nvSpPr>
        <p:spPr>
          <a:xfrm>
            <a:off x="6534587" y="1970566"/>
            <a:ext cx="5637088" cy="4399204"/>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spcBef>
                <a:spcPts val="0"/>
              </a:spcBef>
            </a:pPr>
            <a:r>
              <a:rPr lang="en-US" sz="2400" b="1" dirty="0"/>
              <a:t>The black region moves clockwise around the square’s edges</a:t>
            </a:r>
          </a:p>
          <a:p>
            <a:pPr>
              <a:spcBef>
                <a:spcPts val="0"/>
              </a:spcBef>
            </a:pPr>
            <a:r>
              <a:rPr lang="en-US" sz="2400" dirty="0"/>
              <a:t>Track where the </a:t>
            </a:r>
            <a:r>
              <a:rPr lang="en-US" sz="2400" b="1" dirty="0"/>
              <a:t>dominant black mass sits</a:t>
            </a:r>
            <a:r>
              <a:rPr lang="en-US" sz="2400" dirty="0"/>
              <a:t>:</a:t>
            </a:r>
          </a:p>
          <a:p>
            <a:pPr>
              <a:spcBef>
                <a:spcPts val="0"/>
              </a:spcBef>
            </a:pPr>
            <a:r>
              <a:rPr lang="en-US" sz="2400" b="1" dirty="0"/>
              <a:t>Top-left</a:t>
            </a:r>
            <a:endParaRPr lang="en-US" sz="2400" dirty="0"/>
          </a:p>
          <a:p>
            <a:pPr>
              <a:spcBef>
                <a:spcPts val="0"/>
              </a:spcBef>
            </a:pPr>
            <a:r>
              <a:rPr lang="en-US" sz="2400" b="1" dirty="0"/>
              <a:t>Right side</a:t>
            </a:r>
            <a:endParaRPr lang="en-US" sz="2400" dirty="0"/>
          </a:p>
          <a:p>
            <a:pPr>
              <a:spcBef>
                <a:spcPts val="0"/>
              </a:spcBef>
            </a:pPr>
            <a:r>
              <a:rPr lang="en-US" sz="2400" b="1" dirty="0"/>
              <a:t>Bottom</a:t>
            </a:r>
            <a:endParaRPr lang="en-US" sz="2400" dirty="0"/>
          </a:p>
          <a:p>
            <a:pPr>
              <a:spcBef>
                <a:spcPts val="0"/>
              </a:spcBef>
            </a:pPr>
            <a:r>
              <a:rPr lang="en-US" sz="2400" b="1" dirty="0"/>
              <a:t>Right diagonal / half-square</a:t>
            </a:r>
            <a:endParaRPr lang="en-US" sz="2400" dirty="0"/>
          </a:p>
          <a:p>
            <a:pPr>
              <a:spcBef>
                <a:spcPts val="0"/>
              </a:spcBef>
            </a:pPr>
            <a:r>
              <a:rPr lang="en-US" sz="2400" b="1" dirty="0"/>
              <a:t>Next → Left side dominance</a:t>
            </a:r>
            <a:endParaRPr lang="en-US" sz="2400" dirty="0"/>
          </a:p>
          <a:p>
            <a:pPr>
              <a:spcBef>
                <a:spcPts val="0"/>
              </a:spcBef>
            </a:pPr>
            <a:r>
              <a:rPr lang="en-US" sz="2400" dirty="0"/>
              <a:t>Only </a:t>
            </a:r>
            <a:r>
              <a:rPr lang="en-US" sz="2400" b="1" dirty="0"/>
              <a:t>D</a:t>
            </a:r>
            <a:r>
              <a:rPr lang="en-US" sz="2400" dirty="0"/>
              <a:t> places the black mass on the </a:t>
            </a:r>
            <a:r>
              <a:rPr lang="en-US" sz="2400" b="1" dirty="0"/>
              <a:t>left side</a:t>
            </a:r>
            <a:r>
              <a:rPr lang="en-US" sz="2400" dirty="0"/>
              <a:t>, continuing the clockwise edge progression.</a:t>
            </a:r>
          </a:p>
        </p:txBody>
      </p:sp>
      <p:sp>
        <p:nvSpPr>
          <p:cNvPr id="14" name="Oval 13">
            <a:extLst>
              <a:ext uri="{FF2B5EF4-FFF2-40B4-BE49-F238E27FC236}">
                <a16:creationId xmlns:a16="http://schemas.microsoft.com/office/drawing/2014/main" id="{449A6DCD-5457-E872-7FC0-FF70CA5608E5}"/>
              </a:ext>
            </a:extLst>
          </p:cNvPr>
          <p:cNvSpPr/>
          <p:nvPr/>
        </p:nvSpPr>
        <p:spPr>
          <a:xfrm>
            <a:off x="4140679" y="3312188"/>
            <a:ext cx="1656272" cy="18184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1209561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A9D46-ABBF-B401-4708-181DFE5E4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55195-FF82-D6E3-51A0-99996AE6C4B0}"/>
              </a:ext>
            </a:extLst>
          </p:cNvPr>
          <p:cNvSpPr>
            <a:spLocks noGrp="1"/>
          </p:cNvSpPr>
          <p:nvPr>
            <p:ph type="title"/>
          </p:nvPr>
        </p:nvSpPr>
        <p:spPr/>
        <p:txBody>
          <a:bodyPr/>
          <a:lstStyle/>
          <a:p>
            <a:r>
              <a:rPr lang="en-PH" dirty="0"/>
              <a:t>10. PATTERN COMPLETION</a:t>
            </a:r>
          </a:p>
        </p:txBody>
      </p:sp>
      <p:sp>
        <p:nvSpPr>
          <p:cNvPr id="12" name="Content Placeholder 2">
            <a:extLst>
              <a:ext uri="{FF2B5EF4-FFF2-40B4-BE49-F238E27FC236}">
                <a16:creationId xmlns:a16="http://schemas.microsoft.com/office/drawing/2014/main" id="{B9F1A4A5-1D05-EB47-5A15-F1516607FEA8}"/>
              </a:ext>
            </a:extLst>
          </p:cNvPr>
          <p:cNvSpPr>
            <a:spLocks noGrp="1"/>
          </p:cNvSpPr>
          <p:nvPr>
            <p:ph idx="1"/>
          </p:nvPr>
        </p:nvSpPr>
        <p:spPr>
          <a:xfrm>
            <a:off x="138550" y="5364294"/>
            <a:ext cx="6607306" cy="1049235"/>
          </a:xfrm>
        </p:spPr>
        <p:txBody>
          <a:bodyPr>
            <a:normAutofit/>
          </a:bodyPr>
          <a:lstStyle/>
          <a:p>
            <a:pPr>
              <a:lnSpc>
                <a:spcPct val="100000"/>
              </a:lnSpc>
            </a:pPr>
            <a:r>
              <a:rPr lang="en-US" sz="3200" b="1" i="0" dirty="0">
                <a:solidFill>
                  <a:srgbClr val="414042"/>
                </a:solidFill>
                <a:effectLst/>
                <a:latin typeface="Inter"/>
              </a:rPr>
              <a:t>Which figure completes the series?</a:t>
            </a:r>
          </a:p>
        </p:txBody>
      </p:sp>
      <p:sp>
        <p:nvSpPr>
          <p:cNvPr id="13" name="Content Placeholder 2">
            <a:extLst>
              <a:ext uri="{FF2B5EF4-FFF2-40B4-BE49-F238E27FC236}">
                <a16:creationId xmlns:a16="http://schemas.microsoft.com/office/drawing/2014/main" id="{A3D08FE2-8046-1F07-55D4-0F29A8EF36D0}"/>
              </a:ext>
            </a:extLst>
          </p:cNvPr>
          <p:cNvSpPr txBox="1">
            <a:spLocks/>
          </p:cNvSpPr>
          <p:nvPr/>
        </p:nvSpPr>
        <p:spPr>
          <a:xfrm>
            <a:off x="6534587" y="1970566"/>
            <a:ext cx="5637088" cy="4399204"/>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2400" b="1" dirty="0"/>
              <a:t>The black squares “climb” upward and to the right</a:t>
            </a:r>
          </a:p>
          <a:p>
            <a:r>
              <a:rPr lang="en-US" sz="2400" dirty="0"/>
              <a:t>The newly added black square follows a </a:t>
            </a:r>
            <a:r>
              <a:rPr lang="en-US" sz="2400" b="1" dirty="0"/>
              <a:t>path</a:t>
            </a:r>
            <a:r>
              <a:rPr lang="en-US" sz="2400" dirty="0"/>
              <a:t>:</a:t>
            </a:r>
          </a:p>
          <a:p>
            <a:r>
              <a:rPr lang="en-US" sz="2400" dirty="0"/>
              <a:t>It starts from the </a:t>
            </a:r>
            <a:r>
              <a:rPr lang="en-US" sz="2400" b="1" dirty="0"/>
              <a:t>bottom</a:t>
            </a:r>
            <a:endParaRPr lang="en-US" sz="2400" dirty="0"/>
          </a:p>
          <a:p>
            <a:r>
              <a:rPr lang="en-US" sz="2400" dirty="0"/>
              <a:t>Then moves </a:t>
            </a:r>
            <a:r>
              <a:rPr lang="en-US" sz="2400" b="1" dirty="0"/>
              <a:t>upward</a:t>
            </a:r>
            <a:endParaRPr lang="en-US" sz="2400" dirty="0"/>
          </a:p>
          <a:p>
            <a:r>
              <a:rPr lang="en-US" sz="2400" dirty="0"/>
              <a:t>Then continues toward the </a:t>
            </a:r>
            <a:r>
              <a:rPr lang="en-US" sz="2400" b="1" dirty="0"/>
              <a:t>top-right</a:t>
            </a:r>
            <a:endParaRPr lang="en-US" sz="2400" dirty="0"/>
          </a:p>
          <a:p>
            <a:r>
              <a:rPr lang="en-US" sz="2400" dirty="0"/>
              <a:t>Filling available white spaces along that direction</a:t>
            </a:r>
          </a:p>
          <a:p>
            <a:r>
              <a:rPr lang="en-US" sz="2400" dirty="0"/>
              <a:t>This movement is consistent and directional, not random.</a:t>
            </a:r>
          </a:p>
        </p:txBody>
      </p:sp>
      <p:pic>
        <p:nvPicPr>
          <p:cNvPr id="4" name="Picture 3">
            <a:extLst>
              <a:ext uri="{FF2B5EF4-FFF2-40B4-BE49-F238E27FC236}">
                <a16:creationId xmlns:a16="http://schemas.microsoft.com/office/drawing/2014/main" id="{26EB8874-CF9C-8FC1-1320-9D8E5B933D97}"/>
              </a:ext>
            </a:extLst>
          </p:cNvPr>
          <p:cNvPicPr>
            <a:picLocks noChangeAspect="1"/>
          </p:cNvPicPr>
          <p:nvPr/>
        </p:nvPicPr>
        <p:blipFill>
          <a:blip r:embed="rId3"/>
          <a:stretch>
            <a:fillRect/>
          </a:stretch>
        </p:blipFill>
        <p:spPr>
          <a:xfrm>
            <a:off x="527689" y="1412934"/>
            <a:ext cx="5568311" cy="1665630"/>
          </a:xfrm>
          <a:prstGeom prst="rect">
            <a:avLst/>
          </a:prstGeom>
        </p:spPr>
      </p:pic>
      <p:pic>
        <p:nvPicPr>
          <p:cNvPr id="6" name="Picture 5">
            <a:extLst>
              <a:ext uri="{FF2B5EF4-FFF2-40B4-BE49-F238E27FC236}">
                <a16:creationId xmlns:a16="http://schemas.microsoft.com/office/drawing/2014/main" id="{7D7B0651-BB9D-2BD5-B27F-AC27FC3BB9EE}"/>
              </a:ext>
            </a:extLst>
          </p:cNvPr>
          <p:cNvPicPr>
            <a:picLocks noChangeAspect="1"/>
          </p:cNvPicPr>
          <p:nvPr/>
        </p:nvPicPr>
        <p:blipFill>
          <a:blip r:embed="rId4"/>
          <a:stretch>
            <a:fillRect/>
          </a:stretch>
        </p:blipFill>
        <p:spPr>
          <a:xfrm>
            <a:off x="505148" y="3215638"/>
            <a:ext cx="5613391" cy="1909059"/>
          </a:xfrm>
          <a:prstGeom prst="rect">
            <a:avLst/>
          </a:prstGeom>
        </p:spPr>
      </p:pic>
      <p:sp>
        <p:nvSpPr>
          <p:cNvPr id="14" name="Oval 13">
            <a:extLst>
              <a:ext uri="{FF2B5EF4-FFF2-40B4-BE49-F238E27FC236}">
                <a16:creationId xmlns:a16="http://schemas.microsoft.com/office/drawing/2014/main" id="{D2ED9831-EABC-B9CF-0995-878C84F4374E}"/>
              </a:ext>
            </a:extLst>
          </p:cNvPr>
          <p:cNvSpPr/>
          <p:nvPr/>
        </p:nvSpPr>
        <p:spPr>
          <a:xfrm>
            <a:off x="1680297" y="3209310"/>
            <a:ext cx="1656272" cy="18184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7913723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BE7BB-E835-2DD7-5E96-FFC2821DD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44C68-FB17-FEC3-E293-4FE3E76358C1}"/>
              </a:ext>
            </a:extLst>
          </p:cNvPr>
          <p:cNvSpPr>
            <a:spLocks noGrp="1"/>
          </p:cNvSpPr>
          <p:nvPr>
            <p:ph type="title"/>
          </p:nvPr>
        </p:nvSpPr>
        <p:spPr/>
        <p:txBody>
          <a:bodyPr/>
          <a:lstStyle/>
          <a:p>
            <a:r>
              <a:rPr lang="en-PH" dirty="0"/>
              <a:t>11. PATTERN COMPLETION</a:t>
            </a:r>
          </a:p>
        </p:txBody>
      </p:sp>
      <p:sp>
        <p:nvSpPr>
          <p:cNvPr id="12" name="Content Placeholder 2">
            <a:extLst>
              <a:ext uri="{FF2B5EF4-FFF2-40B4-BE49-F238E27FC236}">
                <a16:creationId xmlns:a16="http://schemas.microsoft.com/office/drawing/2014/main" id="{0454991A-1DD3-6473-23B2-81E383D6C53E}"/>
              </a:ext>
            </a:extLst>
          </p:cNvPr>
          <p:cNvSpPr>
            <a:spLocks noGrp="1"/>
          </p:cNvSpPr>
          <p:nvPr>
            <p:ph idx="1"/>
          </p:nvPr>
        </p:nvSpPr>
        <p:spPr>
          <a:xfrm>
            <a:off x="4402096" y="2230232"/>
            <a:ext cx="1532877" cy="3084958"/>
          </a:xfrm>
        </p:spPr>
        <p:txBody>
          <a:bodyPr>
            <a:normAutofit fontScale="92500"/>
          </a:bodyPr>
          <a:lstStyle/>
          <a:p>
            <a:pPr>
              <a:lnSpc>
                <a:spcPct val="100000"/>
              </a:lnSpc>
            </a:pPr>
            <a:r>
              <a:rPr lang="en-US" sz="3200" b="1" i="0" dirty="0">
                <a:solidFill>
                  <a:srgbClr val="414042"/>
                </a:solidFill>
                <a:effectLst/>
                <a:latin typeface="Inter"/>
              </a:rPr>
              <a:t>Which figure com-</a:t>
            </a:r>
            <a:r>
              <a:rPr lang="en-US" sz="3200" b="1" i="0" dirty="0" err="1">
                <a:solidFill>
                  <a:srgbClr val="414042"/>
                </a:solidFill>
                <a:effectLst/>
                <a:latin typeface="Inter"/>
              </a:rPr>
              <a:t>pletes</a:t>
            </a:r>
            <a:r>
              <a:rPr lang="en-US" sz="3200" b="1" i="0" dirty="0">
                <a:solidFill>
                  <a:srgbClr val="414042"/>
                </a:solidFill>
                <a:effectLst/>
                <a:latin typeface="Inter"/>
              </a:rPr>
              <a:t> the series?</a:t>
            </a:r>
          </a:p>
        </p:txBody>
      </p:sp>
      <p:sp>
        <p:nvSpPr>
          <p:cNvPr id="13" name="Content Placeholder 2">
            <a:extLst>
              <a:ext uri="{FF2B5EF4-FFF2-40B4-BE49-F238E27FC236}">
                <a16:creationId xmlns:a16="http://schemas.microsoft.com/office/drawing/2014/main" id="{0519D78F-9FF5-2DD4-8472-B8A53DC04D64}"/>
              </a:ext>
            </a:extLst>
          </p:cNvPr>
          <p:cNvSpPr txBox="1">
            <a:spLocks/>
          </p:cNvSpPr>
          <p:nvPr/>
        </p:nvSpPr>
        <p:spPr>
          <a:xfrm>
            <a:off x="6534587" y="1970566"/>
            <a:ext cx="5637088" cy="4399204"/>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2400" b="1" dirty="0"/>
              <a:t>“Across each row, everything steps one edge clockwise; down a column, the tiny square toggles filled/outline and the two white shapes swap lanes. Only C satisfies both rules.”</a:t>
            </a:r>
            <a:endParaRPr lang="en-US" sz="2400" dirty="0"/>
          </a:p>
        </p:txBody>
      </p:sp>
      <p:pic>
        <p:nvPicPr>
          <p:cNvPr id="5" name="Picture 4">
            <a:extLst>
              <a:ext uri="{FF2B5EF4-FFF2-40B4-BE49-F238E27FC236}">
                <a16:creationId xmlns:a16="http://schemas.microsoft.com/office/drawing/2014/main" id="{7C50E314-26D0-F499-C421-8A099D61B77D}"/>
              </a:ext>
            </a:extLst>
          </p:cNvPr>
          <p:cNvPicPr>
            <a:picLocks noChangeAspect="1"/>
          </p:cNvPicPr>
          <p:nvPr/>
        </p:nvPicPr>
        <p:blipFill>
          <a:blip r:embed="rId3"/>
          <a:stretch>
            <a:fillRect/>
          </a:stretch>
        </p:blipFill>
        <p:spPr>
          <a:xfrm>
            <a:off x="440364" y="1571330"/>
            <a:ext cx="3650033" cy="3617248"/>
          </a:xfrm>
          <a:prstGeom prst="rect">
            <a:avLst/>
          </a:prstGeom>
        </p:spPr>
      </p:pic>
      <p:pic>
        <p:nvPicPr>
          <p:cNvPr id="8" name="Picture 7">
            <a:extLst>
              <a:ext uri="{FF2B5EF4-FFF2-40B4-BE49-F238E27FC236}">
                <a16:creationId xmlns:a16="http://schemas.microsoft.com/office/drawing/2014/main" id="{D4DE3A08-720C-1DD8-FEE1-DC30CCFA4419}"/>
              </a:ext>
            </a:extLst>
          </p:cNvPr>
          <p:cNvPicPr>
            <a:picLocks noChangeAspect="1"/>
          </p:cNvPicPr>
          <p:nvPr/>
        </p:nvPicPr>
        <p:blipFill>
          <a:blip r:embed="rId4"/>
          <a:stretch>
            <a:fillRect/>
          </a:stretch>
        </p:blipFill>
        <p:spPr>
          <a:xfrm>
            <a:off x="183878" y="5315190"/>
            <a:ext cx="4163006" cy="1476581"/>
          </a:xfrm>
          <a:prstGeom prst="rect">
            <a:avLst/>
          </a:prstGeom>
        </p:spPr>
      </p:pic>
      <p:sp>
        <p:nvSpPr>
          <p:cNvPr id="14" name="Oval 13">
            <a:extLst>
              <a:ext uri="{FF2B5EF4-FFF2-40B4-BE49-F238E27FC236}">
                <a16:creationId xmlns:a16="http://schemas.microsoft.com/office/drawing/2014/main" id="{953C4DE0-0500-6E3F-48A6-AADF7E153A74}"/>
              </a:ext>
            </a:extLst>
          </p:cNvPr>
          <p:cNvSpPr/>
          <p:nvPr/>
        </p:nvSpPr>
        <p:spPr>
          <a:xfrm>
            <a:off x="1905796" y="5046148"/>
            <a:ext cx="1656272" cy="18184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7745086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16544-0E43-9C9E-828D-FCB92ACC7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A6935-DAA0-5495-5F68-8BC5C895BFCF}"/>
              </a:ext>
            </a:extLst>
          </p:cNvPr>
          <p:cNvSpPr>
            <a:spLocks noGrp="1"/>
          </p:cNvSpPr>
          <p:nvPr>
            <p:ph type="title"/>
          </p:nvPr>
        </p:nvSpPr>
        <p:spPr/>
        <p:txBody>
          <a:bodyPr/>
          <a:lstStyle/>
          <a:p>
            <a:r>
              <a:rPr lang="en-PH" dirty="0"/>
              <a:t>12. Which belongs to neither group?</a:t>
            </a:r>
          </a:p>
        </p:txBody>
      </p:sp>
      <p:pic>
        <p:nvPicPr>
          <p:cNvPr id="8" name="Picture 7">
            <a:extLst>
              <a:ext uri="{FF2B5EF4-FFF2-40B4-BE49-F238E27FC236}">
                <a16:creationId xmlns:a16="http://schemas.microsoft.com/office/drawing/2014/main" id="{39FFCB49-1EB6-C2C4-A946-B4D7C78BC259}"/>
              </a:ext>
            </a:extLst>
          </p:cNvPr>
          <p:cNvPicPr>
            <a:picLocks noChangeAspect="1"/>
          </p:cNvPicPr>
          <p:nvPr/>
        </p:nvPicPr>
        <p:blipFill>
          <a:blip r:embed="rId3"/>
          <a:stretch>
            <a:fillRect/>
          </a:stretch>
        </p:blipFill>
        <p:spPr>
          <a:xfrm>
            <a:off x="2870151" y="1324823"/>
            <a:ext cx="6451697" cy="5310364"/>
          </a:xfrm>
          <a:prstGeom prst="rect">
            <a:avLst/>
          </a:prstGeom>
        </p:spPr>
      </p:pic>
      <p:sp>
        <p:nvSpPr>
          <p:cNvPr id="14" name="Oval 13">
            <a:extLst>
              <a:ext uri="{FF2B5EF4-FFF2-40B4-BE49-F238E27FC236}">
                <a16:creationId xmlns:a16="http://schemas.microsoft.com/office/drawing/2014/main" id="{2B18AC20-BAEB-EEC9-896D-15349160E097}"/>
              </a:ext>
            </a:extLst>
          </p:cNvPr>
          <p:cNvSpPr/>
          <p:nvPr/>
        </p:nvSpPr>
        <p:spPr>
          <a:xfrm>
            <a:off x="7201203" y="4623936"/>
            <a:ext cx="1656272" cy="18184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5058545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01048-35AE-2428-892B-D08B48882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9287E-88A1-1650-8E6E-023F0D7D7C21}"/>
              </a:ext>
            </a:extLst>
          </p:cNvPr>
          <p:cNvSpPr>
            <a:spLocks noGrp="1"/>
          </p:cNvSpPr>
          <p:nvPr>
            <p:ph type="title"/>
          </p:nvPr>
        </p:nvSpPr>
        <p:spPr/>
        <p:txBody>
          <a:bodyPr/>
          <a:lstStyle/>
          <a:p>
            <a:r>
              <a:rPr lang="en-PH" dirty="0"/>
              <a:t>13. Which belongs to neither group?</a:t>
            </a:r>
          </a:p>
        </p:txBody>
      </p:sp>
      <p:sp>
        <p:nvSpPr>
          <p:cNvPr id="14" name="Oval 13">
            <a:extLst>
              <a:ext uri="{FF2B5EF4-FFF2-40B4-BE49-F238E27FC236}">
                <a16:creationId xmlns:a16="http://schemas.microsoft.com/office/drawing/2014/main" id="{B04044E0-8AA1-B084-4FD4-879E29DE846F}"/>
              </a:ext>
            </a:extLst>
          </p:cNvPr>
          <p:cNvSpPr/>
          <p:nvPr/>
        </p:nvSpPr>
        <p:spPr>
          <a:xfrm>
            <a:off x="7201203" y="4623936"/>
            <a:ext cx="1656272" cy="18184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4" name="Picture 3">
            <a:extLst>
              <a:ext uri="{FF2B5EF4-FFF2-40B4-BE49-F238E27FC236}">
                <a16:creationId xmlns:a16="http://schemas.microsoft.com/office/drawing/2014/main" id="{A8213F06-06DD-BB7C-4893-D2C3B9544EF0}"/>
              </a:ext>
            </a:extLst>
          </p:cNvPr>
          <p:cNvPicPr>
            <a:picLocks noChangeAspect="1"/>
          </p:cNvPicPr>
          <p:nvPr/>
        </p:nvPicPr>
        <p:blipFill>
          <a:blip r:embed="rId3"/>
          <a:stretch>
            <a:fillRect/>
          </a:stretch>
        </p:blipFill>
        <p:spPr>
          <a:xfrm>
            <a:off x="3019751" y="1466395"/>
            <a:ext cx="6466929" cy="5128423"/>
          </a:xfrm>
          <a:prstGeom prst="rect">
            <a:avLst/>
          </a:prstGeom>
        </p:spPr>
      </p:pic>
      <p:sp>
        <p:nvSpPr>
          <p:cNvPr id="5" name="Oval 4">
            <a:extLst>
              <a:ext uri="{FF2B5EF4-FFF2-40B4-BE49-F238E27FC236}">
                <a16:creationId xmlns:a16="http://schemas.microsoft.com/office/drawing/2014/main" id="{66BBE1BF-320A-34D2-DE9C-714F712AA0F9}"/>
              </a:ext>
            </a:extLst>
          </p:cNvPr>
          <p:cNvSpPr/>
          <p:nvPr/>
        </p:nvSpPr>
        <p:spPr>
          <a:xfrm>
            <a:off x="4804893" y="4623936"/>
            <a:ext cx="1656272" cy="18184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6481727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0B2FF-FBEC-89BD-D443-F34AF7B25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EA01A-A12C-8EEC-A92F-BEB22EA8DFE0}"/>
              </a:ext>
            </a:extLst>
          </p:cNvPr>
          <p:cNvSpPr>
            <a:spLocks noGrp="1"/>
          </p:cNvSpPr>
          <p:nvPr>
            <p:ph type="title"/>
          </p:nvPr>
        </p:nvSpPr>
        <p:spPr/>
        <p:txBody>
          <a:bodyPr/>
          <a:lstStyle/>
          <a:p>
            <a:r>
              <a:rPr lang="en-PH" dirty="0"/>
              <a:t>14. </a:t>
            </a:r>
          </a:p>
        </p:txBody>
      </p:sp>
      <p:pic>
        <p:nvPicPr>
          <p:cNvPr id="2050" name="Picture 2" descr="Abstract Reasoning Test: Free Practice Questions (2025)">
            <a:extLst>
              <a:ext uri="{FF2B5EF4-FFF2-40B4-BE49-F238E27FC236}">
                <a16:creationId xmlns:a16="http://schemas.microsoft.com/office/drawing/2014/main" id="{0CB514FD-3120-32A8-C236-970D5B762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579" y="1668740"/>
            <a:ext cx="8882866" cy="4335122"/>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A31E4148-5D17-E6EF-DFDA-556A7CCEA3EA}"/>
              </a:ext>
            </a:extLst>
          </p:cNvPr>
          <p:cNvSpPr txBox="1">
            <a:spLocks/>
          </p:cNvSpPr>
          <p:nvPr/>
        </p:nvSpPr>
        <p:spPr>
          <a:xfrm>
            <a:off x="8678173" y="2156503"/>
            <a:ext cx="3220528" cy="346565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endParaRPr lang="en-PH" sz="3600" dirty="0"/>
          </a:p>
        </p:txBody>
      </p:sp>
      <p:sp>
        <p:nvSpPr>
          <p:cNvPr id="7" name="Oval 6">
            <a:extLst>
              <a:ext uri="{FF2B5EF4-FFF2-40B4-BE49-F238E27FC236}">
                <a16:creationId xmlns:a16="http://schemas.microsoft.com/office/drawing/2014/main" id="{A5D2C2CE-160C-85FB-ABB4-1F756ED15EDE}"/>
              </a:ext>
            </a:extLst>
          </p:cNvPr>
          <p:cNvSpPr/>
          <p:nvPr/>
        </p:nvSpPr>
        <p:spPr>
          <a:xfrm>
            <a:off x="6702704" y="3533834"/>
            <a:ext cx="1656272" cy="18184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9617673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2088</Words>
  <Application>Microsoft Office PowerPoint</Application>
  <PresentationFormat>Widescreen</PresentationFormat>
  <Paragraphs>133</Paragraphs>
  <Slides>29</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Arial</vt:lpstr>
      <vt:lpstr>Gill Sans MT</vt:lpstr>
      <vt:lpstr>Inter</vt:lpstr>
      <vt:lpstr>Gallery</vt:lpstr>
      <vt:lpstr>ABSTRACT REASONING</vt:lpstr>
      <vt:lpstr>WHAT IS ABSTRACT  REASONING ?</vt:lpstr>
      <vt:lpstr>HOW TO SOLVE ABSTRACT REASONING</vt:lpstr>
      <vt:lpstr>Next In Series Questions</vt:lpstr>
      <vt:lpstr>Question 1: Next In Series Questions </vt:lpstr>
      <vt:lpstr>1. Answer: d</vt:lpstr>
      <vt:lpstr>Question 2: Next In Series Questions </vt:lpstr>
      <vt:lpstr>2. Answer: a</vt:lpstr>
      <vt:lpstr>Matrices Questions</vt:lpstr>
      <vt:lpstr>Question 3: Matrices Questions</vt:lpstr>
      <vt:lpstr>3. Answer: B</vt:lpstr>
      <vt:lpstr>Question 4: Matrices Questions</vt:lpstr>
      <vt:lpstr>4. Answer: E</vt:lpstr>
      <vt:lpstr>Question 5: Matrices Questions </vt:lpstr>
      <vt:lpstr>5. Answer: C</vt:lpstr>
      <vt:lpstr>Odd One Out Questions</vt:lpstr>
      <vt:lpstr>Question 6: Odd One Out Questions </vt:lpstr>
      <vt:lpstr>6. Answer: C</vt:lpstr>
      <vt:lpstr>Question 7: Analogies Questions  </vt:lpstr>
      <vt:lpstr>7. Answer: A</vt:lpstr>
      <vt:lpstr>Question 8: Analogies Questions  </vt:lpstr>
      <vt:lpstr>8. Answer: C</vt:lpstr>
      <vt:lpstr>ABSTRACT REASONING</vt:lpstr>
      <vt:lpstr>9. PATTERN COMPLETION</vt:lpstr>
      <vt:lpstr>10. PATTERN COMPLETION</vt:lpstr>
      <vt:lpstr>11. PATTERN COMPLETION</vt:lpstr>
      <vt:lpstr>12. Which belongs to neither group?</vt:lpstr>
      <vt:lpstr>13. Which belongs to neither group?</vt:lpstr>
      <vt:lpstr>14.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Roda Jenelyn Francisco</dc:creator>
  <cp:lastModifiedBy>Maria Isabel Fernandez</cp:lastModifiedBy>
  <cp:revision>8</cp:revision>
  <dcterms:created xsi:type="dcterms:W3CDTF">2026-01-16T01:08:28Z</dcterms:created>
  <dcterms:modified xsi:type="dcterms:W3CDTF">2026-01-16T17:53:46Z</dcterms:modified>
</cp:coreProperties>
</file>