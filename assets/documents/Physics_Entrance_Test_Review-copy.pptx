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3" r:id="rId17"/>
    <p:sldId id="272" r:id="rId18"/>
    <p:sldId id="271" r:id="rId19"/>
    <p:sldId id="275" r:id="rId20"/>
    <p:sldId id="274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26" Type="http://schemas.openxmlformats.org/officeDocument/2006/relationships/theme" Target="theme/theme1.xml" /><Relationship Id="rId3" Type="http://schemas.openxmlformats.org/officeDocument/2006/relationships/slide" Target="slides/slide2.xml" /><Relationship Id="rId21" Type="http://schemas.openxmlformats.org/officeDocument/2006/relationships/slide" Target="slides/slide20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25" Type="http://schemas.openxmlformats.org/officeDocument/2006/relationships/viewProps" Target="viewProps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slide" Target="slides/slide19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24" Type="http://schemas.openxmlformats.org/officeDocument/2006/relationships/presProps" Target="presProps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23" Type="http://schemas.openxmlformats.org/officeDocument/2006/relationships/notesMaster" Target="notesMasters/notesMaster1.xml" /><Relationship Id="rId10" Type="http://schemas.openxmlformats.org/officeDocument/2006/relationships/slide" Target="slides/slide9.xml" /><Relationship Id="rId19" Type="http://schemas.openxmlformats.org/officeDocument/2006/relationships/slide" Target="slides/slide18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Relationship Id="rId22" Type="http://schemas.openxmlformats.org/officeDocument/2006/relationships/slide" Target="slides/slide21.xml" /><Relationship Id="rId27" Type="http://schemas.openxmlformats.org/officeDocument/2006/relationships/tableStyles" Target="tableStyle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A5726-0323-C746-836E-E374A1E83195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389A8B-FD28-BA40-93AC-0A7B0FB78C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7659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212529"/>
                </a:solidFill>
                <a:effectLst/>
                <a:latin typeface="Nunito" pitchFamily="2" charset="0"/>
              </a:rPr>
              <a:t>Mass is a measure of inertia. The amount of an object's resistance to any change in its state of rest or motion depends on its mass.</a:t>
            </a: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Nunito" pitchFamily="2" charset="0"/>
              </a:rPr>
              <a:t>Heavier objects have a higher tendency to resist this change than lighter objects.</a:t>
            </a:r>
          </a:p>
          <a:p>
            <a:endParaRPr lang="en-US" b="0" i="0" dirty="0">
              <a:solidFill>
                <a:srgbClr val="212529"/>
              </a:solidFill>
              <a:effectLst/>
              <a:latin typeface="Nunito" pitchFamily="2" charset="0"/>
            </a:endParaRPr>
          </a:p>
          <a:p>
            <a:r>
              <a:rPr lang="en-US" b="0" i="0" dirty="0">
                <a:solidFill>
                  <a:srgbClr val="212529"/>
                </a:solidFill>
                <a:effectLst/>
                <a:latin typeface="Nunito" pitchFamily="2" charset="0"/>
              </a:rPr>
              <a:t>A car, for example, has more inertia than a bicycle. You can push a bicycle and change its state of rest into motion. A car requires a lot more force to change its state of rest into motion.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9A8B-FD28-BA40-93AC-0A7B0FB78C4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6729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👉 The visible separation into distinct color bands is direct evidence that different colors travel at different speeds in the prism.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389A8B-FD28-BA40-93AC-0A7B0FB78C4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32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19957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8166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61213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8755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765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6183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82960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0375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48A87A34-81AB-432B-8DAE-1953F412C126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03029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620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174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13" Type="http://schemas.openxmlformats.org/officeDocument/2006/relationships/image" Target="../media/image1.jpg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1/9/2026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577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0" r:id="rId1"/>
    <p:sldLayoutId id="2147483821" r:id="rId2"/>
    <p:sldLayoutId id="2147483822" r:id="rId3"/>
    <p:sldLayoutId id="2147483823" r:id="rId4"/>
    <p:sldLayoutId id="2147483824" r:id="rId5"/>
    <p:sldLayoutId id="2147483825" r:id="rId6"/>
    <p:sldLayoutId id="2147483826" r:id="rId7"/>
    <p:sldLayoutId id="2147483827" r:id="rId8"/>
    <p:sldLayoutId id="2147483828" r:id="rId9"/>
    <p:sldLayoutId id="2147483829" r:id="rId10"/>
    <p:sldLayoutId id="21474838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 /><Relationship Id="rId1" Type="http://schemas.openxmlformats.org/officeDocument/2006/relationships/slideLayout" Target="../slideLayouts/slideLayout1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Relationship Id="rId4" Type="http://schemas.openxmlformats.org/officeDocument/2006/relationships/image" Target="../media/image4.png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 /><Relationship Id="rId2" Type="http://schemas.openxmlformats.org/officeDocument/2006/relationships/image" Target="../media/image10.png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 /><Relationship Id="rId1" Type="http://schemas.openxmlformats.org/officeDocument/2006/relationships/slideLayout" Target="../slideLayouts/slideLayout2.xml" 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 /><Relationship Id="rId1" Type="http://schemas.openxmlformats.org/officeDocument/2006/relationships/slideLayout" Target="../slideLayouts/slideLayout2.xml" 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 /><Relationship Id="rId1" Type="http://schemas.openxmlformats.org/officeDocument/2006/relationships/slideLayout" Target="../slideLayouts/slideLayout2.xml" 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 /><Relationship Id="rId1" Type="http://schemas.openxmlformats.org/officeDocument/2006/relationships/slideLayout" Target="../slideLayouts/slideLayout2.xml" 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 /><Relationship Id="rId1" Type="http://schemas.openxmlformats.org/officeDocument/2006/relationships/slideLayout" Target="../slideLayouts/slideLayout2.xml" 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 /><Relationship Id="rId1" Type="http://schemas.openxmlformats.org/officeDocument/2006/relationships/slideLayout" Target="../slideLayouts/slideLayout2.xml" 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EE485E7-7D6D-4CB0-A3AD-261D97B2E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E3208-F0C4-4962-8946-065C94F896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0235" y="1027937"/>
            <a:ext cx="6083708" cy="3711894"/>
          </a:xfrm>
        </p:spPr>
        <p:txBody>
          <a:bodyPr anchor="ctr">
            <a:normAutofit/>
          </a:bodyPr>
          <a:lstStyle/>
          <a:p>
            <a:r>
              <a:rPr lang="en-US" sz="5400"/>
              <a:t>Science Review</a:t>
            </a:r>
          </a:p>
          <a:p>
            <a:r>
              <a:rPr lang="en-US" sz="5400"/>
              <a:t>Physics Concepts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68057" y="1027937"/>
            <a:ext cx="3254899" cy="3711894"/>
          </a:xfrm>
        </p:spPr>
        <p:txBody>
          <a:bodyPr anchor="ctr"/>
          <a:lstStyle/>
          <a:p>
            <a:pPr algn="r"/>
            <a:r>
              <a:rPr b="1" dirty="0"/>
              <a:t>Momentum, Laws of Motion, Energy, Heat, and Electricity</a:t>
            </a:r>
            <a:r>
              <a:rPr lang="en-US" b="1" dirty="0"/>
              <a:t>, Mirrors</a:t>
            </a:r>
            <a:endParaRPr lang="en-US" b="1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FAE17D3-C2DC-4665-AF20-33C5BACD5E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375124"/>
            <a:ext cx="0" cy="3017520"/>
          </a:xfrm>
          <a:prstGeom prst="line">
            <a:avLst/>
          </a:prstGeom>
          <a:ln w="317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7021C573-B3FF-44B8-A5DE-AB39E9AA6B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0B0CCD4-E9B0-43B2-806F-05EDF57A76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/>
              <a:t>Q1. LAWS of MOTION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1" y="2015734"/>
            <a:ext cx="5485270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A jeepney traveling along Quezon Avenue suddenly stops when the traffic light turns red. Passengers tend to move forward before coming to a stop.</a:t>
            </a:r>
          </a:p>
          <a:p>
            <a:pPr marL="0" indent="0">
              <a:buNone/>
            </a:pPr>
            <a:r>
              <a:rPr lang="en-US"/>
              <a:t>a. Newton’s First Law of Motion</a:t>
            </a:r>
          </a:p>
          <a:p>
            <a:pPr marL="0" indent="0">
              <a:buNone/>
            </a:pPr>
            <a:r>
              <a:rPr lang="en-US"/>
              <a:t>b. Newton’s Second Law of Motion</a:t>
            </a:r>
          </a:p>
          <a:p>
            <a:pPr marL="0" indent="0">
              <a:buNone/>
            </a:pPr>
            <a:r>
              <a:rPr lang="en-US"/>
              <a:t>c. Newton’s Third Law of Motion</a:t>
            </a:r>
          </a:p>
          <a:p>
            <a:pPr marL="0" indent="0">
              <a:buNone/>
            </a:pPr>
            <a:r>
              <a:rPr lang="en-US"/>
              <a:t>d. Law of Conservation of Energy</a:t>
            </a:r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0C7C5CC0-EB79-B614-4C3F-D3211C8B31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7257" y="2969361"/>
            <a:ext cx="4613872" cy="15341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Q1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4436" y="2015732"/>
            <a:ext cx="11450170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Correct Answer: 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a. Newton’s First Law of Motion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dirty="0"/>
              <a:t>Newton’s First Law (Law of Inertia) states that an object in motion continues moving unless acted upon by an external force. When the </a:t>
            </a:r>
            <a:r>
              <a:rPr dirty="0" err="1"/>
              <a:t>jeepney</a:t>
            </a:r>
            <a:r>
              <a:rPr dirty="0"/>
              <a:t> stops suddenly, the passengers’ bodies continue moving forward due to inertia.</a:t>
            </a:r>
          </a:p>
          <a:p>
            <a:pPr marL="0" indent="0">
              <a:buNone/>
            </a:pPr>
            <a:r>
              <a:rPr dirty="0"/>
              <a:t>Why others are incorrect:</a:t>
            </a:r>
          </a:p>
          <a:p>
            <a:pPr marL="0" indent="0">
              <a:buNone/>
            </a:pPr>
            <a:r>
              <a:rPr dirty="0"/>
              <a:t>b. Second Law – relates force, mass, and acceleration, not inertia</a:t>
            </a:r>
            <a:r>
              <a:rPr lang="en-US" dirty="0"/>
              <a:t> (Law of Acceleration)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c. Third Law – deals with action-reaction pairs</a:t>
            </a:r>
            <a:r>
              <a:rPr lang="en-US" dirty="0"/>
              <a:t> (Law of Interaction)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d. Conservation of Energy – not about motion behavior</a:t>
            </a:r>
            <a:r>
              <a:rPr lang="en-US" dirty="0"/>
              <a:t>.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F795D8-A1AF-D473-E261-DB10E7A89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253" y="133574"/>
            <a:ext cx="3803500" cy="14509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EA2CC57-9606-9B13-183C-2D4E3E600E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4645" y="3699782"/>
            <a:ext cx="2462813" cy="16855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/>
              <a:t>Q2. Momentum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1" y="2015734"/>
            <a:ext cx="5038928" cy="345061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/>
              <a:t>Why do trucks traveling on Philippine highways need a longer distance to stop compared to motorcycles moving at the same speed?</a:t>
            </a:r>
          </a:p>
          <a:p>
            <a:pPr marL="0" indent="0">
              <a:lnSpc>
                <a:spcPct val="110000"/>
              </a:lnSpc>
              <a:buNone/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a. Trucks experience less friction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b. Trucks have greater momentum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c. Motorcycles have greater mass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/>
              <a:t>d. Stopping distance depends only on speed</a:t>
            </a:r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BCD091E-F5D0-4367-6863-844E822DA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1292" y="2174242"/>
            <a:ext cx="4165801" cy="312435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Q2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dirty="0"/>
              <a:t>Correct Answer: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 b. Trucks have greater momentum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dirty="0"/>
              <a:t>Momentum depends on mass and velocity (p = mv). Trucks have much greater mass, so even at the same speed, they have greater momentum, requiring more force and distance to stop.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Why others are incorrect:</a:t>
            </a:r>
          </a:p>
          <a:p>
            <a:pPr marL="0" indent="0">
              <a:buNone/>
            </a:pPr>
            <a:r>
              <a:rPr dirty="0"/>
              <a:t>a. Trucks do not experience less friction.</a:t>
            </a:r>
          </a:p>
          <a:p>
            <a:pPr marL="0" indent="0">
              <a:buNone/>
            </a:pPr>
            <a:r>
              <a:rPr dirty="0"/>
              <a:t>c. Motorcycles have less mass, not more.</a:t>
            </a:r>
          </a:p>
          <a:p>
            <a:pPr marL="0" indent="0">
              <a:buNone/>
            </a:pPr>
            <a:r>
              <a:rPr dirty="0"/>
              <a:t>d. Mass also affects stopping distance.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7CA2279-8CC8-8C57-A71A-B60BCCC66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36068" y="3741038"/>
            <a:ext cx="2352675" cy="19431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Q3. friction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During a rainy day in Baguio City, a delivery rider notices better grip when moving slowly.</a:t>
            </a:r>
          </a:p>
          <a:p>
            <a:pPr marL="0" indent="0">
              <a:buNone/>
            </a:pPr>
            <a:endParaRPr lang="en-US"/>
          </a:p>
          <a:p>
            <a:pPr marL="0" indent="0">
              <a:buNone/>
            </a:pPr>
            <a:r>
              <a:rPr lang="en-US"/>
              <a:t>a. Friction opposes the motion of objects.</a:t>
            </a:r>
          </a:p>
          <a:p>
            <a:pPr marL="0" indent="0">
              <a:buNone/>
            </a:pPr>
            <a:r>
              <a:rPr lang="en-US"/>
              <a:t>b. Friction occurs only when objects are wet.</a:t>
            </a:r>
          </a:p>
          <a:p>
            <a:pPr marL="0" indent="0">
              <a:buNone/>
            </a:pPr>
            <a:r>
              <a:rPr lang="en-US"/>
              <a:t>c. Friction acts in the same direction as motion.</a:t>
            </a:r>
          </a:p>
          <a:p>
            <a:pPr marL="0" indent="0">
              <a:buNone/>
            </a:pPr>
            <a:r>
              <a:rPr lang="en-US"/>
              <a:t>d. Friction makes objects move faster.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8E4577-0A38-CAED-FB97-9971CC0E2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1511" y="2501153"/>
            <a:ext cx="3469341" cy="260200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7541" y="2015732"/>
            <a:ext cx="11140888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Correct Answer: </a:t>
            </a:r>
            <a:r>
              <a:rPr b="1" dirty="0">
                <a:solidFill>
                  <a:schemeClr val="accent1">
                    <a:lumMod val="75000"/>
                  </a:schemeClr>
                </a:solidFill>
              </a:rPr>
              <a:t>a. Friction opposes the motion of objects.</a:t>
            </a:r>
          </a:p>
          <a:p>
            <a:pPr marL="0" indent="0">
              <a:buNone/>
            </a:pPr>
            <a:r>
              <a:rPr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dirty="0"/>
              <a:t>Friction resists motion between surfaces in contact. At lower speeds, tires maintain better frictional grip on wet roads</a:t>
            </a:r>
            <a:r>
              <a:rPr lang="en-US" dirty="0"/>
              <a:t> (Tire-road interaction)</a:t>
            </a:r>
            <a:endParaRPr dirty="0"/>
          </a:p>
          <a:p>
            <a:pPr marL="0" indent="0">
              <a:buNone/>
            </a:pPr>
            <a:r>
              <a:rPr dirty="0"/>
              <a:t>Why others are incorrect:</a:t>
            </a:r>
          </a:p>
          <a:p>
            <a:pPr marL="0" indent="0">
              <a:buNone/>
            </a:pPr>
            <a:r>
              <a:rPr dirty="0"/>
              <a:t>b. Friction exists even when surfaces are dry.</a:t>
            </a:r>
          </a:p>
          <a:p>
            <a:pPr marL="0" indent="0">
              <a:buNone/>
            </a:pPr>
            <a:r>
              <a:rPr dirty="0"/>
              <a:t>c. Friction always acts opposite motion.</a:t>
            </a:r>
          </a:p>
          <a:p>
            <a:pPr marL="0" indent="0">
              <a:buNone/>
            </a:pPr>
            <a:r>
              <a:rPr dirty="0"/>
              <a:t>d. Friction slows objects down.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23D3580-7F30-52D0-84C1-F8D445A6BC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6506" y="3525886"/>
            <a:ext cx="3319876" cy="20334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Q4. </a:t>
            </a:r>
            <a:r>
              <a:rPr lang="en-US" dirty="0"/>
              <a:t>impulse and momentum</a:t>
            </a:r>
            <a:endParaRPr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D0883FA-582C-2E62-2FAB-112B07056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579" y="2085493"/>
            <a:ext cx="4960443" cy="331109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2299" y="2015734"/>
            <a:ext cx="4162555" cy="345061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dirty="0"/>
              <a:t>During a collision, airbags increase the time of impact. This reduces the force on passengers by: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a. increasing momentum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b. decreasing acceleration time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c. increasing stopping time</a:t>
            </a:r>
            <a:endParaRPr lang="en-US"/>
          </a:p>
          <a:p>
            <a:pPr marL="0" indent="0">
              <a:lnSpc>
                <a:spcPct val="110000"/>
              </a:lnSpc>
              <a:buNone/>
            </a:pPr>
            <a:r>
              <a:rPr dirty="0"/>
              <a:t>d. increasing vehicle speed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0647" y="2015732"/>
            <a:ext cx="9070041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Correct Answer: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c. increasing stopping time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lang="en-US" dirty="0"/>
              <a:t>Impulse = Force × Time. Increasing the stopping time reduces the force experienced by passengers.</a:t>
            </a:r>
          </a:p>
          <a:p>
            <a:pPr marL="0" indent="0">
              <a:buNone/>
            </a:pPr>
            <a:r>
              <a:rPr lang="en-US" dirty="0"/>
              <a:t>Why others are incorrect:</a:t>
            </a:r>
          </a:p>
          <a:p>
            <a:pPr marL="0" indent="0">
              <a:buNone/>
            </a:pPr>
            <a:r>
              <a:rPr lang="en-US" dirty="0"/>
              <a:t>a. Momentum is not increased.</a:t>
            </a:r>
          </a:p>
          <a:p>
            <a:pPr marL="0" indent="0">
              <a:buNone/>
            </a:pPr>
            <a:r>
              <a:rPr lang="en-US" dirty="0"/>
              <a:t>b. Time is increased, not decreased.</a:t>
            </a:r>
          </a:p>
          <a:p>
            <a:pPr marL="0" indent="0">
              <a:buNone/>
            </a:pPr>
            <a:r>
              <a:rPr lang="en-US" dirty="0"/>
              <a:t>d. Speed is not increased.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CB2FBD-545D-1C3C-A655-73202EAAA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7764" y="0"/>
            <a:ext cx="2734236" cy="274257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807D19-3E23-2065-EED3-9FF256FEB9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5010" y="3547091"/>
            <a:ext cx="5326990" cy="21679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7FD8F3-6D06-7DAC-136D-0363DBA0D8EF}"/>
              </a:ext>
            </a:extLst>
          </p:cNvPr>
          <p:cNvSpPr txBox="1"/>
          <p:nvPr/>
        </p:nvSpPr>
        <p:spPr>
          <a:xfrm>
            <a:off x="5187203" y="2521323"/>
            <a:ext cx="1828800" cy="1828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4CA9951-F8B7-BBBC-8D43-A7E1E1AE0DFD}"/>
              </a:ext>
            </a:extLst>
          </p:cNvPr>
          <p:cNvSpPr/>
          <p:nvPr/>
        </p:nvSpPr>
        <p:spPr>
          <a:xfrm>
            <a:off x="10502153" y="4733365"/>
            <a:ext cx="1689847" cy="978408"/>
          </a:xfrm>
          <a:prstGeom prst="rect">
            <a:avLst/>
          </a:prstGeom>
          <a:solidFill>
            <a:schemeClr val="tx1">
              <a:lumMod val="10000"/>
              <a:lumOff val="90000"/>
            </a:schemeClr>
          </a:solidFill>
          <a:ln>
            <a:solidFill>
              <a:schemeClr val="bg1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Q5. energy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5435733" cy="3450613"/>
          </a:xfrm>
        </p:spPr>
        <p:txBody>
          <a:bodyPr/>
          <a:lstStyle/>
          <a:p>
            <a:r>
              <a:t>During a brownout, a family lights a candle. What energy transformation occurs?</a:t>
            </a:r>
          </a:p>
          <a:p>
            <a:endParaRPr/>
          </a:p>
          <a:p>
            <a:r>
              <a:t>a. light → chemical and heat</a:t>
            </a:r>
          </a:p>
          <a:p>
            <a:r>
              <a:t>b. light → mechanical and heat</a:t>
            </a:r>
          </a:p>
          <a:p>
            <a:r>
              <a:t>c. chemical → light and heat</a:t>
            </a:r>
          </a:p>
          <a:p>
            <a:r>
              <a:t>d. chemical → electrical and heat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B7DF70-0A31-4A61-9C8B-3333776A1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90413" y="2012810"/>
            <a:ext cx="366806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926867-8D58-4875-8B76-E87E5BE82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F6663C-0F32-4FB9-B549-C2757F49F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B9EA1951-7C4B-20DD-5150-EEC92079D2B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957" r="6752" b="3"/>
          <a:stretch>
            <a:fillRect/>
          </a:stretch>
        </p:blipFill>
        <p:spPr>
          <a:xfrm>
            <a:off x="7554139" y="2174242"/>
            <a:ext cx="3336989" cy="312435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t>Q5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76" y="2015734"/>
            <a:ext cx="5762065" cy="345061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Correct Answer: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c. chemical → light and heat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 chemical energy stored in the candle wax is converted into light and heat when burned.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Why others are incorrect: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a. Energy does not change from light to chemical.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b. No mechanical energy involved.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d. No electrical energy produced.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7C65FA4-631C-444F-89AA-F891363CC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53C58CC-6818-48FD-9CE0-B43BF88B73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B2694E9-2175-4647-803A-3AD63554C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solidFill>
              <a:schemeClr val="bg1"/>
            </a:soli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73C0073-35F7-15D7-CF5B-99BAF36B11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0478" y="2174242"/>
            <a:ext cx="3967429" cy="312435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Q6. </a:t>
            </a:r>
            <a:r>
              <a:rPr lang="en-US" dirty="0"/>
              <a:t>Heat transfer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4158849" cy="3450613"/>
          </a:xfrm>
        </p:spPr>
        <p:txBody>
          <a:bodyPr>
            <a:no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dirty="0"/>
              <a:t>During a residential fire, people are advised to stay low while evacuating.</a:t>
            </a:r>
          </a:p>
          <a:p>
            <a:pPr marL="0" indent="0">
              <a:lnSpc>
                <a:spcPct val="110000"/>
              </a:lnSpc>
              <a:buNone/>
            </a:pPr>
            <a:endParaRPr lang="en-US" dirty="0"/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a. Hot air and smoke rise due to convection, leaving cooler air near the floor.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b. Oxygen concentration is always higher near the floor.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c. Fire spreads faster along the floor.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d. Smoke is heavier than air.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3401815-9C3D-43EE-B4E4-2504090CE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09823" y="2012810"/>
            <a:ext cx="494865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DC52205-72B7-41BE-99DF-6B24F25ED6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98BFFC9-C8B3-41FE-B9CC-C492B07945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360E3CB-E8F5-9B69-6BD7-88D26096AA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9711" r="3" b="3"/>
          <a:stretch>
            <a:fillRect/>
          </a:stretch>
        </p:blipFill>
        <p:spPr>
          <a:xfrm>
            <a:off x="6277257" y="2174242"/>
            <a:ext cx="4613872" cy="312435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/>
              <a:t>Q6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Correct Answer: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a. Hot air and smoke rise due to convection.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lang="en-US" dirty="0"/>
              <a:t>Hot air and smoke are less dense, so they rise, leaving relatively cleaner air near the floor.</a:t>
            </a:r>
          </a:p>
          <a:p>
            <a:pPr marL="0" indent="0">
              <a:buNone/>
            </a:pPr>
            <a:r>
              <a:rPr lang="en-US" dirty="0"/>
              <a:t>Why others are incorrect:</a:t>
            </a:r>
          </a:p>
          <a:p>
            <a:pPr marL="0" indent="0">
              <a:buNone/>
            </a:pPr>
            <a:r>
              <a:rPr lang="en-US" dirty="0"/>
              <a:t>b. Oxygen distribution depends on temperature.</a:t>
            </a:r>
          </a:p>
          <a:p>
            <a:pPr marL="0" indent="0">
              <a:buNone/>
            </a:pPr>
            <a:r>
              <a:rPr lang="en-US" dirty="0"/>
              <a:t>c. Fire spreads upward, not mainly along the floor.</a:t>
            </a:r>
          </a:p>
          <a:p>
            <a:pPr marL="0" indent="0">
              <a:buNone/>
            </a:pPr>
            <a:r>
              <a:rPr lang="en-US" dirty="0"/>
              <a:t>d. Smoke is lighter, not heavier, than air.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F0EF57D-0415-EF61-6F04-9366129208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4139" y="2065073"/>
            <a:ext cx="3500715" cy="335193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Q7. </a:t>
            </a:r>
            <a:r>
              <a:rPr lang="en-US" dirty="0"/>
              <a:t>Circuit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5435733" cy="3450613"/>
          </a:xfrm>
        </p:spPr>
        <p:txBody>
          <a:bodyPr/>
          <a:lstStyle/>
          <a:p>
            <a:pPr marL="0" indent="0">
              <a:buNone/>
            </a:pPr>
            <a:r>
              <a:rPr dirty="0"/>
              <a:t>One string goes dark when one bulb burns out; another remains lit but brighter.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A. First parallel, second series</a:t>
            </a:r>
          </a:p>
          <a:p>
            <a:pPr marL="0" indent="0">
              <a:buNone/>
            </a:pPr>
            <a:r>
              <a:rPr dirty="0"/>
              <a:t>B. First series, second parallel</a:t>
            </a:r>
          </a:p>
          <a:p>
            <a:pPr marL="0" indent="0">
              <a:buNone/>
            </a:pPr>
            <a:r>
              <a:rPr dirty="0"/>
              <a:t>C. Both series, higher voltage</a:t>
            </a:r>
          </a:p>
          <a:p>
            <a:pPr marL="0" indent="0">
              <a:buNone/>
            </a:pPr>
            <a:r>
              <a:rPr dirty="0"/>
              <a:t>D. Both parallel, blown fuse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B7DF70-0A31-4A61-9C8B-3333776A1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90413" y="2012810"/>
            <a:ext cx="366806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926867-8D58-4875-8B76-E87E5BE82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F6663C-0F32-4FB9-B549-C2757F49F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19E8CFC-F03B-4C42-6E65-23E58533FFE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706" r="3" b="3"/>
          <a:stretch>
            <a:fillRect/>
          </a:stretch>
        </p:blipFill>
        <p:spPr>
          <a:xfrm>
            <a:off x="7554139" y="2174242"/>
            <a:ext cx="3336989" cy="312435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t>Q7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6195784" cy="345061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/>
              <a:t>Correct Answer: </a:t>
            </a:r>
            <a:r>
              <a:rPr lang="en-US" sz="1700" b="1"/>
              <a:t>B. First series, second parallel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Explanation: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In series circuits, one broken bulb stops current flow. In parallel circuits, current continues, and fewer bulbs share the same voltage, making them brighter.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Why others are incorrect: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A. Reversed explanation.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C. Voltage is not the main factor here.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D. Fuse explanation is incorrect.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2DD1F00-2FF7-6347-FF61-30517F8CD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87562" y="2015734"/>
            <a:ext cx="3642306" cy="35239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</a:t>
            </a:r>
            <a:r>
              <a:rPr lang="en-US" dirty="0"/>
              <a:t>8</a:t>
            </a:r>
            <a:r>
              <a:rPr dirty="0"/>
              <a:t>. </a:t>
            </a:r>
            <a:r>
              <a:rPr lang="en-US" dirty="0"/>
              <a:t>Energy Source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5622284" cy="3450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900"/>
              <a:t>Heat can make a turbine rotate and turn, allowing the generator to convert energy into electricity. Which set of elements in a geothermal power plant play vital roles in the mechanical energy of the turbine? </a:t>
            </a:r>
          </a:p>
          <a:p>
            <a:pPr marL="0" indent="0">
              <a:buNone/>
            </a:pPr>
            <a:r>
              <a:rPr lang="en-US" sz="1900"/>
              <a:t>A. Water and steam</a:t>
            </a:r>
          </a:p>
          <a:p>
            <a:pPr marL="0" indent="0">
              <a:buNone/>
            </a:pPr>
            <a:r>
              <a:rPr lang="en-US" sz="1900"/>
              <a:t>B. Water and condenser</a:t>
            </a:r>
          </a:p>
          <a:p>
            <a:pPr marL="0" indent="0">
              <a:buNone/>
            </a:pPr>
            <a:r>
              <a:rPr lang="en-US" sz="1900"/>
              <a:t>C. Water and generator</a:t>
            </a:r>
          </a:p>
          <a:p>
            <a:pPr marL="0" indent="0">
              <a:buNone/>
            </a:pPr>
            <a:r>
              <a:rPr lang="en-US" sz="1900"/>
              <a:t>D. Water and geothermal energy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8980F01-A733-84A3-28AB-536873A71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809" t="10221" r="2002" b="10423"/>
          <a:stretch>
            <a:fillRect/>
          </a:stretch>
        </p:blipFill>
        <p:spPr>
          <a:xfrm>
            <a:off x="7567587" y="2015734"/>
            <a:ext cx="4037226" cy="3700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661060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Q8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689" y="2015734"/>
            <a:ext cx="6490624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Correct Answer: </a:t>
            </a:r>
            <a:r>
              <a:rPr lang="en-US" b="1"/>
              <a:t>a. Water and steam</a:t>
            </a:r>
          </a:p>
          <a:p>
            <a:pPr marL="0" indent="0">
              <a:buNone/>
            </a:pPr>
            <a:r>
              <a:rPr lang="en-US"/>
              <a:t>Explanation:</a:t>
            </a:r>
          </a:p>
          <a:p>
            <a:pPr marL="0" indent="0">
              <a:buNone/>
            </a:pPr>
            <a:r>
              <a:rPr lang="en-US" dirty="0"/>
              <a:t>Mechanical energy of the turbine comes from moving fluid (steam) that pushes and spins it. Steam flows at high pressure and speed, striking the turbine blades that causes its rotation. </a:t>
            </a:r>
          </a:p>
          <a:p>
            <a:pPr marL="0" indent="0">
              <a:buNone/>
            </a:pPr>
            <a:r>
              <a:rPr lang="en-US" dirty="0"/>
              <a:t>Why others are incorrect:</a:t>
            </a:r>
          </a:p>
          <a:p>
            <a:pPr marL="0" indent="0">
              <a:buNone/>
            </a:pPr>
            <a:r>
              <a:rPr lang="en-US" dirty="0"/>
              <a:t>b. Condenser cools steam and turns back to water. </a:t>
            </a:r>
          </a:p>
          <a:p>
            <a:pPr marL="0" indent="0">
              <a:buNone/>
            </a:pPr>
            <a:r>
              <a:rPr lang="en-US" dirty="0"/>
              <a:t>c. Generator does not create mechanical energy. It converts Mechanical to electrical energy. 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B7DF70-0A31-4A61-9C8B-3333776A1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90413" y="2012810"/>
            <a:ext cx="366806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926867-8D58-4875-8B76-E87E5BE82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F6663C-0F32-4FB9-B549-C2757F49F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392A9605-B65E-DF16-5F44-173C5477A28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0" r="-6" b="-6"/>
          <a:stretch>
            <a:fillRect/>
          </a:stretch>
        </p:blipFill>
        <p:spPr>
          <a:xfrm>
            <a:off x="7554139" y="2174242"/>
            <a:ext cx="3336989" cy="31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1985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</a:t>
            </a:r>
            <a:r>
              <a:rPr lang="en-US" dirty="0"/>
              <a:t>9</a:t>
            </a:r>
            <a:r>
              <a:rPr dirty="0"/>
              <a:t>. </a:t>
            </a:r>
            <a:r>
              <a:rPr lang="en-US" dirty="0" err="1"/>
              <a:t>MIrrors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2730" y="2307061"/>
            <a:ext cx="11665324" cy="290278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Which observation best demonstrates an association between the type of mirror and the characteristics of the reflected image? </a:t>
            </a:r>
          </a:p>
          <a:p>
            <a:pPr marL="0" indent="0">
              <a:buNone/>
            </a:pPr>
            <a:r>
              <a:rPr lang="en-US" dirty="0"/>
              <a:t>A. The convex mirror produces an inverted image, while the concave mirror produces an upright image.</a:t>
            </a:r>
          </a:p>
          <a:p>
            <a:pPr marL="0" indent="0">
              <a:buNone/>
            </a:pPr>
            <a:r>
              <a:rPr lang="en-US" dirty="0"/>
              <a:t>B.  The convex mirror produces an upright and diminished image, while the concave mirror produces an inverted and diminished image.</a:t>
            </a:r>
          </a:p>
          <a:p>
            <a:pPr marL="0" indent="0">
              <a:buNone/>
            </a:pPr>
            <a:r>
              <a:rPr lang="en-US" dirty="0"/>
              <a:t>C. Both the concave and convex mirrors produce upright images, but the convex mirror produces larger images than the concave mirror. </a:t>
            </a:r>
          </a:p>
          <a:p>
            <a:pPr marL="0" indent="0">
              <a:buNone/>
            </a:pPr>
            <a:r>
              <a:rPr lang="en-US" dirty="0"/>
              <a:t>D. Both the concave and convex mirrors produce inverted images, but the concave mirror produces larger images than the convex mirror.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9CD5D3D-6397-487E-37E8-8218FA8CD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3112" y="-8846"/>
            <a:ext cx="5428888" cy="2468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2097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Q9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3730" y="1793858"/>
            <a:ext cx="10307876" cy="221336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/>
              <a:t>Correct Answer: </a:t>
            </a:r>
            <a:r>
              <a:rPr lang="en-US" b="1">
                <a:solidFill>
                  <a:schemeClr val="accent1">
                    <a:lumMod val="75000"/>
                  </a:schemeClr>
                </a:solidFill>
              </a:rPr>
              <a:t>b. The convex mirror produces an upright and diminished image, while the concave mirror produces an inverted and diminished image.</a:t>
            </a:r>
          </a:p>
          <a:p>
            <a:pPr marL="0" indent="0">
              <a:buNone/>
            </a:pPr>
            <a:r>
              <a:rPr lang="en-US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lang="en-US"/>
              <a:t>A </a:t>
            </a:r>
            <a:r>
              <a:rPr lang="en-US" dirty="0"/>
              <a:t>convex mirror always produces an upright, diminished, and virtual image, regardless of the object’s position.</a:t>
            </a:r>
          </a:p>
          <a:p>
            <a:pPr marL="0" indent="0">
              <a:buNone/>
            </a:pPr>
            <a:r>
              <a:rPr lang="en-US" dirty="0"/>
              <a:t>A concave mirror, when the object is beyond the center of curvature (as shown in the diagram), produces an inverted and diminished image. </a:t>
            </a:r>
          </a:p>
          <a:p>
            <a:pPr marL="0" indent="0">
              <a:buNone/>
            </a:pPr>
            <a:r>
              <a:rPr lang="en-US" dirty="0"/>
              <a:t>•Convex mirror → upright and diminished image	</a:t>
            </a:r>
          </a:p>
          <a:p>
            <a:pPr marL="0" indent="0">
              <a:buNone/>
            </a:pPr>
            <a:r>
              <a:rPr lang="en-US" dirty="0"/>
              <a:t>•Concave mirror → inverted and diminished image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7BA10F9-3483-0957-664B-6318978725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9806" y="75277"/>
            <a:ext cx="4010023" cy="171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7874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dirty="0"/>
              <a:t>Q</a:t>
            </a:r>
            <a:r>
              <a:rPr lang="en-US" dirty="0"/>
              <a:t>10</a:t>
            </a:r>
            <a:r>
              <a:rPr dirty="0"/>
              <a:t>. </a:t>
            </a:r>
            <a:r>
              <a:rPr lang="en-US" dirty="0"/>
              <a:t>Light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51579" y="2015734"/>
            <a:ext cx="5435733" cy="3450613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US" sz="1700"/>
              <a:t>What scientific evidence, based on the diagram, supports the conclusion that the different colors of light travel at different speeds in the prism?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A. All the colors of light exit the prism at the same angle.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B. The red light bends the most as it passes through the prism.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C. The violet light bends the least as it passes through the prism.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sz="1700"/>
              <a:t>D. The white light separates into distinct bands of color as it passes through the prism.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EB7DF70-0A31-4A61-9C8B-3333776A15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390413" y="2012810"/>
            <a:ext cx="3668069" cy="3453535"/>
            <a:chOff x="7807230" y="2012810"/>
            <a:chExt cx="3251252" cy="345986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926867-8D58-4875-8B76-E87E5BE825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0" y="2012810"/>
              <a:ext cx="3251252" cy="3459865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1905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9F6663C-0F32-4FB9-B549-C2757F49F9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807231" y="2026142"/>
              <a:ext cx="3251250" cy="3440203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762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w="38100" h="38100"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02186A7-0C51-4583-2051-F7188CFC082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39" r="-1" b="-1"/>
          <a:stretch>
            <a:fillRect/>
          </a:stretch>
        </p:blipFill>
        <p:spPr>
          <a:xfrm>
            <a:off x="7554139" y="2174242"/>
            <a:ext cx="3336989" cy="312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6944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4000"/>
                <a:satMod val="80000"/>
                <a:lumMod val="106000"/>
              </a:schemeClr>
            </a:gs>
            <a:gs pos="100000">
              <a:schemeClr val="bg2">
                <a:shade val="80000"/>
              </a:schemeClr>
            </a:gs>
          </a:gsLst>
          <a:path path="circle">
            <a:fillToRect l="43000" r="43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</p:spPr>
        <p:txBody>
          <a:bodyPr/>
          <a:lstStyle/>
          <a:p>
            <a:r>
              <a:rPr lang="en-US" dirty="0"/>
              <a:t>Q10 Answer &amp; Explanation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31" y="1853754"/>
            <a:ext cx="9453987" cy="345061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Correct Answer: </a:t>
            </a: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d. 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The white light separates into distinct bands of color as it passes through the prism.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Explanation:</a:t>
            </a:r>
          </a:p>
          <a:p>
            <a:pPr marL="0" indent="0">
              <a:buNone/>
            </a:pPr>
            <a:r>
              <a:rPr lang="en-US" dirty="0"/>
              <a:t>When white light passes through a prism, it separates into distinct colors (red to violet).
This phenomenon is called dispersion.
Dispersion occurs because:
- Each color of light has a different wavelength.
- Different wavelengths travel at different speeds in the prism.</a:t>
            </a:r>
          </a:p>
          <a:p>
            <a:pPr marL="0" indent="0">
              <a:buNone/>
            </a:pPr>
            <a:r>
              <a:rPr lang="en-US" dirty="0"/>
              <a:t>- Because their speeds differ, each color refracts (bends) by a different amount.
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A0A0E9-963B-5540-AF66-E3D597706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6515" y="3738283"/>
            <a:ext cx="3537664" cy="1801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987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21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2" baseType="lpstr">
      <vt:lpstr>Gallery</vt:lpstr>
      <vt:lpstr>Science Review Physics Concepts</vt:lpstr>
      <vt:lpstr>Q1. LAWS of MOTION</vt:lpstr>
      <vt:lpstr>Q1 Answer &amp; Explanation</vt:lpstr>
      <vt:lpstr>Q2. Momentum</vt:lpstr>
      <vt:lpstr>Q2 Answer &amp; Explanation</vt:lpstr>
      <vt:lpstr>Q3. friction</vt:lpstr>
      <vt:lpstr>Q3 Answer &amp; Explanation</vt:lpstr>
      <vt:lpstr>Q4. impulse and momentum</vt:lpstr>
      <vt:lpstr>Q4 Answer &amp; Explanation</vt:lpstr>
      <vt:lpstr>Q5. energy transformation</vt:lpstr>
      <vt:lpstr>Q5 Answer &amp; Explanation</vt:lpstr>
      <vt:lpstr>Q6. Heat transfer</vt:lpstr>
      <vt:lpstr>Q6 Answer &amp; Explanation</vt:lpstr>
      <vt:lpstr>Q7. Circuit</vt:lpstr>
      <vt:lpstr>Q7 Answer &amp; Explanation</vt:lpstr>
      <vt:lpstr>Q8. Energy Source</vt:lpstr>
      <vt:lpstr>Q8 Answer &amp; Explanation</vt:lpstr>
      <vt:lpstr>Q9. MIrrors</vt:lpstr>
      <vt:lpstr>Q9 Answer &amp; Explanation</vt:lpstr>
      <vt:lpstr>Q10. Light</vt:lpstr>
      <vt:lpstr>Q10 Answer &amp; Explanation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 Entrance Test Review Physics Concepts</dc:title>
  <dc:subject/>
  <dc:creator/>
  <cp:keywords/>
  <dc:description>generated using python-pptx</dc:description>
  <cp:lastModifiedBy>Roda Jenelyn Francisco</cp:lastModifiedBy>
  <cp:revision>4</cp:revision>
  <dcterms:created xsi:type="dcterms:W3CDTF">2013-01-27T09:14:16Z</dcterms:created>
  <dcterms:modified xsi:type="dcterms:W3CDTF">2026-01-09T17:13:17Z</dcterms:modified>
  <cp:category/>
</cp:coreProperties>
</file>