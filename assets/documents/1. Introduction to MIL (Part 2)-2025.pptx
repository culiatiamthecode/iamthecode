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8"/>
  </p:notesMasterIdLst>
  <p:sldIdLst>
    <p:sldId id="312" r:id="rId2"/>
    <p:sldId id="315" r:id="rId3"/>
    <p:sldId id="316" r:id="rId4"/>
    <p:sldId id="269" r:id="rId5"/>
    <p:sldId id="283" r:id="rId6"/>
    <p:sldId id="285" r:id="rId7"/>
    <p:sldId id="309" r:id="rId8"/>
    <p:sldId id="310" r:id="rId9"/>
    <p:sldId id="313" r:id="rId10"/>
    <p:sldId id="282" r:id="rId11"/>
    <p:sldId id="290" r:id="rId12"/>
    <p:sldId id="317" r:id="rId13"/>
    <p:sldId id="318" r:id="rId14"/>
    <p:sldId id="319" r:id="rId15"/>
    <p:sldId id="321" r:id="rId16"/>
    <p:sldId id="324" r:id="rId17"/>
    <p:sldId id="325" r:id="rId18"/>
    <p:sldId id="326" r:id="rId19"/>
    <p:sldId id="323" r:id="rId20"/>
    <p:sldId id="320" r:id="rId21"/>
    <p:sldId id="278" r:id="rId22"/>
    <p:sldId id="327" r:id="rId23"/>
    <p:sldId id="328" r:id="rId24"/>
    <p:sldId id="329" r:id="rId25"/>
    <p:sldId id="322" r:id="rId26"/>
    <p:sldId id="258" r:id="rId2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D68B1C"/>
    <a:srgbClr val="FF3399"/>
    <a:srgbClr val="CC3399"/>
    <a:srgbClr val="70AC2E"/>
    <a:srgbClr val="C19FFF"/>
    <a:srgbClr val="CAB4EA"/>
    <a:srgbClr val="D3B5E9"/>
    <a:srgbClr val="FFE0A3"/>
    <a:srgbClr val="D0005E"/>
    <a:srgbClr val="BE026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0A1B5D5-9B99-4C35-A422-299274C87663}" styleName="Medium Style 1 - Accent 6">
    <a:wholeTbl>
      <a:tcTxStyle>
        <a:fontRef idx="minor">
          <a:scrgbClr r="0" g="0" b="0"/>
        </a:fontRef>
        <a:schemeClr val="dk1"/>
      </a:tcTxStyle>
      <a:tcStyle>
        <a:tcBdr>
          <a:left>
            <a:ln w="12700" cmpd="sng">
              <a:solidFill>
                <a:schemeClr val="accent6"/>
              </a:solidFill>
            </a:ln>
          </a:left>
          <a:right>
            <a:ln w="12700" cmpd="sng">
              <a:solidFill>
                <a:schemeClr val="accent6"/>
              </a:solidFill>
            </a:ln>
          </a:right>
          <a:top>
            <a:ln w="12700" cmpd="sng">
              <a:solidFill>
                <a:schemeClr val="accent6"/>
              </a:solidFill>
            </a:ln>
          </a:top>
          <a:bottom>
            <a:ln w="12700" cmpd="sng">
              <a:solidFill>
                <a:schemeClr val="accent6"/>
              </a:solidFill>
            </a:ln>
          </a:bottom>
          <a:insideH>
            <a:ln w="12700" cmpd="sng">
              <a:solidFill>
                <a:schemeClr val="accent6"/>
              </a:solidFill>
            </a:ln>
          </a:insideH>
          <a:insideV>
            <a:ln>
              <a:noFill/>
            </a:ln>
          </a:insideV>
        </a:tcBdr>
        <a:fill>
          <a:solidFill>
            <a:schemeClr val="lt1"/>
          </a:solidFill>
        </a:fill>
      </a:tcStyle>
    </a:wholeTbl>
    <a:band1H>
      <a:tcStyle>
        <a:tcBdr/>
        <a:fill>
          <a:solidFill>
            <a:schemeClr val="accent6">
              <a:tint val="20000"/>
            </a:schemeClr>
          </a:solidFill>
        </a:fill>
      </a:tcStyle>
    </a:band1H>
    <a:band1V>
      <a:tcStyle>
        <a:tcBdr/>
        <a:fill>
          <a:solidFill>
            <a:schemeClr val="accent6">
              <a:tint val="20000"/>
            </a:schemeClr>
          </a:solidFill>
        </a:fill>
      </a:tcStyle>
    </a:band1V>
    <a:lastCol>
      <a:tcTxStyle b="on"/>
      <a:tcStyle>
        <a:tcBdr/>
      </a:tcStyle>
    </a:lastCol>
    <a:firstCol>
      <a:tcTxStyle b="on"/>
      <a:tcStyle>
        <a:tcBdr/>
      </a:tcStyle>
    </a:firstCol>
    <a:lastRow>
      <a:tcTxStyle b="on"/>
      <a:tcStyle>
        <a:tcBdr>
          <a:top>
            <a:ln w="50800" cmpd="dbl">
              <a:solidFill>
                <a:schemeClr val="accent6"/>
              </a:solidFill>
            </a:ln>
          </a:top>
        </a:tcBdr>
        <a:fill>
          <a:solidFill>
            <a:schemeClr val="lt1"/>
          </a:solidFill>
        </a:fill>
      </a:tcStyle>
    </a:lastRow>
    <a:firstRow>
      <a:tcTxStyle b="on">
        <a:fontRef idx="minor">
          <a:scrgbClr r="0" g="0" b="0"/>
        </a:fontRef>
        <a:schemeClr val="lt1"/>
      </a:tcTxStyle>
      <a:tcStyle>
        <a:tcBdr/>
        <a:fill>
          <a:solidFill>
            <a:schemeClr val="accent6"/>
          </a:solidFill>
        </a:fill>
      </a:tcStyle>
    </a:firstRow>
  </a:tblStyle>
  <a:tblStyle styleId="{D113A9D2-9D6B-4929-AA2D-F23B5EE8CBE7}" styleName="Themed Style 2 - Accent 1">
    <a:tblBg>
      <a:fillRef idx="3">
        <a:schemeClr val="accent1"/>
      </a:fillRef>
      <a:effectRef idx="3">
        <a:schemeClr val="accent1"/>
      </a:effectRef>
    </a:tblBg>
    <a:wholeTbl>
      <a:tcTxStyle>
        <a:fontRef idx="minor">
          <a:scrgbClr r="0" g="0" b="0"/>
        </a:fontRef>
        <a:schemeClr val="lt1"/>
      </a:tcTxStyle>
      <a:tcStyle>
        <a:tcBdr>
          <a:left>
            <a:lnRef idx="1">
              <a:schemeClr val="accent1">
                <a:tint val="50000"/>
              </a:schemeClr>
            </a:lnRef>
          </a:left>
          <a:right>
            <a:lnRef idx="1">
              <a:schemeClr val="accent1">
                <a:tint val="50000"/>
              </a:schemeClr>
            </a:lnRef>
          </a:right>
          <a:top>
            <a:lnRef idx="1">
              <a:schemeClr val="accent1">
                <a:tint val="50000"/>
              </a:schemeClr>
            </a:lnRef>
          </a:top>
          <a:bottom>
            <a:lnRef idx="1">
              <a:schemeClr val="accent1">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638B1855-1B75-4FBE-930C-398BA8C253C6}" styleName="Themed Style 2 - Accent 6">
    <a:tblBg>
      <a:fillRef idx="3">
        <a:schemeClr val="accent6"/>
      </a:fillRef>
      <a:effectRef idx="3">
        <a:schemeClr val="accent6"/>
      </a:effectRef>
    </a:tblBg>
    <a:wholeTbl>
      <a:tcTxStyle>
        <a:fontRef idx="minor">
          <a:scrgbClr r="0" g="0" b="0"/>
        </a:fontRef>
        <a:schemeClr val="lt1"/>
      </a:tcTxStyle>
      <a:tcStyle>
        <a:tcBdr>
          <a:left>
            <a:lnRef idx="1">
              <a:schemeClr val="accent6">
                <a:tint val="50000"/>
              </a:schemeClr>
            </a:lnRef>
          </a:left>
          <a:right>
            <a:lnRef idx="1">
              <a:schemeClr val="accent6">
                <a:tint val="50000"/>
              </a:schemeClr>
            </a:lnRef>
          </a:right>
          <a:top>
            <a:lnRef idx="1">
              <a:schemeClr val="accent6">
                <a:tint val="50000"/>
              </a:schemeClr>
            </a:lnRef>
          </a:top>
          <a:bottom>
            <a:lnRef idx="1">
              <a:schemeClr val="accent6">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34843"/>
    <p:restoredTop sz="94687"/>
  </p:normalViewPr>
  <p:slideViewPr>
    <p:cSldViewPr>
      <p:cViewPr varScale="1">
        <p:scale>
          <a:sx n="104" d="100"/>
          <a:sy n="104" d="100"/>
        </p:scale>
        <p:origin x="776" y="208"/>
      </p:cViewPr>
      <p:guideLst>
        <p:guide orient="horz" pos="2160"/>
        <p:guide pos="2880"/>
      </p:guideLst>
    </p:cSldViewPr>
  </p:slideViewPr>
  <p:notesTextViewPr>
    <p:cViewPr>
      <p:scale>
        <a:sx n="1" d="1"/>
        <a:sy n="1" d="1"/>
      </p:scale>
      <p:origin x="0" y="0"/>
    </p:cViewPr>
  </p:notesTextViewPr>
  <p:gridSpacing cx="152705" cy="152705"/>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939645E-4D88-49D6-B395-C1DAEDB0A89C}" type="doc">
      <dgm:prSet loTypeId="urn:microsoft.com/office/officeart/2005/8/layout/vList5" loCatId="list" qsTypeId="urn:microsoft.com/office/officeart/2005/8/quickstyle/simple1" qsCatId="simple" csTypeId="urn:microsoft.com/office/officeart/2005/8/colors/accent1_2" csCatId="accent1" phldr="1"/>
      <dgm:spPr/>
      <dgm:t>
        <a:bodyPr/>
        <a:lstStyle/>
        <a:p>
          <a:endParaRPr lang="en-US"/>
        </a:p>
      </dgm:t>
    </dgm:pt>
    <dgm:pt modelId="{49E83374-CC45-4244-B583-42E81BDA2926}">
      <dgm:prSet phldrT="[Text]"/>
      <dgm:spPr/>
      <dgm:t>
        <a:bodyPr/>
        <a:lstStyle/>
        <a:p>
          <a:r>
            <a:rPr lang="en-US" b="1" dirty="0"/>
            <a:t>Media Literacy</a:t>
          </a:r>
        </a:p>
      </dgm:t>
    </dgm:pt>
    <dgm:pt modelId="{DDA4A3EE-6EB2-4981-9980-C5DE5CB96679}" type="parTrans" cxnId="{52528658-34C2-4AFB-976A-492BFDB18A4C}">
      <dgm:prSet/>
      <dgm:spPr/>
      <dgm:t>
        <a:bodyPr/>
        <a:lstStyle/>
        <a:p>
          <a:endParaRPr lang="en-US"/>
        </a:p>
      </dgm:t>
    </dgm:pt>
    <dgm:pt modelId="{A4762928-20BD-4B58-A063-E18EBE6F5B87}" type="sibTrans" cxnId="{52528658-34C2-4AFB-976A-492BFDB18A4C}">
      <dgm:prSet/>
      <dgm:spPr/>
      <dgm:t>
        <a:bodyPr/>
        <a:lstStyle/>
        <a:p>
          <a:endParaRPr lang="en-US"/>
        </a:p>
      </dgm:t>
    </dgm:pt>
    <dgm:pt modelId="{03F2F443-410D-4E93-B4C7-03F36E9B2D76}">
      <dgm:prSet phldrT="[Text]" custT="1"/>
      <dgm:spPr/>
      <dgm:t>
        <a:bodyPr/>
        <a:lstStyle/>
        <a:p>
          <a:r>
            <a:rPr lang="en-US" sz="2000" b="1" dirty="0"/>
            <a:t>The ability to read, analyze, evaluate and produce communication in a variety of media forms.</a:t>
          </a:r>
        </a:p>
      </dgm:t>
    </dgm:pt>
    <dgm:pt modelId="{447DA955-E59A-4326-88CB-EB40A929EAA8}" type="parTrans" cxnId="{23631F79-A0BB-4EE7-A992-53D0C2C82B20}">
      <dgm:prSet/>
      <dgm:spPr/>
      <dgm:t>
        <a:bodyPr/>
        <a:lstStyle/>
        <a:p>
          <a:endParaRPr lang="en-US"/>
        </a:p>
      </dgm:t>
    </dgm:pt>
    <dgm:pt modelId="{E1B4F1AC-D442-4D56-AB4A-CE5245D4986B}" type="sibTrans" cxnId="{23631F79-A0BB-4EE7-A992-53D0C2C82B20}">
      <dgm:prSet/>
      <dgm:spPr/>
      <dgm:t>
        <a:bodyPr/>
        <a:lstStyle/>
        <a:p>
          <a:endParaRPr lang="en-US"/>
        </a:p>
      </dgm:t>
    </dgm:pt>
    <dgm:pt modelId="{07BFB908-5304-4635-9B2E-DFF12FFD9A98}">
      <dgm:prSet phldrT="[Text]"/>
      <dgm:spPr/>
      <dgm:t>
        <a:bodyPr/>
        <a:lstStyle/>
        <a:p>
          <a:r>
            <a:rPr lang="en-US" b="1" dirty="0"/>
            <a:t>Information Literacy</a:t>
          </a:r>
        </a:p>
      </dgm:t>
    </dgm:pt>
    <dgm:pt modelId="{7D5DB11F-DF7A-4873-A4C5-DF3A829862FD}" type="parTrans" cxnId="{F19FB477-A26B-4EA9-AF80-6C849E357DAF}">
      <dgm:prSet/>
      <dgm:spPr/>
      <dgm:t>
        <a:bodyPr/>
        <a:lstStyle/>
        <a:p>
          <a:endParaRPr lang="en-US"/>
        </a:p>
      </dgm:t>
    </dgm:pt>
    <dgm:pt modelId="{F9843100-1AE7-443C-B006-C581FF6F669D}" type="sibTrans" cxnId="{F19FB477-A26B-4EA9-AF80-6C849E357DAF}">
      <dgm:prSet/>
      <dgm:spPr/>
      <dgm:t>
        <a:bodyPr/>
        <a:lstStyle/>
        <a:p>
          <a:endParaRPr lang="en-US"/>
        </a:p>
      </dgm:t>
    </dgm:pt>
    <dgm:pt modelId="{1633AB4A-8A3B-4EAE-B056-B65AC79C8E45}">
      <dgm:prSet phldrT="[Text]" custT="1"/>
      <dgm:spPr/>
      <dgm:t>
        <a:bodyPr/>
        <a:lstStyle/>
        <a:p>
          <a:r>
            <a:rPr lang="en-US" sz="2000" b="1" dirty="0"/>
            <a:t>The ability to recognize when information is needed and to locate, evaluate, effectively use and communicate information in its various formats. </a:t>
          </a:r>
        </a:p>
      </dgm:t>
    </dgm:pt>
    <dgm:pt modelId="{228A20DD-B509-441B-9596-CF61E1F69450}" type="parTrans" cxnId="{0FA575CB-D020-4EE9-AA95-109F5A53026C}">
      <dgm:prSet/>
      <dgm:spPr/>
      <dgm:t>
        <a:bodyPr/>
        <a:lstStyle/>
        <a:p>
          <a:endParaRPr lang="en-US"/>
        </a:p>
      </dgm:t>
    </dgm:pt>
    <dgm:pt modelId="{C5D97AB5-586E-49B5-B2AB-2CB831FC839E}" type="sibTrans" cxnId="{0FA575CB-D020-4EE9-AA95-109F5A53026C}">
      <dgm:prSet/>
      <dgm:spPr/>
      <dgm:t>
        <a:bodyPr/>
        <a:lstStyle/>
        <a:p>
          <a:endParaRPr lang="en-US"/>
        </a:p>
      </dgm:t>
    </dgm:pt>
    <dgm:pt modelId="{2A7C4EF6-9D2A-41A8-A4FE-DF81E85A454F}">
      <dgm:prSet phldrT="[Text]"/>
      <dgm:spPr/>
      <dgm:t>
        <a:bodyPr/>
        <a:lstStyle/>
        <a:p>
          <a:r>
            <a:rPr lang="en-US" b="1" dirty="0"/>
            <a:t>Technology (Digital) Literacy</a:t>
          </a:r>
        </a:p>
      </dgm:t>
    </dgm:pt>
    <dgm:pt modelId="{281CDBFF-06E9-422C-A7E8-45C1F2FA4503}" type="parTrans" cxnId="{C96558E9-A8A8-43C8-A1A3-AADC01F445B5}">
      <dgm:prSet/>
      <dgm:spPr/>
      <dgm:t>
        <a:bodyPr/>
        <a:lstStyle/>
        <a:p>
          <a:endParaRPr lang="en-US"/>
        </a:p>
      </dgm:t>
    </dgm:pt>
    <dgm:pt modelId="{D6D8D7C6-8852-4C35-9ABC-DCA7E752F81F}" type="sibTrans" cxnId="{C96558E9-A8A8-43C8-A1A3-AADC01F445B5}">
      <dgm:prSet/>
      <dgm:spPr/>
      <dgm:t>
        <a:bodyPr/>
        <a:lstStyle/>
        <a:p>
          <a:endParaRPr lang="en-US"/>
        </a:p>
      </dgm:t>
    </dgm:pt>
    <dgm:pt modelId="{6825FA57-3B02-4C14-9468-D5578B66EF19}">
      <dgm:prSet phldrT="[Text]" custT="1"/>
      <dgm:spPr/>
      <dgm:t>
        <a:bodyPr/>
        <a:lstStyle/>
        <a:p>
          <a:r>
            <a:rPr lang="en-US" sz="2000" b="1" dirty="0"/>
            <a:t>The ability to use digital technology, communication tools or networks to locate, evaluate, use, and create information.</a:t>
          </a:r>
        </a:p>
      </dgm:t>
    </dgm:pt>
    <dgm:pt modelId="{1F591E02-55AF-479A-83BC-73BD9C2DFD75}" type="parTrans" cxnId="{4F083CC3-BCED-41AF-AFC1-BCCAD445491E}">
      <dgm:prSet/>
      <dgm:spPr/>
      <dgm:t>
        <a:bodyPr/>
        <a:lstStyle/>
        <a:p>
          <a:endParaRPr lang="en-US"/>
        </a:p>
      </dgm:t>
    </dgm:pt>
    <dgm:pt modelId="{A270024D-4116-4DE8-ABC2-6ED77BA87527}" type="sibTrans" cxnId="{4F083CC3-BCED-41AF-AFC1-BCCAD445491E}">
      <dgm:prSet/>
      <dgm:spPr/>
      <dgm:t>
        <a:bodyPr/>
        <a:lstStyle/>
        <a:p>
          <a:endParaRPr lang="en-US"/>
        </a:p>
      </dgm:t>
    </dgm:pt>
    <dgm:pt modelId="{CCEBBFE5-6231-418D-933B-CF56E7CA230D}" type="pres">
      <dgm:prSet presAssocID="{8939645E-4D88-49D6-B395-C1DAEDB0A89C}" presName="Name0" presStyleCnt="0">
        <dgm:presLayoutVars>
          <dgm:dir/>
          <dgm:animLvl val="lvl"/>
          <dgm:resizeHandles val="exact"/>
        </dgm:presLayoutVars>
      </dgm:prSet>
      <dgm:spPr/>
    </dgm:pt>
    <dgm:pt modelId="{225D5C3F-A843-4532-AF95-FFFCD28A2FC1}" type="pres">
      <dgm:prSet presAssocID="{49E83374-CC45-4244-B583-42E81BDA2926}" presName="linNode" presStyleCnt="0"/>
      <dgm:spPr/>
    </dgm:pt>
    <dgm:pt modelId="{6AEE580D-B1C7-492A-8FDF-6A39EBDA089A}" type="pres">
      <dgm:prSet presAssocID="{49E83374-CC45-4244-B583-42E81BDA2926}" presName="parentText" presStyleLbl="node1" presStyleIdx="0" presStyleCnt="3" custScaleX="87392">
        <dgm:presLayoutVars>
          <dgm:chMax val="1"/>
          <dgm:bulletEnabled val="1"/>
        </dgm:presLayoutVars>
      </dgm:prSet>
      <dgm:spPr/>
    </dgm:pt>
    <dgm:pt modelId="{C88202C8-8B8A-4554-B44C-657CF3E33F73}" type="pres">
      <dgm:prSet presAssocID="{49E83374-CC45-4244-B583-42E81BDA2926}" presName="descendantText" presStyleLbl="alignAccFollowNode1" presStyleIdx="0" presStyleCnt="3" custScaleY="118723">
        <dgm:presLayoutVars>
          <dgm:bulletEnabled val="1"/>
        </dgm:presLayoutVars>
      </dgm:prSet>
      <dgm:spPr/>
    </dgm:pt>
    <dgm:pt modelId="{7D80A06E-1D55-45A0-8E41-566139044B5F}" type="pres">
      <dgm:prSet presAssocID="{A4762928-20BD-4B58-A063-E18EBE6F5B87}" presName="sp" presStyleCnt="0"/>
      <dgm:spPr/>
    </dgm:pt>
    <dgm:pt modelId="{72AB37E6-1777-42CE-9ED9-24CFB08944A6}" type="pres">
      <dgm:prSet presAssocID="{07BFB908-5304-4635-9B2E-DFF12FFD9A98}" presName="linNode" presStyleCnt="0"/>
      <dgm:spPr/>
    </dgm:pt>
    <dgm:pt modelId="{62BC0F2B-4D90-4BCE-AED3-85F0FEB1C099}" type="pres">
      <dgm:prSet presAssocID="{07BFB908-5304-4635-9B2E-DFF12FFD9A98}" presName="parentText" presStyleLbl="node1" presStyleIdx="1" presStyleCnt="3" custScaleX="87392">
        <dgm:presLayoutVars>
          <dgm:chMax val="1"/>
          <dgm:bulletEnabled val="1"/>
        </dgm:presLayoutVars>
      </dgm:prSet>
      <dgm:spPr/>
    </dgm:pt>
    <dgm:pt modelId="{0F0BA44C-7D32-44A8-9038-8E9059733180}" type="pres">
      <dgm:prSet presAssocID="{07BFB908-5304-4635-9B2E-DFF12FFD9A98}" presName="descendantText" presStyleLbl="alignAccFollowNode1" presStyleIdx="1" presStyleCnt="3" custScaleY="118723">
        <dgm:presLayoutVars>
          <dgm:bulletEnabled val="1"/>
        </dgm:presLayoutVars>
      </dgm:prSet>
      <dgm:spPr/>
    </dgm:pt>
    <dgm:pt modelId="{8DE168D0-13E7-4BAC-8D37-DBC3D9B75DA9}" type="pres">
      <dgm:prSet presAssocID="{F9843100-1AE7-443C-B006-C581FF6F669D}" presName="sp" presStyleCnt="0"/>
      <dgm:spPr/>
    </dgm:pt>
    <dgm:pt modelId="{0C2D55A2-84BE-46D1-81F1-0F8985D9C555}" type="pres">
      <dgm:prSet presAssocID="{2A7C4EF6-9D2A-41A8-A4FE-DF81E85A454F}" presName="linNode" presStyleCnt="0"/>
      <dgm:spPr/>
    </dgm:pt>
    <dgm:pt modelId="{F9D2564F-0BB7-4744-8948-52C500A80BEE}" type="pres">
      <dgm:prSet presAssocID="{2A7C4EF6-9D2A-41A8-A4FE-DF81E85A454F}" presName="parentText" presStyleLbl="node1" presStyleIdx="2" presStyleCnt="3" custScaleX="87392">
        <dgm:presLayoutVars>
          <dgm:chMax val="1"/>
          <dgm:bulletEnabled val="1"/>
        </dgm:presLayoutVars>
      </dgm:prSet>
      <dgm:spPr/>
    </dgm:pt>
    <dgm:pt modelId="{336B6D53-D509-4C2D-886A-849EF9DF9F8E}" type="pres">
      <dgm:prSet presAssocID="{2A7C4EF6-9D2A-41A8-A4FE-DF81E85A454F}" presName="descendantText" presStyleLbl="alignAccFollowNode1" presStyleIdx="2" presStyleCnt="3" custScaleY="118723">
        <dgm:presLayoutVars>
          <dgm:bulletEnabled val="1"/>
        </dgm:presLayoutVars>
      </dgm:prSet>
      <dgm:spPr/>
    </dgm:pt>
  </dgm:ptLst>
  <dgm:cxnLst>
    <dgm:cxn modelId="{AEDF141A-005A-4CEB-9D19-23CC04EF342B}" type="presOf" srcId="{6825FA57-3B02-4C14-9468-D5578B66EF19}" destId="{336B6D53-D509-4C2D-886A-849EF9DF9F8E}" srcOrd="0" destOrd="0" presId="urn:microsoft.com/office/officeart/2005/8/layout/vList5"/>
    <dgm:cxn modelId="{52528658-34C2-4AFB-976A-492BFDB18A4C}" srcId="{8939645E-4D88-49D6-B395-C1DAEDB0A89C}" destId="{49E83374-CC45-4244-B583-42E81BDA2926}" srcOrd="0" destOrd="0" parTransId="{DDA4A3EE-6EB2-4981-9980-C5DE5CB96679}" sibTransId="{A4762928-20BD-4B58-A063-E18EBE6F5B87}"/>
    <dgm:cxn modelId="{F19FB477-A26B-4EA9-AF80-6C849E357DAF}" srcId="{8939645E-4D88-49D6-B395-C1DAEDB0A89C}" destId="{07BFB908-5304-4635-9B2E-DFF12FFD9A98}" srcOrd="1" destOrd="0" parTransId="{7D5DB11F-DF7A-4873-A4C5-DF3A829862FD}" sibTransId="{F9843100-1AE7-443C-B006-C581FF6F669D}"/>
    <dgm:cxn modelId="{23631F79-A0BB-4EE7-A992-53D0C2C82B20}" srcId="{49E83374-CC45-4244-B583-42E81BDA2926}" destId="{03F2F443-410D-4E93-B4C7-03F36E9B2D76}" srcOrd="0" destOrd="0" parTransId="{447DA955-E59A-4326-88CB-EB40A929EAA8}" sibTransId="{E1B4F1AC-D442-4D56-AB4A-CE5245D4986B}"/>
    <dgm:cxn modelId="{B9F9E879-A631-401C-86B6-9FD5492F20E6}" type="presOf" srcId="{1633AB4A-8A3B-4EAE-B056-B65AC79C8E45}" destId="{0F0BA44C-7D32-44A8-9038-8E9059733180}" srcOrd="0" destOrd="0" presId="urn:microsoft.com/office/officeart/2005/8/layout/vList5"/>
    <dgm:cxn modelId="{2A6F2D8B-D45E-4EDF-8EA9-8D4B96D5DDEA}" type="presOf" srcId="{8939645E-4D88-49D6-B395-C1DAEDB0A89C}" destId="{CCEBBFE5-6231-418D-933B-CF56E7CA230D}" srcOrd="0" destOrd="0" presId="urn:microsoft.com/office/officeart/2005/8/layout/vList5"/>
    <dgm:cxn modelId="{37A89EA5-16E7-473F-AC2E-6492068C2741}" type="presOf" srcId="{07BFB908-5304-4635-9B2E-DFF12FFD9A98}" destId="{62BC0F2B-4D90-4BCE-AED3-85F0FEB1C099}" srcOrd="0" destOrd="0" presId="urn:microsoft.com/office/officeart/2005/8/layout/vList5"/>
    <dgm:cxn modelId="{4F083CC3-BCED-41AF-AFC1-BCCAD445491E}" srcId="{2A7C4EF6-9D2A-41A8-A4FE-DF81E85A454F}" destId="{6825FA57-3B02-4C14-9468-D5578B66EF19}" srcOrd="0" destOrd="0" parTransId="{1F591E02-55AF-479A-83BC-73BD9C2DFD75}" sibTransId="{A270024D-4116-4DE8-ABC2-6ED77BA87527}"/>
    <dgm:cxn modelId="{77D552C3-ED5F-4824-9E31-10050522DD0D}" type="presOf" srcId="{03F2F443-410D-4E93-B4C7-03F36E9B2D76}" destId="{C88202C8-8B8A-4554-B44C-657CF3E33F73}" srcOrd="0" destOrd="0" presId="urn:microsoft.com/office/officeart/2005/8/layout/vList5"/>
    <dgm:cxn modelId="{0FA575CB-D020-4EE9-AA95-109F5A53026C}" srcId="{07BFB908-5304-4635-9B2E-DFF12FFD9A98}" destId="{1633AB4A-8A3B-4EAE-B056-B65AC79C8E45}" srcOrd="0" destOrd="0" parTransId="{228A20DD-B509-441B-9596-CF61E1F69450}" sibTransId="{C5D97AB5-586E-49B5-B2AB-2CB831FC839E}"/>
    <dgm:cxn modelId="{9B5870E4-4B86-4DCF-8038-DC62216CB329}" type="presOf" srcId="{49E83374-CC45-4244-B583-42E81BDA2926}" destId="{6AEE580D-B1C7-492A-8FDF-6A39EBDA089A}" srcOrd="0" destOrd="0" presId="urn:microsoft.com/office/officeart/2005/8/layout/vList5"/>
    <dgm:cxn modelId="{C96558E9-A8A8-43C8-A1A3-AADC01F445B5}" srcId="{8939645E-4D88-49D6-B395-C1DAEDB0A89C}" destId="{2A7C4EF6-9D2A-41A8-A4FE-DF81E85A454F}" srcOrd="2" destOrd="0" parTransId="{281CDBFF-06E9-422C-A7E8-45C1F2FA4503}" sibTransId="{D6D8D7C6-8852-4C35-9ABC-DCA7E752F81F}"/>
    <dgm:cxn modelId="{C7FD39F9-CA7A-49CE-BDFE-C20F5D7C2F03}" type="presOf" srcId="{2A7C4EF6-9D2A-41A8-A4FE-DF81E85A454F}" destId="{F9D2564F-0BB7-4744-8948-52C500A80BEE}" srcOrd="0" destOrd="0" presId="urn:microsoft.com/office/officeart/2005/8/layout/vList5"/>
    <dgm:cxn modelId="{AEA43F36-8F8D-4557-B646-88426B8CCB6C}" type="presParOf" srcId="{CCEBBFE5-6231-418D-933B-CF56E7CA230D}" destId="{225D5C3F-A843-4532-AF95-FFFCD28A2FC1}" srcOrd="0" destOrd="0" presId="urn:microsoft.com/office/officeart/2005/8/layout/vList5"/>
    <dgm:cxn modelId="{D32E0BE9-1567-47FB-9504-2510D0702C0E}" type="presParOf" srcId="{225D5C3F-A843-4532-AF95-FFFCD28A2FC1}" destId="{6AEE580D-B1C7-492A-8FDF-6A39EBDA089A}" srcOrd="0" destOrd="0" presId="urn:microsoft.com/office/officeart/2005/8/layout/vList5"/>
    <dgm:cxn modelId="{DFD6D25C-45CF-4353-8E7F-0A5FD93836ED}" type="presParOf" srcId="{225D5C3F-A843-4532-AF95-FFFCD28A2FC1}" destId="{C88202C8-8B8A-4554-B44C-657CF3E33F73}" srcOrd="1" destOrd="0" presId="urn:microsoft.com/office/officeart/2005/8/layout/vList5"/>
    <dgm:cxn modelId="{E70248B8-1402-449B-821A-C40F937D06BE}" type="presParOf" srcId="{CCEBBFE5-6231-418D-933B-CF56E7CA230D}" destId="{7D80A06E-1D55-45A0-8E41-566139044B5F}" srcOrd="1" destOrd="0" presId="urn:microsoft.com/office/officeart/2005/8/layout/vList5"/>
    <dgm:cxn modelId="{B9A66239-A3C9-4E06-9655-EAF8C6F3AA4B}" type="presParOf" srcId="{CCEBBFE5-6231-418D-933B-CF56E7CA230D}" destId="{72AB37E6-1777-42CE-9ED9-24CFB08944A6}" srcOrd="2" destOrd="0" presId="urn:microsoft.com/office/officeart/2005/8/layout/vList5"/>
    <dgm:cxn modelId="{EBB69EF6-3068-4E07-992A-2F5D8C04B5F6}" type="presParOf" srcId="{72AB37E6-1777-42CE-9ED9-24CFB08944A6}" destId="{62BC0F2B-4D90-4BCE-AED3-85F0FEB1C099}" srcOrd="0" destOrd="0" presId="urn:microsoft.com/office/officeart/2005/8/layout/vList5"/>
    <dgm:cxn modelId="{A7BF9E26-4D99-45F0-9B23-4649241269CC}" type="presParOf" srcId="{72AB37E6-1777-42CE-9ED9-24CFB08944A6}" destId="{0F0BA44C-7D32-44A8-9038-8E9059733180}" srcOrd="1" destOrd="0" presId="urn:microsoft.com/office/officeart/2005/8/layout/vList5"/>
    <dgm:cxn modelId="{AD2D202C-6FA1-4353-B536-B9490C8FF2B9}" type="presParOf" srcId="{CCEBBFE5-6231-418D-933B-CF56E7CA230D}" destId="{8DE168D0-13E7-4BAC-8D37-DBC3D9B75DA9}" srcOrd="3" destOrd="0" presId="urn:microsoft.com/office/officeart/2005/8/layout/vList5"/>
    <dgm:cxn modelId="{8140E1E5-A9E7-49F9-B259-F622BF7EB28C}" type="presParOf" srcId="{CCEBBFE5-6231-418D-933B-CF56E7CA230D}" destId="{0C2D55A2-84BE-46D1-81F1-0F8985D9C555}" srcOrd="4" destOrd="0" presId="urn:microsoft.com/office/officeart/2005/8/layout/vList5"/>
    <dgm:cxn modelId="{3500B051-D479-464C-8411-62D1012CAA90}" type="presParOf" srcId="{0C2D55A2-84BE-46D1-81F1-0F8985D9C555}" destId="{F9D2564F-0BB7-4744-8948-52C500A80BEE}" srcOrd="0" destOrd="0" presId="urn:microsoft.com/office/officeart/2005/8/layout/vList5"/>
    <dgm:cxn modelId="{B4F95C6A-13F6-4499-B72F-28FC3224944C}" type="presParOf" srcId="{0C2D55A2-84BE-46D1-81F1-0F8985D9C555}" destId="{336B6D53-D509-4C2D-886A-849EF9DF9F8E}" srcOrd="1" destOrd="0" presId="urn:microsoft.com/office/officeart/2005/8/layout/vList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88202C8-8B8A-4554-B44C-657CF3E33F73}">
      <dsp:nvSpPr>
        <dsp:cNvPr id="0" name=""/>
        <dsp:cNvSpPr/>
      </dsp:nvSpPr>
      <dsp:spPr>
        <a:xfrm rot="5400000">
          <a:off x="4801285" y="-2005114"/>
          <a:ext cx="1167633" cy="524332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a:t>The ability to read, analyze, evaluate and produce communication in a variety of media forms.</a:t>
          </a:r>
        </a:p>
      </dsp:txBody>
      <dsp:txXfrm rot="-5400000">
        <a:off x="2763441" y="89729"/>
        <a:ext cx="5186323" cy="1053635"/>
      </dsp:txXfrm>
    </dsp:sp>
    <dsp:sp modelId="{6AEE580D-B1C7-492A-8FDF-6A39EBDA089A}">
      <dsp:nvSpPr>
        <dsp:cNvPr id="0" name=""/>
        <dsp:cNvSpPr/>
      </dsp:nvSpPr>
      <dsp:spPr>
        <a:xfrm>
          <a:off x="185928" y="1862"/>
          <a:ext cx="2577512" cy="122936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Media Literacy</a:t>
          </a:r>
        </a:p>
      </dsp:txBody>
      <dsp:txXfrm>
        <a:off x="245941" y="61875"/>
        <a:ext cx="2457486" cy="1109340"/>
      </dsp:txXfrm>
    </dsp:sp>
    <dsp:sp modelId="{0F0BA44C-7D32-44A8-9038-8E9059733180}">
      <dsp:nvSpPr>
        <dsp:cNvPr id="0" name=""/>
        <dsp:cNvSpPr/>
      </dsp:nvSpPr>
      <dsp:spPr>
        <a:xfrm rot="5400000">
          <a:off x="4801285" y="-714279"/>
          <a:ext cx="1167633" cy="524332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a:t>The ability to recognize when information is needed and to locate, evaluate, effectively use and communicate information in its various formats. </a:t>
          </a:r>
        </a:p>
      </dsp:txBody>
      <dsp:txXfrm rot="-5400000">
        <a:off x="2763441" y="1380564"/>
        <a:ext cx="5186323" cy="1053635"/>
      </dsp:txXfrm>
    </dsp:sp>
    <dsp:sp modelId="{62BC0F2B-4D90-4BCE-AED3-85F0FEB1C099}">
      <dsp:nvSpPr>
        <dsp:cNvPr id="0" name=""/>
        <dsp:cNvSpPr/>
      </dsp:nvSpPr>
      <dsp:spPr>
        <a:xfrm>
          <a:off x="185928" y="1292698"/>
          <a:ext cx="2577512" cy="122936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Information Literacy</a:t>
          </a:r>
        </a:p>
      </dsp:txBody>
      <dsp:txXfrm>
        <a:off x="245941" y="1352711"/>
        <a:ext cx="2457486" cy="1109340"/>
      </dsp:txXfrm>
    </dsp:sp>
    <dsp:sp modelId="{336B6D53-D509-4C2D-886A-849EF9DF9F8E}">
      <dsp:nvSpPr>
        <dsp:cNvPr id="0" name=""/>
        <dsp:cNvSpPr/>
      </dsp:nvSpPr>
      <dsp:spPr>
        <a:xfrm rot="5400000">
          <a:off x="4801285" y="576555"/>
          <a:ext cx="1167633" cy="5243322"/>
        </a:xfrm>
        <a:prstGeom prst="round2SameRect">
          <a:avLst/>
        </a:prstGeom>
        <a:solidFill>
          <a:schemeClr val="accent1">
            <a:alpha val="90000"/>
            <a:tint val="40000"/>
            <a:hueOff val="0"/>
            <a:satOff val="0"/>
            <a:lumOff val="0"/>
            <a:alphaOff val="0"/>
          </a:schemeClr>
        </a:solidFill>
        <a:ln w="25400" cap="flat" cmpd="sng" algn="ctr">
          <a:solidFill>
            <a:schemeClr val="accent1">
              <a:alpha val="90000"/>
              <a:tint val="40000"/>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txBody>
        <a:bodyPr spcFirstLastPara="0" vert="horz" wrap="square" lIns="247650" tIns="123825" rIns="247650" bIns="123825" numCol="1" spcCol="1270" anchor="ctr" anchorCtr="0">
          <a:noAutofit/>
        </a:bodyPr>
        <a:lstStyle/>
        <a:p>
          <a:pPr marL="228600" lvl="1" indent="-228600" algn="l" defTabSz="889000">
            <a:lnSpc>
              <a:spcPct val="90000"/>
            </a:lnSpc>
            <a:spcBef>
              <a:spcPct val="0"/>
            </a:spcBef>
            <a:spcAft>
              <a:spcPct val="15000"/>
            </a:spcAft>
            <a:buChar char="•"/>
          </a:pPr>
          <a:r>
            <a:rPr lang="en-US" sz="2000" b="1" kern="1200" dirty="0"/>
            <a:t>The ability to use digital technology, communication tools or networks to locate, evaluate, use, and create information.</a:t>
          </a:r>
        </a:p>
      </dsp:txBody>
      <dsp:txXfrm rot="-5400000">
        <a:off x="2763441" y="2671399"/>
        <a:ext cx="5186323" cy="1053635"/>
      </dsp:txXfrm>
    </dsp:sp>
    <dsp:sp modelId="{F9D2564F-0BB7-4744-8948-52C500A80BEE}">
      <dsp:nvSpPr>
        <dsp:cNvPr id="0" name=""/>
        <dsp:cNvSpPr/>
      </dsp:nvSpPr>
      <dsp:spPr>
        <a:xfrm>
          <a:off x="185928" y="2583533"/>
          <a:ext cx="2577512" cy="1229366"/>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99060" tIns="49530" rIns="99060" bIns="49530" numCol="1" spcCol="1270" anchor="ctr" anchorCtr="0">
          <a:noAutofit/>
        </a:bodyPr>
        <a:lstStyle/>
        <a:p>
          <a:pPr marL="0" lvl="0" indent="0" algn="ctr" defTabSz="1155700">
            <a:lnSpc>
              <a:spcPct val="90000"/>
            </a:lnSpc>
            <a:spcBef>
              <a:spcPct val="0"/>
            </a:spcBef>
            <a:spcAft>
              <a:spcPct val="35000"/>
            </a:spcAft>
            <a:buNone/>
          </a:pPr>
          <a:r>
            <a:rPr lang="en-US" sz="2600" b="1" kern="1200" dirty="0"/>
            <a:t>Technology (Digital) Literacy</a:t>
          </a:r>
        </a:p>
      </dsp:txBody>
      <dsp:txXfrm>
        <a:off x="245941" y="2643546"/>
        <a:ext cx="2457486" cy="1109340"/>
      </dsp:txXfrm>
    </dsp:sp>
  </dsp:spTree>
</dsp:drawing>
</file>

<file path=ppt/diagrams/layout1.xml><?xml version="1.0" encoding="utf-8"?>
<dgm:layoutDef xmlns:dgm="http://schemas.openxmlformats.org/drawingml/2006/diagram" xmlns:a="http://schemas.openxmlformats.org/drawingml/2006/main" uniqueId="urn:microsoft.com/office/officeart/2005/8/layout/vList5">
  <dgm:title val=""/>
  <dgm:desc val=""/>
  <dgm:catLst>
    <dgm:cat type="list" pri="15000"/>
    <dgm:cat type="convert" pri="2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choose name="Name1">
      <dgm:if name="Name2" func="var" arg="dir" op="equ" val="norm">
        <dgm:alg type="lin">
          <dgm:param type="linDir" val="fromT"/>
          <dgm:param type="nodeHorzAlign" val="l"/>
        </dgm:alg>
      </dgm:if>
      <dgm:else name="Name3">
        <dgm:alg type="lin">
          <dgm:param type="linDir" val="fromT"/>
          <dgm:param type="nodeHorzAlign" val="r"/>
        </dgm:alg>
      </dgm:else>
    </dgm:choose>
    <dgm:shape xmlns:r="http://schemas.openxmlformats.org/officeDocument/2006/relationships" r:blip="">
      <dgm:adjLst/>
    </dgm:shape>
    <dgm:presOf/>
    <dgm:constrLst>
      <dgm:constr type="h" for="ch" forName="linNode" refType="h"/>
      <dgm:constr type="w" for="ch" forName="linNode" refType="w"/>
      <dgm:constr type="h" for="ch" forName="sp" refType="h" fact="0.05"/>
      <dgm:constr type="primFontSz" for="des" forName="parentText" op="equ" val="65"/>
      <dgm:constr type="secFontSz" for="des" forName="descendantText" op="equ"/>
    </dgm:constrLst>
    <dgm:ruleLst/>
    <dgm:forEach name="Name4" axis="ch" ptType="node">
      <dgm:layoutNode name="linNode">
        <dgm:choose name="Name5">
          <dgm:if name="Name6" func="var" arg="dir" op="equ" val="norm">
            <dgm:alg type="lin">
              <dgm:param type="linDir" val="fromL"/>
            </dgm:alg>
          </dgm:if>
          <dgm:else name="Name7">
            <dgm:alg type="lin">
              <dgm:param type="linDir" val="fromR"/>
            </dgm:alg>
          </dgm:else>
        </dgm:choose>
        <dgm:shape xmlns:r="http://schemas.openxmlformats.org/officeDocument/2006/relationships" r:blip="">
          <dgm:adjLst/>
        </dgm:shape>
        <dgm:presOf/>
        <dgm:constrLst>
          <dgm:constr type="w" for="ch" forName="parentText" refType="w" fact="0.36"/>
          <dgm:constr type="w" for="ch" forName="descendantText" refType="w" fact="0.64"/>
          <dgm:constr type="h" for="ch" forName="parentText" refType="h"/>
          <dgm:constr type="h" for="ch" forName="descendantText" refType="h" refFor="ch" refForName="parentText" fact="0.8"/>
        </dgm:constrLst>
        <dgm:ruleLst/>
        <dgm:layoutNode name="parentText">
          <dgm:varLst>
            <dgm:chMax val="1"/>
            <dgm:bulletEnabled val="1"/>
          </dgm:varLst>
          <dgm:alg type="tx"/>
          <dgm:shape xmlns:r="http://schemas.openxmlformats.org/officeDocument/2006/relationships" type="roundRect" r:blip="" zOrderOff="3">
            <dgm:adjLst/>
          </dgm:shape>
          <dgm:presOf axis="self" ptType="node"/>
          <dgm:constrLst>
            <dgm:constr type="tMarg" refType="primFontSz" fact="0.15"/>
            <dgm:constr type="bMarg" refType="primFontSz" fact="0.15"/>
            <dgm:constr type="lMarg" refType="primFontSz" fact="0.3"/>
            <dgm:constr type="rMarg" refType="primFontSz" fact="0.3"/>
          </dgm:constrLst>
          <dgm:ruleLst>
            <dgm:rule type="primFontSz" val="5" fact="NaN" max="NaN"/>
          </dgm:ruleLst>
        </dgm:layoutNode>
        <dgm:choose name="Name8">
          <dgm:if name="Name9" axis="ch" ptType="node" func="cnt" op="gte" val="1">
            <dgm:layoutNode name="descendantText" styleLbl="alignAccFollowNode1">
              <dgm:varLst>
                <dgm:bulletEnabled val="1"/>
              </dgm:varLst>
              <dgm:alg type="tx">
                <dgm:param type="stBulletLvl" val="1"/>
                <dgm:param type="txAnchorVertCh" val="mid"/>
              </dgm:alg>
              <dgm:choose name="Name10">
                <dgm:if name="Name11" func="var" arg="dir" op="equ" val="norm">
                  <dgm:shape xmlns:r="http://schemas.openxmlformats.org/officeDocument/2006/relationships" rot="90" type="round2SameRect" r:blip="">
                    <dgm:adjLst/>
                  </dgm:shape>
                </dgm:if>
                <dgm:else name="Name12">
                  <dgm:shape xmlns:r="http://schemas.openxmlformats.org/officeDocument/2006/relationships" rot="-90" type="round2SameRect" r:blip="">
                    <dgm:adjLst/>
                  </dgm:shape>
                </dgm:else>
              </dgm:choose>
              <dgm:presOf axis="des" ptType="node"/>
              <dgm:constrLst>
                <dgm:constr type="secFontSz" val="65"/>
                <dgm:constr type="primFontSz" refType="secFontSz"/>
                <dgm:constr type="lMarg" refType="secFontSz" fact="0.3"/>
                <dgm:constr type="rMarg" refType="secFontSz" fact="0.3"/>
                <dgm:constr type="tMarg" refType="secFontSz" fact="0.15"/>
                <dgm:constr type="bMarg" refType="secFontSz" fact="0.15"/>
              </dgm:constrLst>
              <dgm:ruleLst>
                <dgm:rule type="secFontSz" val="5" fact="NaN" max="NaN"/>
              </dgm:ruleLst>
            </dgm:layoutNode>
          </dgm:if>
          <dgm:else name="Name13"/>
        </dgm:choose>
      </dgm:layoutNode>
      <dgm:forEach name="Name14" axis="followSib" ptType="sibTrans" cnt="1">
        <dgm:layoutNode name="sp">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E8632AA-E01F-480B-8139-761AFDB869A9}" type="datetimeFigureOut">
              <a:rPr lang="en-US" smtClean="0"/>
              <a:t>1/10/26</a:t>
            </a:fld>
            <a:endParaRPr lang="en-US"/>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85AAB47-A82C-4947-9F89-94BB8CEE61B9}" type="slidenum">
              <a:rPr lang="en-US" smtClean="0"/>
              <a:t>‹#›</a:t>
            </a:fld>
            <a:endParaRPr lang="en-US"/>
          </a:p>
        </p:txBody>
      </p:sp>
    </p:spTree>
    <p:extLst>
      <p:ext uri="{BB962C8B-B14F-4D97-AF65-F5344CB8AC3E}">
        <p14:creationId xmlns:p14="http://schemas.microsoft.com/office/powerpoint/2010/main" val="205984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What are the similarities</a:t>
            </a:r>
            <a:r>
              <a:rPr lang="en-US" baseline="0" dirty="0"/>
              <a:t> and differences of media literacy, information literacy, and technology literacy?</a:t>
            </a:r>
          </a:p>
          <a:p>
            <a:pPr marL="171450" indent="-171450">
              <a:buFont typeface="Arial" panose="020B0604020202020204" pitchFamily="34" charset="0"/>
              <a:buChar char="•"/>
            </a:pPr>
            <a:r>
              <a:rPr lang="en-US" baseline="0" dirty="0"/>
              <a:t>Media literacy, information literacy, and technology literacy are combined together as Media and Information Literacy (MIL)</a:t>
            </a:r>
            <a:endParaRPr lang="en-US" dirty="0"/>
          </a:p>
        </p:txBody>
      </p:sp>
      <p:sp>
        <p:nvSpPr>
          <p:cNvPr id="4" name="Slide Number Placeholder 3"/>
          <p:cNvSpPr>
            <a:spLocks noGrp="1"/>
          </p:cNvSpPr>
          <p:nvPr>
            <p:ph type="sldNum" sz="quarter" idx="10"/>
          </p:nvPr>
        </p:nvSpPr>
        <p:spPr/>
        <p:txBody>
          <a:bodyPr/>
          <a:lstStyle/>
          <a:p>
            <a:fld id="{3FC30434-1BB8-412A-9003-C02A534B3CC2}" type="slidenum">
              <a:rPr lang="en-US" smtClean="0"/>
              <a:t>2</a:t>
            </a:fld>
            <a:endParaRPr lang="en-US"/>
          </a:p>
        </p:txBody>
      </p:sp>
    </p:spTree>
    <p:extLst>
      <p:ext uri="{BB962C8B-B14F-4D97-AF65-F5344CB8AC3E}">
        <p14:creationId xmlns:p14="http://schemas.microsoft.com/office/powerpoint/2010/main" val="6128052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A media and information literate individual behaves properly on the internet.</a:t>
            </a:r>
          </a:p>
          <a:p>
            <a:pPr marL="171450" indent="-171450">
              <a:buFont typeface="Arial" panose="020B0604020202020204" pitchFamily="34" charset="0"/>
              <a:buChar char="•"/>
            </a:pPr>
            <a:r>
              <a:rPr lang="en-US" dirty="0"/>
              <a:t>The word netiquette is a combination of ’net’ (from internet) and ’etiquette’. It means respecting other users’ views and displaying common courtesy when posting your views to online discussion groups. (http://www.bbc.co.uk/webwise/guides/about-netiquette)</a:t>
            </a:r>
          </a:p>
        </p:txBody>
      </p:sp>
      <p:sp>
        <p:nvSpPr>
          <p:cNvPr id="4" name="Slide Number Placeholder 3"/>
          <p:cNvSpPr>
            <a:spLocks noGrp="1"/>
          </p:cNvSpPr>
          <p:nvPr>
            <p:ph type="sldNum" sz="quarter" idx="10"/>
          </p:nvPr>
        </p:nvSpPr>
        <p:spPr/>
        <p:txBody>
          <a:bodyPr/>
          <a:lstStyle/>
          <a:p>
            <a:fld id="{185AAB47-A82C-4947-9F89-94BB8CEE61B9}" type="slidenum">
              <a:rPr lang="en-US" smtClean="0"/>
              <a:t>4</a:t>
            </a:fld>
            <a:endParaRPr lang="en-US"/>
          </a:p>
        </p:txBody>
      </p:sp>
    </p:spTree>
    <p:extLst>
      <p:ext uri="{BB962C8B-B14F-4D97-AF65-F5344CB8AC3E}">
        <p14:creationId xmlns:p14="http://schemas.microsoft.com/office/powerpoint/2010/main" val="100118444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b="0" dirty="0"/>
              <a:t>A media and information literate individual is</a:t>
            </a:r>
            <a:r>
              <a:rPr lang="en-US" b="0" baseline="0" dirty="0"/>
              <a:t> a critical thinker</a:t>
            </a:r>
            <a:r>
              <a:rPr lang="en-US" b="0" dirty="0"/>
              <a:t>.</a:t>
            </a:r>
          </a:p>
          <a:p>
            <a:pPr marL="171450" indent="-171450">
              <a:buFont typeface="Arial" panose="020B0604020202020204" pitchFamily="34" charset="0"/>
              <a:buChar char="•"/>
            </a:pPr>
            <a:r>
              <a:rPr lang="en-US" sz="1200" b="0" i="0" kern="1200" dirty="0">
                <a:solidFill>
                  <a:schemeClr val="tx1"/>
                </a:solidFill>
                <a:effectLst/>
                <a:latin typeface="+mn-lt"/>
                <a:ea typeface="+mn-ea"/>
                <a:cs typeface="+mn-cs"/>
              </a:rPr>
              <a:t>Critical thinking is the ability to think clearly and rationally about what to do or what to believe. It includes the ability to engage in reflective and independent thinking. (http://philosophy.hku.hk/think/critical/ct.php)</a:t>
            </a:r>
            <a:endParaRPr lang="en-US" b="0" dirty="0"/>
          </a:p>
          <a:p>
            <a:endParaRPr lang="en-US" b="0" dirty="0"/>
          </a:p>
        </p:txBody>
      </p:sp>
      <p:sp>
        <p:nvSpPr>
          <p:cNvPr id="4" name="Slide Number Placeholder 3"/>
          <p:cNvSpPr>
            <a:spLocks noGrp="1"/>
          </p:cNvSpPr>
          <p:nvPr>
            <p:ph type="sldNum" sz="quarter" idx="10"/>
          </p:nvPr>
        </p:nvSpPr>
        <p:spPr/>
        <p:txBody>
          <a:bodyPr/>
          <a:lstStyle/>
          <a:p>
            <a:fld id="{185AAB47-A82C-4947-9F89-94BB8CEE61B9}" type="slidenum">
              <a:rPr lang="en-US" smtClean="0"/>
              <a:t>5</a:t>
            </a:fld>
            <a:endParaRPr lang="en-US"/>
          </a:p>
        </p:txBody>
      </p:sp>
    </p:spTree>
    <p:extLst>
      <p:ext uri="{BB962C8B-B14F-4D97-AF65-F5344CB8AC3E}">
        <p14:creationId xmlns:p14="http://schemas.microsoft.com/office/powerpoint/2010/main" val="9279631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media and information literate individual knows how to protect himself/herself and others on the internet?</a:t>
            </a:r>
          </a:p>
        </p:txBody>
      </p:sp>
      <p:sp>
        <p:nvSpPr>
          <p:cNvPr id="4" name="Slide Number Placeholder 3"/>
          <p:cNvSpPr>
            <a:spLocks noGrp="1"/>
          </p:cNvSpPr>
          <p:nvPr>
            <p:ph type="sldNum" sz="quarter" idx="10"/>
          </p:nvPr>
        </p:nvSpPr>
        <p:spPr/>
        <p:txBody>
          <a:bodyPr/>
          <a:lstStyle/>
          <a:p>
            <a:fld id="{185AAB47-A82C-4947-9F89-94BB8CEE61B9}" type="slidenum">
              <a:rPr lang="en-US" smtClean="0"/>
              <a:t>6</a:t>
            </a:fld>
            <a:endParaRPr lang="en-US"/>
          </a:p>
        </p:txBody>
      </p:sp>
    </p:spTree>
    <p:extLst>
      <p:ext uri="{BB962C8B-B14F-4D97-AF65-F5344CB8AC3E}">
        <p14:creationId xmlns:p14="http://schemas.microsoft.com/office/powerpoint/2010/main" val="4564236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5AAB47-A82C-4947-9F89-94BB8CEE61B9}" type="slidenum">
              <a:rPr lang="en-US" smtClean="0"/>
              <a:t>8</a:t>
            </a:fld>
            <a:endParaRPr lang="en-US"/>
          </a:p>
        </p:txBody>
      </p:sp>
    </p:spTree>
    <p:extLst>
      <p:ext uri="{BB962C8B-B14F-4D97-AF65-F5344CB8AC3E}">
        <p14:creationId xmlns:p14="http://schemas.microsoft.com/office/powerpoint/2010/main" val="388525690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185AAB47-A82C-4947-9F89-94BB8CEE61B9}" type="slidenum">
              <a:rPr lang="en-US" smtClean="0"/>
              <a:t>9</a:t>
            </a:fld>
            <a:endParaRPr lang="en-US"/>
          </a:p>
        </p:txBody>
      </p:sp>
    </p:spTree>
    <p:extLst>
      <p:ext uri="{BB962C8B-B14F-4D97-AF65-F5344CB8AC3E}">
        <p14:creationId xmlns:p14="http://schemas.microsoft.com/office/powerpoint/2010/main" val="255485250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desensitization mean?</a:t>
            </a:r>
          </a:p>
        </p:txBody>
      </p:sp>
      <p:sp>
        <p:nvSpPr>
          <p:cNvPr id="4" name="Slide Number Placeholder 3"/>
          <p:cNvSpPr>
            <a:spLocks noGrp="1"/>
          </p:cNvSpPr>
          <p:nvPr>
            <p:ph type="sldNum" sz="quarter" idx="10"/>
          </p:nvPr>
        </p:nvSpPr>
        <p:spPr/>
        <p:txBody>
          <a:bodyPr/>
          <a:lstStyle/>
          <a:p>
            <a:fld id="{185AAB47-A82C-4947-9F89-94BB8CEE61B9}" type="slidenum">
              <a:rPr lang="en-US" smtClean="0"/>
              <a:t>11</a:t>
            </a:fld>
            <a:endParaRPr lang="en-US"/>
          </a:p>
        </p:txBody>
      </p:sp>
    </p:spTree>
    <p:extLst>
      <p:ext uri="{BB962C8B-B14F-4D97-AF65-F5344CB8AC3E}">
        <p14:creationId xmlns:p14="http://schemas.microsoft.com/office/powerpoint/2010/main" val="119461685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desensitization mean?</a:t>
            </a:r>
          </a:p>
        </p:txBody>
      </p:sp>
      <p:sp>
        <p:nvSpPr>
          <p:cNvPr id="4" name="Slide Number Placeholder 3"/>
          <p:cNvSpPr>
            <a:spLocks noGrp="1"/>
          </p:cNvSpPr>
          <p:nvPr>
            <p:ph type="sldNum" sz="quarter" idx="10"/>
          </p:nvPr>
        </p:nvSpPr>
        <p:spPr/>
        <p:txBody>
          <a:bodyPr/>
          <a:lstStyle/>
          <a:p>
            <a:fld id="{185AAB47-A82C-4947-9F89-94BB8CEE61B9}" type="slidenum">
              <a:rPr lang="en-US" smtClean="0"/>
              <a:t>12</a:t>
            </a:fld>
            <a:endParaRPr lang="en-US"/>
          </a:p>
        </p:txBody>
      </p:sp>
    </p:spTree>
    <p:extLst>
      <p:ext uri="{BB962C8B-B14F-4D97-AF65-F5344CB8AC3E}">
        <p14:creationId xmlns:p14="http://schemas.microsoft.com/office/powerpoint/2010/main" val="7064157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desensitization mean?</a:t>
            </a:r>
          </a:p>
        </p:txBody>
      </p:sp>
      <p:sp>
        <p:nvSpPr>
          <p:cNvPr id="4" name="Slide Number Placeholder 3"/>
          <p:cNvSpPr>
            <a:spLocks noGrp="1"/>
          </p:cNvSpPr>
          <p:nvPr>
            <p:ph type="sldNum" sz="quarter" idx="10"/>
          </p:nvPr>
        </p:nvSpPr>
        <p:spPr/>
        <p:txBody>
          <a:bodyPr/>
          <a:lstStyle/>
          <a:p>
            <a:fld id="{185AAB47-A82C-4947-9F89-94BB8CEE61B9}" type="slidenum">
              <a:rPr lang="en-US" smtClean="0"/>
              <a:t>13</a:t>
            </a:fld>
            <a:endParaRPr lang="en-US"/>
          </a:p>
        </p:txBody>
      </p:sp>
    </p:spTree>
    <p:extLst>
      <p:ext uri="{BB962C8B-B14F-4D97-AF65-F5344CB8AC3E}">
        <p14:creationId xmlns:p14="http://schemas.microsoft.com/office/powerpoint/2010/main" val="208776981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does desensitization mean?</a:t>
            </a:r>
          </a:p>
        </p:txBody>
      </p:sp>
      <p:sp>
        <p:nvSpPr>
          <p:cNvPr id="4" name="Slide Number Placeholder 3"/>
          <p:cNvSpPr>
            <a:spLocks noGrp="1"/>
          </p:cNvSpPr>
          <p:nvPr>
            <p:ph type="sldNum" sz="quarter" idx="10"/>
          </p:nvPr>
        </p:nvSpPr>
        <p:spPr/>
        <p:txBody>
          <a:bodyPr/>
          <a:lstStyle/>
          <a:p>
            <a:fld id="{185AAB47-A82C-4947-9F89-94BB8CEE61B9}" type="slidenum">
              <a:rPr lang="en-US" smtClean="0"/>
              <a:t>14</a:t>
            </a:fld>
            <a:endParaRPr lang="en-US"/>
          </a:p>
        </p:txBody>
      </p:sp>
    </p:spTree>
    <p:extLst>
      <p:ext uri="{BB962C8B-B14F-4D97-AF65-F5344CB8AC3E}">
        <p14:creationId xmlns:p14="http://schemas.microsoft.com/office/powerpoint/2010/main" val="40733327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059785" y="680310"/>
            <a:ext cx="7772400" cy="763525"/>
          </a:xfrm>
          <a:effectLst>
            <a:outerShdw blurRad="25400" dist="38100" dir="1920000" algn="tl" rotWithShape="0">
              <a:schemeClr val="bg1"/>
            </a:outerShdw>
          </a:effectLst>
        </p:spPr>
        <p:txBody>
          <a:bodyPr>
            <a:normAutofit/>
          </a:bodyPr>
          <a:lstStyle>
            <a:lvl1pPr algn="r">
              <a:defRPr sz="3600">
                <a:solidFill>
                  <a:schemeClr val="accent6">
                    <a:lumMod val="75000"/>
                  </a:schemeClr>
                </a:solidFill>
              </a:defRPr>
            </a:lvl1pPr>
          </a:lstStyle>
          <a:p>
            <a:r>
              <a:rPr lang="en-US" dirty="0"/>
              <a:t>Click to edit Master title style</a:t>
            </a:r>
          </a:p>
        </p:txBody>
      </p:sp>
      <p:sp>
        <p:nvSpPr>
          <p:cNvPr id="3" name="Subtitle 2"/>
          <p:cNvSpPr>
            <a:spLocks noGrp="1"/>
          </p:cNvSpPr>
          <p:nvPr>
            <p:ph type="subTitle" idx="1"/>
          </p:nvPr>
        </p:nvSpPr>
        <p:spPr>
          <a:xfrm>
            <a:off x="2434130" y="1596540"/>
            <a:ext cx="6400800" cy="1221640"/>
          </a:xfrm>
        </p:spPr>
        <p:txBody>
          <a:bodyPr>
            <a:normAutofit/>
          </a:bodyPr>
          <a:lstStyle>
            <a:lvl1pPr marL="0" indent="0" algn="r">
              <a:buNone/>
              <a:defRPr sz="2600">
                <a:solidFill>
                  <a:schemeClr val="bg1">
                    <a:lumMod val="5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a:t>
            </a:r>
          </a:p>
          <a:p>
            <a:r>
              <a:rPr lang="en-US" dirty="0"/>
              <a:t>Master subtitle style</a:t>
            </a:r>
          </a:p>
        </p:txBody>
      </p:sp>
      <p:sp>
        <p:nvSpPr>
          <p:cNvPr id="4" name="Date Placeholder 3"/>
          <p:cNvSpPr>
            <a:spLocks noGrp="1"/>
          </p:cNvSpPr>
          <p:nvPr>
            <p:ph type="dt" sz="half" idx="10"/>
          </p:nvPr>
        </p:nvSpPr>
        <p:spPr/>
        <p:txBody>
          <a:bodyPr/>
          <a:lstStyle/>
          <a:p>
            <a:fld id="{53074F12-AA26-4AC8-9962-C36BB8F32554}" type="datetimeFigureOut">
              <a:rPr lang="en-US" smtClean="0"/>
              <a:pPr/>
              <a:t>1/10/26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25387517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448965" y="833015"/>
            <a:ext cx="8229600" cy="458115"/>
          </a:xfrm>
          <a:effectLst/>
        </p:spPr>
        <p:txBody>
          <a:bodyPr>
            <a:normAutofit/>
          </a:bodyPr>
          <a:lstStyle>
            <a:lvl1pPr algn="r">
              <a:defRPr sz="3600">
                <a:solidFill>
                  <a:schemeClr val="accent6">
                    <a:lumMod val="75000"/>
                  </a:schemeClr>
                </a:solidFill>
              </a:defRPr>
            </a:lvl1pPr>
          </a:lstStyle>
          <a:p>
            <a:r>
              <a:rPr lang="en-US" dirty="0"/>
              <a:t>Click to edit Master title style</a:t>
            </a:r>
          </a:p>
        </p:txBody>
      </p:sp>
      <p:sp>
        <p:nvSpPr>
          <p:cNvPr id="3" name="Content Placeholder 2"/>
          <p:cNvSpPr>
            <a:spLocks noGrp="1"/>
          </p:cNvSpPr>
          <p:nvPr>
            <p:ph idx="1"/>
          </p:nvPr>
        </p:nvSpPr>
        <p:spPr>
          <a:xfrm>
            <a:off x="448965" y="1596541"/>
            <a:ext cx="8229600" cy="4428444"/>
          </a:xfrm>
        </p:spPr>
        <p:txBody>
          <a:bodyPr/>
          <a:lstStyle>
            <a:lvl1pPr>
              <a:defRPr sz="2800">
                <a:solidFill>
                  <a:schemeClr val="bg1">
                    <a:lumMod val="50000"/>
                  </a:schemeClr>
                </a:solidFill>
              </a:defRPr>
            </a:lvl1pPr>
            <a:lvl2pPr>
              <a:defRPr>
                <a:solidFill>
                  <a:schemeClr val="bg1">
                    <a:lumMod val="50000"/>
                  </a:schemeClr>
                </a:solidFill>
              </a:defRPr>
            </a:lvl2pPr>
            <a:lvl3pPr>
              <a:defRPr>
                <a:solidFill>
                  <a:schemeClr val="bg1">
                    <a:lumMod val="50000"/>
                  </a:schemeClr>
                </a:solidFill>
              </a:defRPr>
            </a:lvl3pPr>
            <a:lvl4pPr>
              <a:defRPr>
                <a:solidFill>
                  <a:schemeClr val="bg1">
                    <a:lumMod val="50000"/>
                  </a:schemeClr>
                </a:solidFill>
              </a:defRPr>
            </a:lvl4pPr>
            <a:lvl5pPr>
              <a:defRPr>
                <a:solidFill>
                  <a:schemeClr val="bg1">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644713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1976014" y="527605"/>
            <a:ext cx="7016195" cy="610820"/>
          </a:xfrm>
        </p:spPr>
        <p:txBody>
          <a:bodyPr>
            <a:normAutofit/>
          </a:bodyPr>
          <a:lstStyle>
            <a:lvl1pPr algn="l">
              <a:defRPr sz="3600">
                <a:solidFill>
                  <a:schemeClr val="accent6">
                    <a:lumMod val="75000"/>
                  </a:schemeClr>
                </a:solidFill>
              </a:defRPr>
            </a:lvl1pPr>
          </a:lstStyle>
          <a:p>
            <a:r>
              <a:rPr lang="en-US" dirty="0"/>
              <a:t>Click to edit Master title style</a:t>
            </a:r>
          </a:p>
        </p:txBody>
      </p:sp>
      <p:sp>
        <p:nvSpPr>
          <p:cNvPr id="3" name="Content Placeholder 2"/>
          <p:cNvSpPr>
            <a:spLocks noGrp="1"/>
          </p:cNvSpPr>
          <p:nvPr>
            <p:ph idx="1"/>
          </p:nvPr>
        </p:nvSpPr>
        <p:spPr>
          <a:xfrm>
            <a:off x="1976015" y="1291130"/>
            <a:ext cx="7016195" cy="4581150"/>
          </a:xfrm>
        </p:spPr>
        <p:txBody>
          <a:bodyPr/>
          <a:lstStyle>
            <a:lvl1pPr>
              <a:defRPr sz="2800">
                <a:solidFill>
                  <a:schemeClr val="bg1">
                    <a:lumMod val="50000"/>
                  </a:schemeClr>
                </a:solidFill>
              </a:defRPr>
            </a:lvl1pPr>
            <a:lvl2pPr>
              <a:defRPr>
                <a:solidFill>
                  <a:schemeClr val="bg1">
                    <a:lumMod val="50000"/>
                  </a:schemeClr>
                </a:solidFill>
              </a:defRPr>
            </a:lvl2pPr>
            <a:lvl3pPr>
              <a:defRPr>
                <a:solidFill>
                  <a:schemeClr val="bg1">
                    <a:lumMod val="50000"/>
                  </a:schemeClr>
                </a:solidFill>
              </a:defRPr>
            </a:lvl3pPr>
            <a:lvl4pPr>
              <a:defRPr>
                <a:solidFill>
                  <a:schemeClr val="bg1">
                    <a:lumMod val="50000"/>
                  </a:schemeClr>
                </a:solidFill>
              </a:defRPr>
            </a:lvl4pPr>
            <a:lvl5pPr>
              <a:defRPr>
                <a:solidFill>
                  <a:schemeClr val="bg1">
                    <a:lumMod val="50000"/>
                  </a:schemeClr>
                </a:solidFill>
              </a:defRPr>
            </a:lvl5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16293913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3074F12-AA26-4AC8-9962-C36BB8F32554}" type="datetimeFigureOut">
              <a:rPr lang="en-US" smtClean="0"/>
              <a:pPr/>
              <a:t>1/10/26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86344157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3074F12-AA26-4AC8-9962-C36BB8F32554}" type="datetimeFigureOut">
              <a:rPr lang="en-US" smtClean="0"/>
              <a:pPr/>
              <a:t>1/10/26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55679183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1670" y="833015"/>
            <a:ext cx="8229600" cy="610820"/>
          </a:xfrm>
          <a:effectLst/>
        </p:spPr>
        <p:txBody>
          <a:bodyPr>
            <a:normAutofit/>
          </a:bodyPr>
          <a:lstStyle>
            <a:lvl1pPr algn="r">
              <a:defRPr sz="3600">
                <a:solidFill>
                  <a:schemeClr val="accent6">
                    <a:lumMod val="75000"/>
                  </a:schemeClr>
                </a:solidFill>
              </a:defRPr>
            </a:lvl1pPr>
          </a:lstStyle>
          <a:p>
            <a:r>
              <a:rPr lang="en-US" dirty="0"/>
              <a:t>Click to edit Master title style</a:t>
            </a:r>
          </a:p>
        </p:txBody>
      </p:sp>
      <p:sp>
        <p:nvSpPr>
          <p:cNvPr id="3" name="Text Placeholder 2"/>
          <p:cNvSpPr>
            <a:spLocks noGrp="1"/>
          </p:cNvSpPr>
          <p:nvPr>
            <p:ph type="body" idx="1"/>
          </p:nvPr>
        </p:nvSpPr>
        <p:spPr>
          <a:xfrm>
            <a:off x="601670" y="1577497"/>
            <a:ext cx="4040188" cy="639762"/>
          </a:xfrm>
        </p:spPr>
        <p:txBody>
          <a:bodyPr anchor="b"/>
          <a:lstStyle>
            <a:lvl1pPr marL="0" indent="0">
              <a:buNone/>
              <a:defRPr sz="2400" b="1">
                <a:solidFill>
                  <a:schemeClr val="accent6">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01670" y="2207360"/>
            <a:ext cx="4040188" cy="3035058"/>
          </a:xfrm>
        </p:spPr>
        <p:txBody>
          <a:bodyPr/>
          <a:lstStyle>
            <a:lvl1pPr>
              <a:defRPr sz="2400">
                <a:solidFill>
                  <a:schemeClr val="bg1">
                    <a:lumMod val="50000"/>
                  </a:schemeClr>
                </a:solidFill>
              </a:defRPr>
            </a:lvl1pPr>
            <a:lvl2pPr>
              <a:defRPr sz="2000">
                <a:solidFill>
                  <a:schemeClr val="bg1">
                    <a:lumMod val="50000"/>
                  </a:schemeClr>
                </a:solidFill>
              </a:defRPr>
            </a:lvl2pPr>
            <a:lvl3pPr>
              <a:defRPr sz="1800">
                <a:solidFill>
                  <a:schemeClr val="bg1">
                    <a:lumMod val="50000"/>
                  </a:schemeClr>
                </a:solidFill>
              </a:defRPr>
            </a:lvl3pPr>
            <a:lvl4pPr>
              <a:defRPr sz="1600">
                <a:solidFill>
                  <a:schemeClr val="bg1">
                    <a:lumMod val="50000"/>
                  </a:schemeClr>
                </a:solidFill>
              </a:defRPr>
            </a:lvl4pPr>
            <a:lvl5pPr>
              <a:defRPr sz="1600">
                <a:solidFill>
                  <a:schemeClr val="bg1">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5" name="Text Placeholder 4"/>
          <p:cNvSpPr>
            <a:spLocks noGrp="1"/>
          </p:cNvSpPr>
          <p:nvPr>
            <p:ph type="body" sz="quarter" idx="3"/>
          </p:nvPr>
        </p:nvSpPr>
        <p:spPr>
          <a:xfrm>
            <a:off x="4636790" y="1577497"/>
            <a:ext cx="4041775" cy="639762"/>
          </a:xfrm>
        </p:spPr>
        <p:txBody>
          <a:bodyPr anchor="b"/>
          <a:lstStyle>
            <a:lvl1pPr marL="0" indent="0">
              <a:buNone/>
              <a:defRPr sz="2400" b="1">
                <a:solidFill>
                  <a:schemeClr val="accent6">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p:cNvSpPr>
            <a:spLocks noGrp="1"/>
          </p:cNvSpPr>
          <p:nvPr>
            <p:ph sz="quarter" idx="4"/>
          </p:nvPr>
        </p:nvSpPr>
        <p:spPr>
          <a:xfrm>
            <a:off x="4636790" y="2207360"/>
            <a:ext cx="4041775" cy="3035058"/>
          </a:xfrm>
        </p:spPr>
        <p:txBody>
          <a:bodyPr/>
          <a:lstStyle>
            <a:lvl1pPr>
              <a:defRPr sz="2400">
                <a:solidFill>
                  <a:schemeClr val="bg1">
                    <a:lumMod val="50000"/>
                  </a:schemeClr>
                </a:solidFill>
              </a:defRPr>
            </a:lvl1pPr>
            <a:lvl2pPr>
              <a:defRPr sz="2000">
                <a:solidFill>
                  <a:schemeClr val="bg1">
                    <a:lumMod val="50000"/>
                  </a:schemeClr>
                </a:solidFill>
              </a:defRPr>
            </a:lvl2pPr>
            <a:lvl3pPr>
              <a:defRPr sz="1800">
                <a:solidFill>
                  <a:schemeClr val="bg1">
                    <a:lumMod val="50000"/>
                  </a:schemeClr>
                </a:solidFill>
              </a:defRPr>
            </a:lvl3pPr>
            <a:lvl4pPr>
              <a:defRPr sz="1600">
                <a:solidFill>
                  <a:schemeClr val="bg1">
                    <a:lumMod val="50000"/>
                  </a:schemeClr>
                </a:solidFill>
              </a:defRPr>
            </a:lvl4pPr>
            <a:lvl5pPr>
              <a:defRPr sz="1600">
                <a:solidFill>
                  <a:schemeClr val="bg1">
                    <a:lumMod val="50000"/>
                  </a:schemeClr>
                </a:solidFill>
              </a:defRPr>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7" name="Date Placeholder 6"/>
          <p:cNvSpPr>
            <a:spLocks noGrp="1"/>
          </p:cNvSpPr>
          <p:nvPr>
            <p:ph type="dt" sz="half" idx="10"/>
          </p:nvPr>
        </p:nvSpPr>
        <p:spPr/>
        <p:txBody>
          <a:bodyPr/>
          <a:lstStyle/>
          <a:p>
            <a:fld id="{53074F12-AA26-4AC8-9962-C36BB8F32554}" type="datetimeFigureOut">
              <a:rPr lang="en-US" smtClean="0"/>
              <a:pPr/>
              <a:t>1/10/26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12291198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3074F12-AA26-4AC8-9962-C36BB8F32554}" type="datetimeFigureOut">
              <a:rPr lang="en-US" smtClean="0"/>
              <a:pPr/>
              <a:t>1/10/26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0297731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3074F12-AA26-4AC8-9962-C36BB8F32554}" type="datetimeFigureOut">
              <a:rPr lang="en-US" smtClean="0"/>
              <a:pPr/>
              <a:t>1/10/26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2518640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1744526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074F12-AA26-4AC8-9962-C36BB8F32554}" type="datetimeFigureOut">
              <a:rPr lang="en-US" smtClean="0"/>
              <a:pPr/>
              <a:t>1/10/26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4776078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342866572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3074F12-AA26-4AC8-9962-C36BB8F32554}" type="datetimeFigureOut">
              <a:rPr lang="en-US" smtClean="0"/>
              <a:pPr/>
              <a:t>1/10/26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82CCC60-E8CD-4174-8B1A-7DF615B22EEF}" type="slidenum">
              <a:rPr lang="en-US" smtClean="0"/>
              <a:pPr/>
              <a:t>‹#›</a:t>
            </a:fld>
            <a:endParaRPr lang="en-US"/>
          </a:p>
        </p:txBody>
      </p:sp>
    </p:spTree>
    <p:extLst>
      <p:ext uri="{BB962C8B-B14F-4D97-AF65-F5344CB8AC3E}">
        <p14:creationId xmlns:p14="http://schemas.microsoft.com/office/powerpoint/2010/main" val="8936099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3074F12-AA26-4AC8-9962-C36BB8F32554}" type="datetimeFigureOut">
              <a:rPr lang="en-US" smtClean="0"/>
              <a:pPr/>
              <a:t>1/10/26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82CCC60-E8CD-4174-8B1A-7DF615B22EEF}" type="slidenum">
              <a:rPr lang="en-US" smtClean="0"/>
              <a:pPr/>
              <a:t>‹#›</a:t>
            </a:fld>
            <a:endParaRPr lang="en-US"/>
          </a:p>
        </p:txBody>
      </p:sp>
    </p:spTree>
    <p:extLst>
      <p:ext uri="{BB962C8B-B14F-4D97-AF65-F5344CB8AC3E}">
        <p14:creationId xmlns:p14="http://schemas.microsoft.com/office/powerpoint/2010/main" val="19440393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hyperlink" Target="https://youtu.be/vRINOE_ExVY?si=3_XhTKOEKyIcbN5m" TargetMode="External"/><Relationship Id="rId2" Type="http://schemas.openxmlformats.org/officeDocument/2006/relationships/hyperlink" Target="https://www.youtube.com/watch?v=qKxJA7bE-xw" TargetMode="Externa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notesSlide" Target="../notesSlides/notesSlide5.xml"/><Relationship Id="rId2" Type="http://schemas.openxmlformats.org/officeDocument/2006/relationships/slideLayout" Target="../slideLayouts/slideLayout2.xml"/><Relationship Id="rId1" Type="http://schemas.openxmlformats.org/officeDocument/2006/relationships/video" Target="https://www.youtube.com/embed/qKxJA7bE-xw?feature=oembed" TargetMode="External"/><Relationship Id="rId4" Type="http://schemas.openxmlformats.org/officeDocument/2006/relationships/image" Target="../media/image7.jpeg"/></Relationships>
</file>

<file path=ppt/slides/_rels/slide9.xml.rels><?xml version="1.0" encoding="UTF-8" standalone="yes"?>
<Relationships xmlns="http://schemas.openxmlformats.org/package/2006/relationships"><Relationship Id="rId3" Type="http://schemas.openxmlformats.org/officeDocument/2006/relationships/notesSlide" Target="../notesSlides/notesSlide6.xml"/><Relationship Id="rId2" Type="http://schemas.openxmlformats.org/officeDocument/2006/relationships/slideLayout" Target="../slideLayouts/slideLayout2.xml"/><Relationship Id="rId1" Type="http://schemas.openxmlformats.org/officeDocument/2006/relationships/video" Target="https://www.youtube.com/embed/vRINOE_ExVY?feature=oembed" TargetMode="External"/><Relationship Id="rId4" Type="http://schemas.openxmlformats.org/officeDocument/2006/relationships/image" Target="../media/image8.jpeg"/></Relationships>
</file>

<file path=ppt/slides/_rels/slide1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hyperlink" Target="https://utopia.ut.edu/FakeNews/factcheck#s-lg-box-13625239" TargetMode="Externa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hyperlink" Target="https://www.youtube.com/watch?v=HzP6IDTMNEA&amp;list=PLymjw6LZq7owvLWOiDpyk-ilVPrOh19ju" TargetMode="External"/><Relationship Id="rId2" Type="http://schemas.openxmlformats.org/officeDocument/2006/relationships/hyperlink" Target="https://youtube.com/playlist?list=PLeSycEi09hln3E_J9Mhu1kve5duqQEu8A&amp;si=TG7mWiFHJXkM0YNT" TargetMode="Externa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296869" y="298700"/>
            <a:ext cx="8407317" cy="1068935"/>
          </a:xfrm>
          <a:solidFill>
            <a:schemeClr val="accent6">
              <a:lumMod val="75000"/>
            </a:schemeClr>
          </a:solidFill>
        </p:spPr>
        <p:style>
          <a:lnRef idx="2">
            <a:schemeClr val="accent6"/>
          </a:lnRef>
          <a:fillRef idx="1">
            <a:schemeClr val="lt1"/>
          </a:fillRef>
          <a:effectRef idx="0">
            <a:schemeClr val="accent6"/>
          </a:effectRef>
          <a:fontRef idx="minor">
            <a:schemeClr val="dk1"/>
          </a:fontRef>
        </p:style>
        <p:txBody>
          <a:bodyPr>
            <a:normAutofit fontScale="90000"/>
          </a:bodyPr>
          <a:lstStyle/>
          <a:p>
            <a:pPr algn="ctr"/>
            <a:r>
              <a:rPr lang="en-US" b="1" dirty="0">
                <a:solidFill>
                  <a:schemeClr val="bg1"/>
                </a:solidFill>
                <a:latin typeface="Arial" panose="020B0604020202020204" pitchFamily="34" charset="0"/>
                <a:cs typeface="Arial" panose="020B0604020202020204" pitchFamily="34" charset="0"/>
              </a:rPr>
              <a:t>MEDIA AND INFORMATION </a:t>
            </a:r>
            <a:br>
              <a:rPr lang="en-US" b="1" dirty="0">
                <a:solidFill>
                  <a:schemeClr val="bg1"/>
                </a:solidFill>
                <a:latin typeface="Arial" panose="020B0604020202020204" pitchFamily="34" charset="0"/>
                <a:cs typeface="Arial" panose="020B0604020202020204" pitchFamily="34" charset="0"/>
              </a:rPr>
            </a:br>
            <a:r>
              <a:rPr lang="en-US" b="1" dirty="0">
                <a:solidFill>
                  <a:schemeClr val="bg1"/>
                </a:solidFill>
                <a:latin typeface="Arial" panose="020B0604020202020204" pitchFamily="34" charset="0"/>
                <a:cs typeface="Arial" panose="020B0604020202020204" pitchFamily="34" charset="0"/>
              </a:rPr>
              <a:t>LITERACY (MIL)</a:t>
            </a:r>
          </a:p>
        </p:txBody>
      </p:sp>
      <p:sp>
        <p:nvSpPr>
          <p:cNvPr id="3" name="Subtitle 2"/>
          <p:cNvSpPr>
            <a:spLocks noGrp="1"/>
          </p:cNvSpPr>
          <p:nvPr>
            <p:ph type="subTitle" idx="1"/>
          </p:nvPr>
        </p:nvSpPr>
        <p:spPr>
          <a:xfrm>
            <a:off x="5946345" y="2360065"/>
            <a:ext cx="2757841" cy="2137871"/>
          </a:xfrm>
        </p:spPr>
        <p:txBody>
          <a:bodyPr>
            <a:noAutofit/>
          </a:bodyPr>
          <a:lstStyle/>
          <a:p>
            <a:pPr algn="l"/>
            <a:r>
              <a:rPr lang="en-US" sz="3000" b="1" dirty="0">
                <a:solidFill>
                  <a:schemeClr val="accent6">
                    <a:lumMod val="75000"/>
                  </a:schemeClr>
                </a:solidFill>
              </a:rPr>
              <a:t>Introduction to Media and Information Literacy</a:t>
            </a:r>
          </a:p>
        </p:txBody>
      </p:sp>
      <p:sp>
        <p:nvSpPr>
          <p:cNvPr id="5" name="Title 1"/>
          <p:cNvSpPr txBox="1">
            <a:spLocks/>
          </p:cNvSpPr>
          <p:nvPr/>
        </p:nvSpPr>
        <p:spPr>
          <a:xfrm>
            <a:off x="5631785" y="5872280"/>
            <a:ext cx="3215955" cy="763525"/>
          </a:xfrm>
          <a:prstGeom prst="rect">
            <a:avLst/>
          </a:prstGeom>
          <a:noFill/>
          <a:effectLst>
            <a:outerShdw blurRad="25400" dist="38100" dir="1920000" algn="tl" rotWithShape="0">
              <a:schemeClr val="bg1"/>
            </a:outerShdw>
          </a:effectLst>
        </p:spPr>
        <p:txBody>
          <a:bodyPr vert="horz" lIns="91440" tIns="45720" rIns="91440" bIns="45720" rtlCol="0" anchor="ctr">
            <a:normAutofit fontScale="97500"/>
          </a:bodyPr>
          <a:lstStyle>
            <a:lvl1pPr algn="r" defTabSz="914400" rtl="0" eaLnBrk="1" latinLnBrk="0" hangingPunct="1">
              <a:spcBef>
                <a:spcPct val="0"/>
              </a:spcBef>
              <a:buNone/>
              <a:defRPr sz="3600" kern="1200">
                <a:solidFill>
                  <a:schemeClr val="accent6">
                    <a:lumMod val="75000"/>
                  </a:schemeClr>
                </a:solidFill>
                <a:latin typeface="+mj-lt"/>
                <a:ea typeface="+mj-ea"/>
                <a:cs typeface="+mj-cs"/>
              </a:defRPr>
            </a:lvl1pPr>
          </a:lstStyle>
          <a:p>
            <a:pPr algn="l"/>
            <a:r>
              <a:rPr lang="en-US" sz="1200" b="1" dirty="0">
                <a:latin typeface="Arial" panose="020B0604020202020204" pitchFamily="34" charset="0"/>
                <a:cs typeface="Arial" panose="020B0604020202020204" pitchFamily="34" charset="0"/>
              </a:rPr>
              <a:t>MIL January 2026</a:t>
            </a:r>
          </a:p>
        </p:txBody>
      </p:sp>
      <p:sp>
        <p:nvSpPr>
          <p:cNvPr id="6" name="Subtitle 2"/>
          <p:cNvSpPr txBox="1">
            <a:spLocks/>
          </p:cNvSpPr>
          <p:nvPr/>
        </p:nvSpPr>
        <p:spPr>
          <a:xfrm>
            <a:off x="296870" y="5414165"/>
            <a:ext cx="4122426" cy="1221640"/>
          </a:xfrm>
          <a:prstGeom prst="rect">
            <a:avLst/>
          </a:prstGeom>
        </p:spPr>
        <p:txBody>
          <a:bodyPr vert="horz" lIns="91440" tIns="45720" rIns="91440" bIns="45720" rtlCol="0">
            <a:noAutofit/>
          </a:bodyPr>
          <a:lstStyle>
            <a:lvl1pPr marL="0" indent="0" algn="r" defTabSz="914400" rtl="0" eaLnBrk="1" latinLnBrk="0" hangingPunct="1">
              <a:spcBef>
                <a:spcPct val="20000"/>
              </a:spcBef>
              <a:buFont typeface="Arial" pitchFamily="34" charset="0"/>
              <a:buNone/>
              <a:defRPr sz="2600" kern="1200">
                <a:solidFill>
                  <a:schemeClr val="bg1">
                    <a:lumMod val="50000"/>
                  </a:schemeClr>
                </a:solidFill>
                <a:latin typeface="+mn-lt"/>
                <a:ea typeface="+mn-ea"/>
                <a:cs typeface="+mn-cs"/>
              </a:defRPr>
            </a:lvl1pPr>
            <a:lvl2pPr marL="457200" indent="0" algn="ctr" defTabSz="914400" rtl="0" eaLnBrk="1" latinLnBrk="0" hangingPunct="1">
              <a:spcBef>
                <a:spcPct val="20000"/>
              </a:spcBef>
              <a:buFont typeface="Arial" pitchFamily="34" charset="0"/>
              <a:buNone/>
              <a:defRPr sz="2800" kern="1200">
                <a:solidFill>
                  <a:schemeClr val="tx1">
                    <a:tint val="75000"/>
                  </a:schemeClr>
                </a:solidFill>
                <a:latin typeface="+mn-lt"/>
                <a:ea typeface="+mn-ea"/>
                <a:cs typeface="+mn-cs"/>
              </a:defRPr>
            </a:lvl2pPr>
            <a:lvl3pPr marL="914400" indent="0" algn="ctr" defTabSz="914400" rtl="0" eaLnBrk="1" latinLnBrk="0" hangingPunct="1">
              <a:spcBef>
                <a:spcPct val="20000"/>
              </a:spcBef>
              <a:buFont typeface="Arial" pitchFamily="34" charset="0"/>
              <a:buNone/>
              <a:defRPr sz="2400" kern="1200">
                <a:solidFill>
                  <a:schemeClr val="tx1">
                    <a:tint val="75000"/>
                  </a:schemeClr>
                </a:solidFill>
                <a:latin typeface="+mn-lt"/>
                <a:ea typeface="+mn-ea"/>
                <a:cs typeface="+mn-cs"/>
              </a:defRPr>
            </a:lvl3pPr>
            <a:lvl4pPr marL="1371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4pPr>
            <a:lvl5pPr marL="18288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5pPr>
            <a:lvl6pPr marL="22860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32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2004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7600" indent="0" algn="ctr" defTabSz="914400"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pPr algn="l">
              <a:spcBef>
                <a:spcPts val="0"/>
              </a:spcBef>
            </a:pPr>
            <a:r>
              <a:rPr lang="en-US" sz="1200" b="1" i="1" dirty="0">
                <a:solidFill>
                  <a:schemeClr val="accent6">
                    <a:lumMod val="75000"/>
                  </a:schemeClr>
                </a:solidFill>
              </a:rPr>
              <a:t>Source:</a:t>
            </a:r>
          </a:p>
          <a:p>
            <a:pPr algn="l">
              <a:spcBef>
                <a:spcPts val="0"/>
              </a:spcBef>
            </a:pPr>
            <a:r>
              <a:rPr lang="en-US" sz="1200" b="1" i="1" dirty="0">
                <a:solidFill>
                  <a:schemeClr val="accent6">
                    <a:lumMod val="75000"/>
                  </a:schemeClr>
                </a:solidFill>
              </a:rPr>
              <a:t>Mr. </a:t>
            </a:r>
            <a:r>
              <a:rPr lang="en-US" sz="1200" b="1" i="1" dirty="0" err="1">
                <a:solidFill>
                  <a:schemeClr val="accent6">
                    <a:lumMod val="75000"/>
                  </a:schemeClr>
                </a:solidFill>
              </a:rPr>
              <a:t>Arniel</a:t>
            </a:r>
            <a:r>
              <a:rPr lang="en-US" sz="1200" b="1" i="1" dirty="0">
                <a:solidFill>
                  <a:schemeClr val="accent6">
                    <a:lumMod val="75000"/>
                  </a:schemeClr>
                </a:solidFill>
              </a:rPr>
              <a:t> Ping</a:t>
            </a:r>
          </a:p>
          <a:p>
            <a:pPr algn="l">
              <a:spcBef>
                <a:spcPts val="0"/>
              </a:spcBef>
            </a:pPr>
            <a:r>
              <a:rPr lang="en-US" sz="1200" b="1" i="1" dirty="0">
                <a:solidFill>
                  <a:schemeClr val="accent6">
                    <a:lumMod val="75000"/>
                  </a:schemeClr>
                </a:solidFill>
              </a:rPr>
              <a:t>St. Stephen’s High School</a:t>
            </a:r>
          </a:p>
          <a:p>
            <a:pPr algn="l">
              <a:spcBef>
                <a:spcPts val="0"/>
              </a:spcBef>
            </a:pPr>
            <a:r>
              <a:rPr lang="en-US" sz="1200" b="1" i="1" dirty="0">
                <a:solidFill>
                  <a:schemeClr val="accent6">
                    <a:lumMod val="75000"/>
                  </a:schemeClr>
                </a:solidFill>
              </a:rPr>
              <a:t>Manila, Philippines</a:t>
            </a:r>
          </a:p>
          <a:p>
            <a:pPr algn="l">
              <a:spcBef>
                <a:spcPts val="0"/>
              </a:spcBef>
            </a:pPr>
            <a:endParaRPr lang="en-US" sz="1200" b="1" i="1" dirty="0">
              <a:solidFill>
                <a:schemeClr val="accent6">
                  <a:lumMod val="75000"/>
                </a:schemeClr>
              </a:solidFill>
            </a:endParaRPr>
          </a:p>
          <a:p>
            <a:pPr algn="l">
              <a:spcBef>
                <a:spcPts val="0"/>
              </a:spcBef>
            </a:pPr>
            <a:r>
              <a:rPr lang="en-US" sz="1200" b="1" i="1" dirty="0">
                <a:solidFill>
                  <a:schemeClr val="accent6">
                    <a:lumMod val="75000"/>
                  </a:schemeClr>
                </a:solidFill>
              </a:rPr>
              <a:t>Other online resources through Google</a:t>
            </a:r>
          </a:p>
        </p:txBody>
      </p:sp>
    </p:spTree>
    <p:extLst>
      <p:ext uri="{BB962C8B-B14F-4D97-AF65-F5344CB8AC3E}">
        <p14:creationId xmlns:p14="http://schemas.microsoft.com/office/powerpoint/2010/main" val="37687233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ounded Rectangle 6"/>
          <p:cNvSpPr/>
          <p:nvPr/>
        </p:nvSpPr>
        <p:spPr>
          <a:xfrm>
            <a:off x="442913" y="1414463"/>
            <a:ext cx="8258175" cy="4343400"/>
          </a:xfrm>
          <a:prstGeom prst="roundRect">
            <a:avLst/>
          </a:prstGeom>
        </p:spPr>
        <p:style>
          <a:lnRef idx="2">
            <a:schemeClr val="dk1"/>
          </a:lnRef>
          <a:fillRef idx="1">
            <a:schemeClr val="lt1"/>
          </a:fillRef>
          <a:effectRef idx="0">
            <a:schemeClr val="dk1"/>
          </a:effectRef>
          <a:fontRef idx="minor">
            <a:schemeClr val="dk1"/>
          </a:fontRef>
        </p:style>
        <p:txBody>
          <a:bodyPr rtlCol="0" anchor="ctr"/>
          <a:lstStyle/>
          <a:p>
            <a:pPr algn="ctr"/>
            <a:endParaRPr lang="en-US" sz="1350"/>
          </a:p>
        </p:txBody>
      </p:sp>
      <p:graphicFrame>
        <p:nvGraphicFramePr>
          <p:cNvPr id="6" name="Content Placeholder 5"/>
          <p:cNvGraphicFramePr>
            <a:graphicFrameLocks noGrp="1"/>
          </p:cNvGraphicFramePr>
          <p:nvPr>
            <p:ph idx="1"/>
            <p:extLst>
              <p:ext uri="{D42A27DB-BD31-4B8C-83A1-F6EECF244321}">
                <p14:modId xmlns:p14="http://schemas.microsoft.com/office/powerpoint/2010/main" val="1214366160"/>
              </p:ext>
            </p:extLst>
          </p:nvPr>
        </p:nvGraphicFramePr>
        <p:xfrm>
          <a:off x="479822" y="1757362"/>
          <a:ext cx="8192691" cy="381476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5" name="Title 4"/>
          <p:cNvSpPr>
            <a:spLocks noGrp="1"/>
          </p:cNvSpPr>
          <p:nvPr>
            <p:ph type="title"/>
          </p:nvPr>
        </p:nvSpPr>
        <p:spPr>
          <a:xfrm>
            <a:off x="822960" y="1057275"/>
            <a:ext cx="7543800" cy="542925"/>
          </a:xfrm>
        </p:spPr>
        <p:style>
          <a:lnRef idx="2">
            <a:schemeClr val="dk1">
              <a:shade val="50000"/>
            </a:schemeClr>
          </a:lnRef>
          <a:fillRef idx="1">
            <a:schemeClr val="dk1"/>
          </a:fillRef>
          <a:effectRef idx="0">
            <a:schemeClr val="dk1"/>
          </a:effectRef>
          <a:fontRef idx="minor">
            <a:schemeClr val="lt1"/>
          </a:fontRef>
        </p:style>
        <p:txBody>
          <a:bodyPr>
            <a:normAutofit fontScale="90000"/>
          </a:bodyPr>
          <a:lstStyle/>
          <a:p>
            <a:pPr algn="ctr"/>
            <a:r>
              <a:rPr lang="en-US" b="1" dirty="0"/>
              <a:t>MEDIA AND INFORMATION LITERACY (MIL)</a:t>
            </a:r>
          </a:p>
        </p:txBody>
      </p:sp>
    </p:spTree>
    <p:extLst>
      <p:ext uri="{BB962C8B-B14F-4D97-AF65-F5344CB8AC3E}">
        <p14:creationId xmlns:p14="http://schemas.microsoft.com/office/powerpoint/2010/main" val="231330961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21D2663-0C65-6383-B34B-11AD2AD57CBD}"/>
              </a:ext>
            </a:extLst>
          </p:cNvPr>
          <p:cNvPicPr>
            <a:picLocks noChangeAspect="1"/>
          </p:cNvPicPr>
          <p:nvPr/>
        </p:nvPicPr>
        <p:blipFill rotWithShape="1">
          <a:blip r:embed="rId2"/>
          <a:srcRect t="11592" b="44281"/>
          <a:stretch/>
        </p:blipFill>
        <p:spPr>
          <a:xfrm>
            <a:off x="5777385" y="325824"/>
            <a:ext cx="2290575" cy="1430870"/>
          </a:xfrm>
          <a:prstGeom prst="rect">
            <a:avLst/>
          </a:prstGeom>
        </p:spPr>
      </p:pic>
      <p:sp>
        <p:nvSpPr>
          <p:cNvPr id="3" name="Content Placeholder 2">
            <a:extLst>
              <a:ext uri="{FF2B5EF4-FFF2-40B4-BE49-F238E27FC236}">
                <a16:creationId xmlns:a16="http://schemas.microsoft.com/office/drawing/2014/main" id="{958D2066-8DD8-684C-718E-2121A1143A45}"/>
              </a:ext>
            </a:extLst>
          </p:cNvPr>
          <p:cNvSpPr>
            <a:spLocks noGrp="1"/>
          </p:cNvSpPr>
          <p:nvPr>
            <p:ph idx="1"/>
          </p:nvPr>
        </p:nvSpPr>
        <p:spPr>
          <a:xfrm>
            <a:off x="754374" y="2360065"/>
            <a:ext cx="7482545" cy="3359509"/>
          </a:xfrm>
        </p:spPr>
        <p:txBody>
          <a:bodyPr/>
          <a:lstStyle/>
          <a:p>
            <a:pPr marL="0" indent="0" algn="just">
              <a:buNone/>
            </a:pPr>
            <a:r>
              <a:rPr lang="en-US" dirty="0">
                <a:solidFill>
                  <a:schemeClr val="tx1"/>
                </a:solidFill>
              </a:rPr>
              <a:t>MIL stands for media and information literacy, and refers to the essential competencies and skills that allow citizens to engage with media and other information providers effectively and develop critical thinking and life-long learning skills to socialize and become active citizens. (UNESCO MIL Curriculum for Teachers)</a:t>
            </a:r>
          </a:p>
        </p:txBody>
      </p:sp>
    </p:spTree>
    <p:extLst>
      <p:ext uri="{BB962C8B-B14F-4D97-AF65-F5344CB8AC3E}">
        <p14:creationId xmlns:p14="http://schemas.microsoft.com/office/powerpoint/2010/main" val="293867879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97416" y="374900"/>
            <a:ext cx="4466730" cy="610820"/>
          </a:xfrm>
        </p:spPr>
        <p:txBody>
          <a:bodyPr>
            <a:normAutofit fontScale="90000"/>
          </a:bodyPr>
          <a:lstStyle/>
          <a:p>
            <a:pPr algn="ctr"/>
            <a:endParaRPr lang="en-US" b="1" dirty="0"/>
          </a:p>
        </p:txBody>
      </p:sp>
      <p:pic>
        <p:nvPicPr>
          <p:cNvPr id="6" name="Picture 5"/>
          <p:cNvPicPr>
            <a:picLocks noChangeAspect="1"/>
          </p:cNvPicPr>
          <p:nvPr/>
        </p:nvPicPr>
        <p:blipFill>
          <a:blip r:embed="rId3"/>
          <a:stretch>
            <a:fillRect/>
          </a:stretch>
        </p:blipFill>
        <p:spPr>
          <a:xfrm>
            <a:off x="4244776" y="1443835"/>
            <a:ext cx="4319370" cy="5039265"/>
          </a:xfrm>
          <a:prstGeom prst="rect">
            <a:avLst/>
          </a:prstGeom>
        </p:spPr>
        <p:style>
          <a:lnRef idx="2">
            <a:schemeClr val="dk1"/>
          </a:lnRef>
          <a:fillRef idx="1">
            <a:schemeClr val="lt1"/>
          </a:fillRef>
          <a:effectRef idx="0">
            <a:schemeClr val="dk1"/>
          </a:effectRef>
          <a:fontRef idx="minor">
            <a:schemeClr val="dk1"/>
          </a:fontRef>
        </p:style>
      </p:pic>
      <p:sp>
        <p:nvSpPr>
          <p:cNvPr id="7" name="Content Placeholder 4"/>
          <p:cNvSpPr>
            <a:spLocks noGrp="1"/>
          </p:cNvSpPr>
          <p:nvPr>
            <p:ph idx="1"/>
          </p:nvPr>
        </p:nvSpPr>
        <p:spPr>
          <a:xfrm>
            <a:off x="296260" y="1749245"/>
            <a:ext cx="3206805" cy="4465782"/>
          </a:xfrm>
        </p:spPr>
        <p:txBody>
          <a:bodyPr>
            <a:noAutofit/>
          </a:bodyPr>
          <a:lstStyle/>
          <a:p>
            <a:r>
              <a:rPr lang="en-US" sz="3400" b="1" dirty="0">
                <a:solidFill>
                  <a:schemeClr val="tx1"/>
                </a:solidFill>
              </a:rPr>
              <a:t>What is the message of this poster?</a:t>
            </a:r>
          </a:p>
          <a:p>
            <a:r>
              <a:rPr lang="en-US" sz="3400" b="1" dirty="0">
                <a:solidFill>
                  <a:schemeClr val="tx1"/>
                </a:solidFill>
              </a:rPr>
              <a:t>Do you agree with the message? Why or why not?</a:t>
            </a:r>
          </a:p>
        </p:txBody>
      </p:sp>
    </p:spTree>
    <p:extLst>
      <p:ext uri="{BB962C8B-B14F-4D97-AF65-F5344CB8AC3E}">
        <p14:creationId xmlns:p14="http://schemas.microsoft.com/office/powerpoint/2010/main" val="313909789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3065" y="1101089"/>
            <a:ext cx="4167599" cy="610820"/>
          </a:xfrm>
        </p:spPr>
        <p:txBody>
          <a:bodyPr>
            <a:normAutofit fontScale="90000"/>
          </a:bodyPr>
          <a:lstStyle/>
          <a:p>
            <a:pPr algn="ctr"/>
            <a:endParaRPr lang="en-US" b="1" dirty="0"/>
          </a:p>
        </p:txBody>
      </p:sp>
      <p:pic>
        <p:nvPicPr>
          <p:cNvPr id="4" name="Picture 3"/>
          <p:cNvPicPr>
            <a:picLocks noChangeAspect="1"/>
          </p:cNvPicPr>
          <p:nvPr/>
        </p:nvPicPr>
        <p:blipFill>
          <a:blip r:embed="rId3"/>
          <a:stretch>
            <a:fillRect/>
          </a:stretch>
        </p:blipFill>
        <p:spPr>
          <a:xfrm>
            <a:off x="3485540" y="2054655"/>
            <a:ext cx="5354373" cy="3359510"/>
          </a:xfrm>
          <a:prstGeom prst="rect">
            <a:avLst/>
          </a:prstGeom>
        </p:spPr>
      </p:pic>
      <p:sp>
        <p:nvSpPr>
          <p:cNvPr id="9" name="Content Placeholder 4"/>
          <p:cNvSpPr>
            <a:spLocks noGrp="1"/>
          </p:cNvSpPr>
          <p:nvPr>
            <p:ph idx="1"/>
          </p:nvPr>
        </p:nvSpPr>
        <p:spPr>
          <a:xfrm>
            <a:off x="296260" y="1749245"/>
            <a:ext cx="3206805" cy="4465782"/>
          </a:xfrm>
        </p:spPr>
        <p:txBody>
          <a:bodyPr>
            <a:noAutofit/>
          </a:bodyPr>
          <a:lstStyle/>
          <a:p>
            <a:r>
              <a:rPr lang="en-US" sz="3400" b="1" dirty="0">
                <a:solidFill>
                  <a:schemeClr val="tx1"/>
                </a:solidFill>
              </a:rPr>
              <a:t>What is the message of this poster?</a:t>
            </a:r>
          </a:p>
          <a:p>
            <a:r>
              <a:rPr lang="en-US" sz="3400" b="1" dirty="0">
                <a:solidFill>
                  <a:schemeClr val="tx1"/>
                </a:solidFill>
              </a:rPr>
              <a:t>Do you agree with the message? Why or why not?</a:t>
            </a:r>
          </a:p>
        </p:txBody>
      </p:sp>
    </p:spTree>
    <p:extLst>
      <p:ext uri="{BB962C8B-B14F-4D97-AF65-F5344CB8AC3E}">
        <p14:creationId xmlns:p14="http://schemas.microsoft.com/office/powerpoint/2010/main" val="263626897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266590" y="374900"/>
            <a:ext cx="4357265" cy="610820"/>
          </a:xfrm>
        </p:spPr>
        <p:txBody>
          <a:bodyPr>
            <a:normAutofit fontScale="90000"/>
          </a:bodyPr>
          <a:lstStyle/>
          <a:p>
            <a:pPr algn="ctr"/>
            <a:endParaRPr lang="en-US" b="1" dirty="0"/>
          </a:p>
        </p:txBody>
      </p:sp>
      <p:pic>
        <p:nvPicPr>
          <p:cNvPr id="6" name="Picture 5"/>
          <p:cNvPicPr>
            <a:picLocks noChangeAspect="1"/>
          </p:cNvPicPr>
          <p:nvPr/>
        </p:nvPicPr>
        <p:blipFill>
          <a:blip r:embed="rId3"/>
          <a:stretch>
            <a:fillRect/>
          </a:stretch>
        </p:blipFill>
        <p:spPr>
          <a:xfrm>
            <a:off x="3961180" y="1064780"/>
            <a:ext cx="4581150" cy="5723730"/>
          </a:xfrm>
          <a:prstGeom prst="rect">
            <a:avLst/>
          </a:prstGeom>
        </p:spPr>
      </p:pic>
      <p:sp>
        <p:nvSpPr>
          <p:cNvPr id="8" name="Content Placeholder 4"/>
          <p:cNvSpPr>
            <a:spLocks noGrp="1"/>
          </p:cNvSpPr>
          <p:nvPr>
            <p:ph idx="1"/>
          </p:nvPr>
        </p:nvSpPr>
        <p:spPr>
          <a:xfrm>
            <a:off x="296260" y="1749245"/>
            <a:ext cx="3206805" cy="4465782"/>
          </a:xfrm>
        </p:spPr>
        <p:txBody>
          <a:bodyPr>
            <a:noAutofit/>
          </a:bodyPr>
          <a:lstStyle/>
          <a:p>
            <a:r>
              <a:rPr lang="en-US" sz="3400" b="1" dirty="0">
                <a:solidFill>
                  <a:schemeClr val="tx1"/>
                </a:solidFill>
              </a:rPr>
              <a:t>What is the message of this poster?</a:t>
            </a:r>
          </a:p>
          <a:p>
            <a:r>
              <a:rPr lang="en-US" sz="3400" b="1" dirty="0">
                <a:solidFill>
                  <a:schemeClr val="tx1"/>
                </a:solidFill>
              </a:rPr>
              <a:t>Do you agree with the message? Why or why not?</a:t>
            </a:r>
          </a:p>
        </p:txBody>
      </p:sp>
    </p:spTree>
    <p:extLst>
      <p:ext uri="{BB962C8B-B14F-4D97-AF65-F5344CB8AC3E}">
        <p14:creationId xmlns:p14="http://schemas.microsoft.com/office/powerpoint/2010/main" val="4058768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892782"/>
            <a:ext cx="8229600" cy="597515"/>
          </a:xfrm>
        </p:spPr>
        <p:txBody>
          <a:bodyPr/>
          <a:lstStyle/>
          <a:p>
            <a:r>
              <a:rPr lang="en-US" sz="3000" b="1" dirty="0">
                <a:latin typeface="Adobe Garamond Pro Bold" panose="02020702060506020403" pitchFamily="18" charset="0"/>
              </a:rPr>
              <a:t>VIDEO PRESENTATION</a:t>
            </a:r>
          </a:p>
        </p:txBody>
      </p:sp>
      <p:sp>
        <p:nvSpPr>
          <p:cNvPr id="6" name="Rectangle 5"/>
          <p:cNvSpPr/>
          <p:nvPr/>
        </p:nvSpPr>
        <p:spPr>
          <a:xfrm>
            <a:off x="304495" y="1999130"/>
            <a:ext cx="8543245" cy="3754874"/>
          </a:xfrm>
          <a:prstGeom prst="rect">
            <a:avLst/>
          </a:prstGeom>
        </p:spPr>
        <p:txBody>
          <a:bodyPr wrap="square">
            <a:spAutoFit/>
          </a:bodyPr>
          <a:lstStyle/>
          <a:p>
            <a:pPr algn="ctr"/>
            <a:r>
              <a:rPr lang="en-US" sz="3000" b="1" dirty="0"/>
              <a:t>Responsible Use of Social Media THINK </a:t>
            </a:r>
          </a:p>
          <a:p>
            <a:pPr algn="ctr"/>
            <a:r>
              <a:rPr lang="en-US" sz="3000" b="1" dirty="0"/>
              <a:t>by </a:t>
            </a:r>
            <a:r>
              <a:rPr lang="en-US" sz="3000" b="1" dirty="0" err="1"/>
              <a:t>Projonmo</a:t>
            </a:r>
            <a:r>
              <a:rPr lang="en-US" sz="3000" b="1" dirty="0"/>
              <a:t> </a:t>
            </a:r>
            <a:r>
              <a:rPr lang="en-US" sz="3000" b="1" dirty="0" err="1"/>
              <a:t>Agami</a:t>
            </a:r>
            <a:endParaRPr lang="en-US" sz="3000" b="1" dirty="0"/>
          </a:p>
          <a:p>
            <a:pPr algn="ctr"/>
            <a:r>
              <a:rPr lang="en-US" sz="3000" b="1" dirty="0">
                <a:hlinkClick r:id="rId2"/>
              </a:rPr>
              <a:t>https://www.youtube.com/watch?v=qKxJA7bE-xw</a:t>
            </a:r>
            <a:endParaRPr lang="en-US" sz="3000" b="1" dirty="0"/>
          </a:p>
          <a:p>
            <a:pPr algn="ctr"/>
            <a:endParaRPr lang="en-US" sz="3000" b="1" dirty="0"/>
          </a:p>
          <a:p>
            <a:pPr algn="ctr"/>
            <a:endParaRPr lang="en-US" sz="3000" b="1" dirty="0"/>
          </a:p>
          <a:p>
            <a:pPr algn="ctr"/>
            <a:r>
              <a:rPr lang="en-US" sz="3000" b="1" dirty="0"/>
              <a:t>Dos and Don'ts when using social networks</a:t>
            </a:r>
          </a:p>
          <a:p>
            <a:pPr algn="ctr"/>
            <a:r>
              <a:rPr lang="en-US" sz="3000" b="1" dirty="0"/>
              <a:t>By Information Office </a:t>
            </a:r>
          </a:p>
          <a:p>
            <a:pPr algn="ctr"/>
            <a:r>
              <a:rPr lang="en-US" sz="2800" b="1" dirty="0">
                <a:hlinkClick r:id="rId3"/>
              </a:rPr>
              <a:t>https://youtu.be/vRINOE_ExVY?si=3_XhTKOEKyIcbN5m</a:t>
            </a:r>
            <a:endParaRPr lang="en-US" sz="2800" b="1" dirty="0"/>
          </a:p>
        </p:txBody>
      </p:sp>
    </p:spTree>
    <p:extLst>
      <p:ext uri="{BB962C8B-B14F-4D97-AF65-F5344CB8AC3E}">
        <p14:creationId xmlns:p14="http://schemas.microsoft.com/office/powerpoint/2010/main" val="291574186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Online Media 5" descr="Episode VI : Responsible use of social Media Think">
            <a:hlinkClick r:id="" action="ppaction://media"/>
            <a:extLst>
              <a:ext uri="{FF2B5EF4-FFF2-40B4-BE49-F238E27FC236}">
                <a16:creationId xmlns:a16="http://schemas.microsoft.com/office/drawing/2014/main" id="{899BB211-B6E1-591A-BE57-9AAA1961EEE5}"/>
              </a:ext>
            </a:extLst>
          </p:cNvPr>
          <p:cNvPicPr>
            <a:picLocks noRot="1" noChangeAspect="1"/>
          </p:cNvPicPr>
          <p:nvPr>
            <a:videoFile r:link="rId1"/>
          </p:nvPr>
        </p:nvPicPr>
        <p:blipFill>
          <a:blip r:embed="rId4"/>
          <a:stretch>
            <a:fillRect/>
          </a:stretch>
        </p:blipFill>
        <p:spPr>
          <a:xfrm>
            <a:off x="482600" y="1118489"/>
            <a:ext cx="8178799" cy="4621021"/>
          </a:xfrm>
          <a:prstGeom prst="rect">
            <a:avLst/>
          </a:prstGeom>
        </p:spPr>
      </p:pic>
    </p:spTree>
    <p:extLst>
      <p:ext uri="{BB962C8B-B14F-4D97-AF65-F5344CB8AC3E}">
        <p14:creationId xmlns:p14="http://schemas.microsoft.com/office/powerpoint/2010/main" val="1738311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6"/>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6"/>
                </p:tgtEl>
              </p:cMediaNode>
            </p:video>
            <p:seq concurrent="1" nextAc="seek">
              <p:cTn id="8" restart="whenNotActive" fill="hold" evtFilter="cancelBubble" nodeType="interactiveSeq">
                <p:stCondLst>
                  <p:cond evt="onClick" delay="0">
                    <p:tgtEl>
                      <p:spTgt spid="6"/>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6"/>
                                        </p:tgtEl>
                                      </p:cBhvr>
                                    </p:cmd>
                                  </p:childTnLst>
                                </p:cTn>
                              </p:par>
                            </p:childTnLst>
                          </p:cTn>
                        </p:par>
                      </p:childTnLst>
                    </p:cTn>
                  </p:par>
                </p:childTnLst>
              </p:cTn>
              <p:nextCondLst>
                <p:cond evt="onClick" delay="0">
                  <p:tgtEl>
                    <p:spTgt spid="6"/>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32BC26D8-82FB-445E-AA49-62A77D7C1E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9144000" cy="6858000"/>
          </a:xfrm>
          <a:prstGeom prst="rect">
            <a:avLst/>
          </a:prstGeom>
          <a:solidFill>
            <a:schemeClr val="tx1">
              <a:lumMod val="65000"/>
              <a:lumOff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CB44330D-EA18-4254-AA95-EB49948539B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57759" y="480060"/>
            <a:ext cx="8428482" cy="5897880"/>
          </a:xfrm>
          <a:prstGeom prst="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2" name="Online Media 1" descr="Dos and Don'ts when using social networks">
            <a:hlinkClick r:id="" action="ppaction://media"/>
            <a:extLst>
              <a:ext uri="{FF2B5EF4-FFF2-40B4-BE49-F238E27FC236}">
                <a16:creationId xmlns:a16="http://schemas.microsoft.com/office/drawing/2014/main" id="{184C9F73-60D1-011C-7961-D2D73D42E118}"/>
              </a:ext>
            </a:extLst>
          </p:cNvPr>
          <p:cNvPicPr>
            <a:picLocks noRot="1" noChangeAspect="1"/>
          </p:cNvPicPr>
          <p:nvPr>
            <a:videoFile r:link="rId1"/>
          </p:nvPr>
        </p:nvPicPr>
        <p:blipFill>
          <a:blip r:embed="rId4"/>
          <a:stretch>
            <a:fillRect/>
          </a:stretch>
        </p:blipFill>
        <p:spPr>
          <a:xfrm>
            <a:off x="482600" y="1118489"/>
            <a:ext cx="8178799" cy="4621021"/>
          </a:xfrm>
          <a:prstGeom prst="rect">
            <a:avLst/>
          </a:prstGeom>
        </p:spPr>
      </p:pic>
    </p:spTree>
    <p:extLst>
      <p:ext uri="{BB962C8B-B14F-4D97-AF65-F5344CB8AC3E}">
        <p14:creationId xmlns:p14="http://schemas.microsoft.com/office/powerpoint/2010/main" val="11574645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mediacall" presetSubtype="0" fill="hold" nodeType="click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80000">
                <p:cTn id="7" fill="hold" display="0">
                  <p:stCondLst>
                    <p:cond delay="indefinite"/>
                  </p:stCondLst>
                </p:cTn>
                <p:tgtEl>
                  <p:spTgt spid="2"/>
                </p:tgtEl>
              </p:cMediaNode>
            </p:video>
            <p:seq concurrent="1" nextAc="seek">
              <p:cTn id="8" restart="whenNotActive" fill="hold" evtFilter="cancelBubble" nodeType="interactiveSeq">
                <p:stCondLst>
                  <p:cond evt="onClick" delay="0">
                    <p:tgtEl>
                      <p:spTgt spid="2"/>
                    </p:tgtEl>
                  </p:cond>
                </p:stCondLst>
                <p:endSync evt="end" delay="0">
                  <p:rtn val="all"/>
                </p:endSync>
                <p:childTnLst>
                  <p:par>
                    <p:cTn id="9" fill="hold">
                      <p:stCondLst>
                        <p:cond delay="0"/>
                      </p:stCondLst>
                      <p:childTnLst>
                        <p:par>
                          <p:cTn id="10" fill="hold">
                            <p:stCondLst>
                              <p:cond delay="0"/>
                            </p:stCondLst>
                            <p:childTnLst>
                              <p:par>
                                <p:cTn id="11" presetID="2" presetClass="mediacall" presetSubtype="0" fill="hold" nodeType="clickEffect">
                                  <p:stCondLst>
                                    <p:cond delay="0"/>
                                  </p:stCondLst>
                                  <p:childTnLst>
                                    <p:cmd type="call" cmd="togglePause">
                                      <p:cBhvr>
                                        <p:cTn id="12" dur="1" fill="hold"/>
                                        <p:tgtEl>
                                          <p:spTgt spid="2"/>
                                        </p:tgtEl>
                                      </p:cBhvr>
                                    </p:cmd>
                                  </p:childTnLst>
                                </p:cTn>
                              </p:par>
                            </p:childTnLst>
                          </p:cTn>
                        </p:par>
                      </p:childTnLst>
                    </p:cTn>
                  </p:par>
                </p:childTnLst>
              </p:cTn>
              <p:nextCondLst>
                <p:cond evt="onClick" delay="0">
                  <p:tgtEl>
                    <p:spTgt spid="2"/>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2"/>
          <a:stretch>
            <a:fillRect/>
          </a:stretch>
        </p:blipFill>
        <p:spPr>
          <a:xfrm>
            <a:off x="1214533" y="2818180"/>
            <a:ext cx="2899352" cy="3901699"/>
          </a:xfrm>
          <a:prstGeom prst="rect">
            <a:avLst/>
          </a:prstGeom>
        </p:spPr>
      </p:pic>
      <p:sp>
        <p:nvSpPr>
          <p:cNvPr id="6" name="Rounded Rectangular Callout 5"/>
          <p:cNvSpPr/>
          <p:nvPr/>
        </p:nvSpPr>
        <p:spPr>
          <a:xfrm>
            <a:off x="3655770" y="833015"/>
            <a:ext cx="4277783" cy="1985165"/>
          </a:xfrm>
          <a:prstGeom prst="wedgeRoundRectCallout">
            <a:avLst>
              <a:gd name="adj1" fmla="val -50865"/>
              <a:gd name="adj2" fmla="val 73056"/>
              <a:gd name="adj3" fmla="val 16667"/>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en-US" sz="3600" b="1" dirty="0"/>
              <a:t>Why is media and information literacy very important?</a:t>
            </a:r>
          </a:p>
        </p:txBody>
      </p:sp>
    </p:spTree>
    <p:extLst>
      <p:ext uri="{BB962C8B-B14F-4D97-AF65-F5344CB8AC3E}">
        <p14:creationId xmlns:p14="http://schemas.microsoft.com/office/powerpoint/2010/main" val="359899348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p:cNvSpPr>
            <a:spLocks noGrp="1"/>
          </p:cNvSpPr>
          <p:nvPr>
            <p:ph idx="1"/>
          </p:nvPr>
        </p:nvSpPr>
        <p:spPr>
          <a:xfrm>
            <a:off x="678023" y="2360065"/>
            <a:ext cx="7787954" cy="3664920"/>
          </a:xfrm>
        </p:spPr>
        <p:txBody>
          <a:bodyPr>
            <a:noAutofit/>
          </a:bodyPr>
          <a:lstStyle/>
          <a:p>
            <a:pPr marL="0" indent="0" algn="just">
              <a:buNone/>
            </a:pPr>
            <a:r>
              <a:rPr lang="en-US" sz="2400" b="1" dirty="0">
                <a:solidFill>
                  <a:schemeClr val="tx1"/>
                </a:solidFill>
              </a:rPr>
              <a:t>The importance of Media and Information Literacy (MIL) lies in empowering individuals to </a:t>
            </a:r>
            <a:r>
              <a:rPr lang="en-US" sz="2400" b="1" u="sng" dirty="0">
                <a:solidFill>
                  <a:schemeClr val="tx1"/>
                </a:solidFill>
              </a:rPr>
              <a:t>navigate, analyze, and critically evaluate</a:t>
            </a:r>
            <a:r>
              <a:rPr lang="en-US" sz="2400" b="1" dirty="0">
                <a:solidFill>
                  <a:schemeClr val="tx1"/>
                </a:solidFill>
              </a:rPr>
              <a:t> the vast digital world, combating misinformation, making informed decisions, and participating actively and responsibly in society, fostering both personal growth and democratic resilience in the information age. It moves people from passive consumers to active, discerning creators and users of information, essential for tackling fake news, hate speech, and ensuring informed public discourse. (Online references)</a:t>
            </a:r>
          </a:p>
        </p:txBody>
      </p:sp>
      <p:sp>
        <p:nvSpPr>
          <p:cNvPr id="9" name="Title 1"/>
          <p:cNvSpPr>
            <a:spLocks noGrp="1"/>
          </p:cNvSpPr>
          <p:nvPr>
            <p:ph type="title"/>
          </p:nvPr>
        </p:nvSpPr>
        <p:spPr>
          <a:xfrm>
            <a:off x="4266590" y="222195"/>
            <a:ext cx="4428445" cy="1679755"/>
          </a:xfrm>
        </p:spPr>
        <p:txBody>
          <a:bodyPr>
            <a:noAutofit/>
          </a:bodyPr>
          <a:lstStyle/>
          <a:p>
            <a:pPr algn="ctr"/>
            <a:r>
              <a:rPr lang="en-US" b="1" dirty="0"/>
              <a:t>Importance of Media and Information Literacy</a:t>
            </a:r>
          </a:p>
        </p:txBody>
      </p:sp>
    </p:spTree>
    <p:extLst>
      <p:ext uri="{BB962C8B-B14F-4D97-AF65-F5344CB8AC3E}">
        <p14:creationId xmlns:p14="http://schemas.microsoft.com/office/powerpoint/2010/main" val="244796868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p:cNvSpPr>
            <a:spLocks noGrp="1"/>
          </p:cNvSpPr>
          <p:nvPr>
            <p:ph idx="1"/>
          </p:nvPr>
        </p:nvSpPr>
        <p:spPr>
          <a:xfrm>
            <a:off x="678023" y="2360065"/>
            <a:ext cx="7787954" cy="3664920"/>
          </a:xfrm>
        </p:spPr>
        <p:txBody>
          <a:bodyPr>
            <a:noAutofit/>
          </a:bodyPr>
          <a:lstStyle/>
          <a:p>
            <a:pPr marL="0" indent="0" algn="just">
              <a:buNone/>
            </a:pPr>
            <a:r>
              <a:rPr lang="en-US" sz="2400" b="1" dirty="0">
                <a:solidFill>
                  <a:schemeClr val="tx1"/>
                </a:solidFill>
              </a:rPr>
              <a:t>Key Benefits of MIL:</a:t>
            </a:r>
          </a:p>
          <a:p>
            <a:pPr marL="0" indent="0" algn="just">
              <a:buNone/>
            </a:pPr>
            <a:endParaRPr lang="en-US" sz="2400" b="1" dirty="0">
              <a:solidFill>
                <a:schemeClr val="tx1"/>
              </a:solidFill>
            </a:endParaRPr>
          </a:p>
          <a:p>
            <a:pPr marL="0" indent="0" algn="just">
              <a:buNone/>
            </a:pPr>
            <a:r>
              <a:rPr lang="en-US" sz="2400" b="1" dirty="0">
                <a:solidFill>
                  <a:schemeClr val="tx1"/>
                </a:solidFill>
              </a:rPr>
              <a:t>Critical Thinking: Develops skills to question, analyze, and assess media messages, identifying bias and intent.</a:t>
            </a:r>
          </a:p>
          <a:p>
            <a:pPr marL="0" indent="0" algn="just">
              <a:buNone/>
            </a:pPr>
            <a:endParaRPr lang="en-US" sz="2400" b="1" dirty="0">
              <a:solidFill>
                <a:schemeClr val="tx1"/>
              </a:solidFill>
            </a:endParaRPr>
          </a:p>
          <a:p>
            <a:pPr marL="0" indent="0" algn="just">
              <a:buNone/>
            </a:pPr>
            <a:r>
              <a:rPr lang="en-US" sz="2400" b="1" dirty="0">
                <a:solidFill>
                  <a:schemeClr val="tx1"/>
                </a:solidFill>
              </a:rPr>
              <a:t>Combats Misinformation: Equips users to spot fake news, disinformation, and propaganda, reducing their spread.</a:t>
            </a:r>
          </a:p>
        </p:txBody>
      </p:sp>
      <p:sp>
        <p:nvSpPr>
          <p:cNvPr id="9" name="Title 1"/>
          <p:cNvSpPr>
            <a:spLocks noGrp="1"/>
          </p:cNvSpPr>
          <p:nvPr>
            <p:ph type="title"/>
          </p:nvPr>
        </p:nvSpPr>
        <p:spPr>
          <a:xfrm>
            <a:off x="4266590" y="222195"/>
            <a:ext cx="4428445" cy="1679755"/>
          </a:xfrm>
        </p:spPr>
        <p:txBody>
          <a:bodyPr>
            <a:noAutofit/>
          </a:bodyPr>
          <a:lstStyle/>
          <a:p>
            <a:pPr algn="ctr"/>
            <a:r>
              <a:rPr lang="en-US" b="1" dirty="0"/>
              <a:t>Importance of Media and Information Literacy</a:t>
            </a:r>
          </a:p>
        </p:txBody>
      </p:sp>
    </p:spTree>
    <p:extLst>
      <p:ext uri="{BB962C8B-B14F-4D97-AF65-F5344CB8AC3E}">
        <p14:creationId xmlns:p14="http://schemas.microsoft.com/office/powerpoint/2010/main" val="223407281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p:cNvSpPr>
            <a:spLocks noGrp="1"/>
          </p:cNvSpPr>
          <p:nvPr>
            <p:ph idx="1"/>
          </p:nvPr>
        </p:nvSpPr>
        <p:spPr>
          <a:xfrm>
            <a:off x="678023" y="2360065"/>
            <a:ext cx="7787954" cy="3664920"/>
          </a:xfrm>
        </p:spPr>
        <p:txBody>
          <a:bodyPr>
            <a:noAutofit/>
          </a:bodyPr>
          <a:lstStyle/>
          <a:p>
            <a:pPr marL="0" indent="0" algn="just">
              <a:buNone/>
            </a:pPr>
            <a:r>
              <a:rPr lang="en-US" sz="2400" b="1" dirty="0">
                <a:solidFill>
                  <a:schemeClr val="tx1"/>
                </a:solidFill>
              </a:rPr>
              <a:t>Key Benefits of MIL:</a:t>
            </a:r>
          </a:p>
          <a:p>
            <a:pPr marL="0" indent="0" algn="just">
              <a:buNone/>
            </a:pPr>
            <a:endParaRPr lang="en-US" sz="2400" b="1" dirty="0">
              <a:solidFill>
                <a:schemeClr val="tx1"/>
              </a:solidFill>
            </a:endParaRPr>
          </a:p>
          <a:p>
            <a:pPr marL="0" indent="0" algn="just">
              <a:buNone/>
            </a:pPr>
            <a:r>
              <a:rPr lang="en-US" sz="2400" b="1" dirty="0">
                <a:solidFill>
                  <a:schemeClr val="tx1"/>
                </a:solidFill>
              </a:rPr>
              <a:t>Informed Citizenship: Enables better decisions on civic matters, fostering engaged, resilient communities and strengthening democracy.</a:t>
            </a:r>
          </a:p>
          <a:p>
            <a:pPr marL="0" indent="0" algn="just">
              <a:buNone/>
            </a:pPr>
            <a:endParaRPr lang="en-US" sz="2400" b="1" dirty="0">
              <a:solidFill>
                <a:schemeClr val="tx1"/>
              </a:solidFill>
            </a:endParaRPr>
          </a:p>
          <a:p>
            <a:pPr marL="0" indent="0" algn="just">
              <a:buNone/>
            </a:pPr>
            <a:r>
              <a:rPr lang="en-US" sz="2400" b="1" dirty="0">
                <a:solidFill>
                  <a:schemeClr val="tx1"/>
                </a:solidFill>
              </a:rPr>
              <a:t>Digital Safety &amp; Ethics: Teaches how to navigate online spaces safely and create content responsibly, understanding the impact of one's own digital footprint.</a:t>
            </a:r>
          </a:p>
        </p:txBody>
      </p:sp>
      <p:sp>
        <p:nvSpPr>
          <p:cNvPr id="9" name="Title 1"/>
          <p:cNvSpPr>
            <a:spLocks noGrp="1"/>
          </p:cNvSpPr>
          <p:nvPr>
            <p:ph type="title"/>
          </p:nvPr>
        </p:nvSpPr>
        <p:spPr>
          <a:xfrm>
            <a:off x="4266590" y="222195"/>
            <a:ext cx="4428445" cy="1679755"/>
          </a:xfrm>
        </p:spPr>
        <p:txBody>
          <a:bodyPr>
            <a:noAutofit/>
          </a:bodyPr>
          <a:lstStyle/>
          <a:p>
            <a:pPr algn="ctr"/>
            <a:r>
              <a:rPr lang="en-US" b="1" dirty="0"/>
              <a:t>Importance of Media and Information Literacy</a:t>
            </a:r>
          </a:p>
        </p:txBody>
      </p:sp>
    </p:spTree>
    <p:extLst>
      <p:ext uri="{BB962C8B-B14F-4D97-AF65-F5344CB8AC3E}">
        <p14:creationId xmlns:p14="http://schemas.microsoft.com/office/powerpoint/2010/main" val="412554964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Content Placeholder 4"/>
          <p:cNvSpPr>
            <a:spLocks noGrp="1"/>
          </p:cNvSpPr>
          <p:nvPr>
            <p:ph idx="1"/>
          </p:nvPr>
        </p:nvSpPr>
        <p:spPr>
          <a:xfrm>
            <a:off x="678023" y="2360065"/>
            <a:ext cx="7787954" cy="3664920"/>
          </a:xfrm>
        </p:spPr>
        <p:txBody>
          <a:bodyPr>
            <a:noAutofit/>
          </a:bodyPr>
          <a:lstStyle/>
          <a:p>
            <a:pPr marL="0" indent="0" algn="just">
              <a:buNone/>
            </a:pPr>
            <a:r>
              <a:rPr lang="en-US" sz="2400" b="1" dirty="0">
                <a:solidFill>
                  <a:schemeClr val="tx1"/>
                </a:solidFill>
              </a:rPr>
              <a:t>Key Benefits of MIL:</a:t>
            </a:r>
          </a:p>
          <a:p>
            <a:pPr marL="0" indent="0" algn="just">
              <a:buNone/>
            </a:pPr>
            <a:endParaRPr lang="en-US" sz="2400" b="1" dirty="0">
              <a:solidFill>
                <a:schemeClr val="tx1"/>
              </a:solidFill>
            </a:endParaRPr>
          </a:p>
          <a:p>
            <a:pPr marL="0" indent="0" algn="just">
              <a:buNone/>
            </a:pPr>
            <a:r>
              <a:rPr lang="en-US" sz="2400" b="1" dirty="0">
                <a:solidFill>
                  <a:schemeClr val="tx1"/>
                </a:solidFill>
              </a:rPr>
              <a:t>Personal Empowerment: Enhances communication, supports self-expression, and provides tools for lifelong learning and innovation.</a:t>
            </a:r>
          </a:p>
          <a:p>
            <a:pPr marL="0" indent="0" algn="just">
              <a:buNone/>
            </a:pPr>
            <a:endParaRPr lang="en-US" sz="2400" b="1" dirty="0">
              <a:solidFill>
                <a:schemeClr val="tx1"/>
              </a:solidFill>
            </a:endParaRPr>
          </a:p>
          <a:p>
            <a:pPr marL="0" indent="0" algn="just">
              <a:buNone/>
            </a:pPr>
            <a:r>
              <a:rPr lang="en-US" sz="2400" b="1" dirty="0">
                <a:solidFill>
                  <a:schemeClr val="tx1"/>
                </a:solidFill>
              </a:rPr>
              <a:t>Builds Trust: Fosters understanding of information ecosystems, promoting trust in reliable sources and digital technologies. </a:t>
            </a:r>
          </a:p>
        </p:txBody>
      </p:sp>
      <p:sp>
        <p:nvSpPr>
          <p:cNvPr id="9" name="Title 1"/>
          <p:cNvSpPr>
            <a:spLocks noGrp="1"/>
          </p:cNvSpPr>
          <p:nvPr>
            <p:ph type="title"/>
          </p:nvPr>
        </p:nvSpPr>
        <p:spPr>
          <a:xfrm>
            <a:off x="4266590" y="222195"/>
            <a:ext cx="4428445" cy="1679755"/>
          </a:xfrm>
        </p:spPr>
        <p:txBody>
          <a:bodyPr>
            <a:noAutofit/>
          </a:bodyPr>
          <a:lstStyle/>
          <a:p>
            <a:pPr algn="ctr"/>
            <a:r>
              <a:rPr lang="en-US" b="1" dirty="0"/>
              <a:t>Importance of Media and Information Literacy</a:t>
            </a:r>
          </a:p>
        </p:txBody>
      </p:sp>
    </p:spTree>
    <p:extLst>
      <p:ext uri="{BB962C8B-B14F-4D97-AF65-F5344CB8AC3E}">
        <p14:creationId xmlns:p14="http://schemas.microsoft.com/office/powerpoint/2010/main" val="31759377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F761-72BA-8D5C-0EFC-61DEF4B06486}"/>
              </a:ext>
            </a:extLst>
          </p:cNvPr>
          <p:cNvSpPr>
            <a:spLocks noGrp="1"/>
          </p:cNvSpPr>
          <p:nvPr>
            <p:ph type="title"/>
          </p:nvPr>
        </p:nvSpPr>
        <p:spPr>
          <a:xfrm>
            <a:off x="1976016" y="1291130"/>
            <a:ext cx="6260906" cy="610820"/>
          </a:xfrm>
        </p:spPr>
        <p:txBody>
          <a:bodyPr>
            <a:normAutofit fontScale="90000"/>
          </a:bodyPr>
          <a:lstStyle/>
          <a:p>
            <a:pPr algn="r"/>
            <a:r>
              <a:rPr lang="en-US" b="1" dirty="0"/>
              <a:t>Fake News and Fact Checking</a:t>
            </a:r>
          </a:p>
        </p:txBody>
      </p:sp>
      <p:sp>
        <p:nvSpPr>
          <p:cNvPr id="3" name="Content Placeholder 2">
            <a:extLst>
              <a:ext uri="{FF2B5EF4-FFF2-40B4-BE49-F238E27FC236}">
                <a16:creationId xmlns:a16="http://schemas.microsoft.com/office/drawing/2014/main" id="{956E24BE-6D7B-CB4F-BCB7-14EB0174F613}"/>
              </a:ext>
            </a:extLst>
          </p:cNvPr>
          <p:cNvSpPr>
            <a:spLocks noGrp="1"/>
          </p:cNvSpPr>
          <p:nvPr>
            <p:ph idx="1"/>
          </p:nvPr>
        </p:nvSpPr>
        <p:spPr>
          <a:xfrm>
            <a:off x="754375" y="2054655"/>
            <a:ext cx="7482547" cy="3817625"/>
          </a:xfrm>
        </p:spPr>
        <p:txBody>
          <a:bodyPr>
            <a:normAutofit/>
          </a:bodyPr>
          <a:lstStyle/>
          <a:p>
            <a:pPr marL="0" indent="0">
              <a:buNone/>
            </a:pPr>
            <a:r>
              <a:rPr lang="en-US" dirty="0">
                <a:solidFill>
                  <a:schemeClr val="tx1"/>
                </a:solidFill>
              </a:rPr>
              <a:t>What can I do to avoid fake news?</a:t>
            </a:r>
          </a:p>
          <a:p>
            <a:pPr marL="0" indent="0">
              <a:buNone/>
            </a:pPr>
            <a:endParaRPr lang="en-US" dirty="0">
              <a:solidFill>
                <a:schemeClr val="tx1"/>
              </a:solidFill>
            </a:endParaRPr>
          </a:p>
          <a:p>
            <a:pPr marL="0" indent="0">
              <a:buNone/>
            </a:pPr>
            <a:r>
              <a:rPr lang="en-US" dirty="0">
                <a:solidFill>
                  <a:schemeClr val="tx1"/>
                </a:solidFill>
              </a:rPr>
              <a:t>Here's a quick guide to sorting out facts, evaluating resources and becoming more knowledgeable about the resources you use to find information.</a:t>
            </a:r>
          </a:p>
        </p:txBody>
      </p:sp>
    </p:spTree>
    <p:extLst>
      <p:ext uri="{BB962C8B-B14F-4D97-AF65-F5344CB8AC3E}">
        <p14:creationId xmlns:p14="http://schemas.microsoft.com/office/powerpoint/2010/main" val="993616865"/>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F761-72BA-8D5C-0EFC-61DEF4B06486}"/>
              </a:ext>
            </a:extLst>
          </p:cNvPr>
          <p:cNvSpPr>
            <a:spLocks noGrp="1"/>
          </p:cNvSpPr>
          <p:nvPr>
            <p:ph type="title"/>
          </p:nvPr>
        </p:nvSpPr>
        <p:spPr>
          <a:xfrm>
            <a:off x="1976016" y="1291130"/>
            <a:ext cx="6260906" cy="610820"/>
          </a:xfrm>
        </p:spPr>
        <p:txBody>
          <a:bodyPr>
            <a:normAutofit fontScale="90000"/>
          </a:bodyPr>
          <a:lstStyle/>
          <a:p>
            <a:pPr algn="r"/>
            <a:r>
              <a:rPr lang="en-US" b="1" dirty="0"/>
              <a:t>Fake News and Fact Checking</a:t>
            </a:r>
          </a:p>
        </p:txBody>
      </p:sp>
      <p:sp>
        <p:nvSpPr>
          <p:cNvPr id="3" name="Content Placeholder 2">
            <a:extLst>
              <a:ext uri="{FF2B5EF4-FFF2-40B4-BE49-F238E27FC236}">
                <a16:creationId xmlns:a16="http://schemas.microsoft.com/office/drawing/2014/main" id="{956E24BE-6D7B-CB4F-BCB7-14EB0174F613}"/>
              </a:ext>
            </a:extLst>
          </p:cNvPr>
          <p:cNvSpPr>
            <a:spLocks noGrp="1"/>
          </p:cNvSpPr>
          <p:nvPr>
            <p:ph idx="1"/>
          </p:nvPr>
        </p:nvSpPr>
        <p:spPr>
          <a:xfrm>
            <a:off x="754375" y="2054655"/>
            <a:ext cx="7482547" cy="3817625"/>
          </a:xfrm>
        </p:spPr>
        <p:txBody>
          <a:bodyPr>
            <a:normAutofit fontScale="92500" lnSpcReduction="10000"/>
          </a:bodyPr>
          <a:lstStyle/>
          <a:p>
            <a:pPr marL="0" indent="0">
              <a:buNone/>
            </a:pPr>
            <a:r>
              <a:rPr lang="en-US" b="1" dirty="0">
                <a:solidFill>
                  <a:schemeClr val="tx1"/>
                </a:solidFill>
              </a:rPr>
              <a:t>Check Credentials </a:t>
            </a:r>
            <a:r>
              <a:rPr lang="en-US" dirty="0">
                <a:solidFill>
                  <a:schemeClr val="tx1"/>
                </a:solidFill>
              </a:rPr>
              <a:t>- Is the author specialized in the field that the article is concerned with? Does s/he currently work in that field? Check LinkedIn or do a quick Google search to see if the author can speak about the subject with authority and accuracy.</a:t>
            </a:r>
          </a:p>
          <a:p>
            <a:pPr marL="0" indent="0">
              <a:buNone/>
            </a:pPr>
            <a:endParaRPr lang="en-US" dirty="0">
              <a:solidFill>
                <a:schemeClr val="tx1"/>
              </a:solidFill>
            </a:endParaRPr>
          </a:p>
          <a:p>
            <a:pPr marL="0" indent="0">
              <a:buNone/>
            </a:pPr>
            <a:r>
              <a:rPr lang="en-US" b="1" dirty="0">
                <a:solidFill>
                  <a:schemeClr val="tx1"/>
                </a:solidFill>
              </a:rPr>
              <a:t>Read the “About Us” section</a:t>
            </a:r>
            <a:r>
              <a:rPr lang="en-US" dirty="0">
                <a:solidFill>
                  <a:schemeClr val="tx1"/>
                </a:solidFill>
              </a:rPr>
              <a:t>. Does the resource have one? Reputable websites will have some type of About Us section and will provide a  way for you to contact them.</a:t>
            </a:r>
          </a:p>
        </p:txBody>
      </p:sp>
    </p:spTree>
    <p:extLst>
      <p:ext uri="{BB962C8B-B14F-4D97-AF65-F5344CB8AC3E}">
        <p14:creationId xmlns:p14="http://schemas.microsoft.com/office/powerpoint/2010/main" val="349649958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F761-72BA-8D5C-0EFC-61DEF4B06486}"/>
              </a:ext>
            </a:extLst>
          </p:cNvPr>
          <p:cNvSpPr>
            <a:spLocks noGrp="1"/>
          </p:cNvSpPr>
          <p:nvPr>
            <p:ph type="title"/>
          </p:nvPr>
        </p:nvSpPr>
        <p:spPr>
          <a:xfrm>
            <a:off x="1976016" y="1291130"/>
            <a:ext cx="6260906" cy="610820"/>
          </a:xfrm>
        </p:spPr>
        <p:txBody>
          <a:bodyPr>
            <a:normAutofit fontScale="90000"/>
          </a:bodyPr>
          <a:lstStyle/>
          <a:p>
            <a:pPr algn="r"/>
            <a:r>
              <a:rPr lang="en-US" b="1" dirty="0"/>
              <a:t>Fake News and Fact Checking</a:t>
            </a:r>
          </a:p>
        </p:txBody>
      </p:sp>
      <p:sp>
        <p:nvSpPr>
          <p:cNvPr id="3" name="Content Placeholder 2">
            <a:extLst>
              <a:ext uri="{FF2B5EF4-FFF2-40B4-BE49-F238E27FC236}">
                <a16:creationId xmlns:a16="http://schemas.microsoft.com/office/drawing/2014/main" id="{956E24BE-6D7B-CB4F-BCB7-14EB0174F613}"/>
              </a:ext>
            </a:extLst>
          </p:cNvPr>
          <p:cNvSpPr>
            <a:spLocks noGrp="1"/>
          </p:cNvSpPr>
          <p:nvPr>
            <p:ph idx="1"/>
          </p:nvPr>
        </p:nvSpPr>
        <p:spPr>
          <a:xfrm>
            <a:off x="754375" y="2054655"/>
            <a:ext cx="7482547" cy="3817625"/>
          </a:xfrm>
        </p:spPr>
        <p:txBody>
          <a:bodyPr>
            <a:normAutofit lnSpcReduction="10000"/>
          </a:bodyPr>
          <a:lstStyle/>
          <a:p>
            <a:pPr marL="0" indent="0">
              <a:buNone/>
            </a:pPr>
            <a:r>
              <a:rPr lang="en-US" b="1" dirty="0">
                <a:solidFill>
                  <a:schemeClr val="tx1"/>
                </a:solidFill>
              </a:rPr>
              <a:t>Look for Bias </a:t>
            </a:r>
            <a:r>
              <a:rPr lang="en-US" dirty="0">
                <a:solidFill>
                  <a:schemeClr val="tx1"/>
                </a:solidFill>
              </a:rPr>
              <a:t>- Does the article seem to lean toward a particular point of view? Does it link to sites, files, or images that seem to skew to the left or the right? Biased articles may not be giving you the whole story.</a:t>
            </a:r>
          </a:p>
          <a:p>
            <a:pPr marL="0" indent="0">
              <a:buNone/>
            </a:pPr>
            <a:endParaRPr lang="en-US" dirty="0">
              <a:solidFill>
                <a:schemeClr val="tx1"/>
              </a:solidFill>
            </a:endParaRPr>
          </a:p>
          <a:p>
            <a:pPr marL="0" indent="0">
              <a:buNone/>
            </a:pPr>
            <a:r>
              <a:rPr lang="en-US" b="1" dirty="0">
                <a:solidFill>
                  <a:schemeClr val="tx1"/>
                </a:solidFill>
              </a:rPr>
              <a:t>Check the Dates </a:t>
            </a:r>
            <a:r>
              <a:rPr lang="en-US" dirty="0">
                <a:solidFill>
                  <a:schemeClr val="tx1"/>
                </a:solidFill>
              </a:rPr>
              <a:t>- Like eggs and milk, information can have an expiration date. In most cases, use the most up-to-date information you can find.</a:t>
            </a:r>
          </a:p>
        </p:txBody>
      </p:sp>
    </p:spTree>
    <p:extLst>
      <p:ext uri="{BB962C8B-B14F-4D97-AF65-F5344CB8AC3E}">
        <p14:creationId xmlns:p14="http://schemas.microsoft.com/office/powerpoint/2010/main" val="51012561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F761-72BA-8D5C-0EFC-61DEF4B06486}"/>
              </a:ext>
            </a:extLst>
          </p:cNvPr>
          <p:cNvSpPr>
            <a:spLocks noGrp="1"/>
          </p:cNvSpPr>
          <p:nvPr>
            <p:ph type="title"/>
          </p:nvPr>
        </p:nvSpPr>
        <p:spPr>
          <a:xfrm>
            <a:off x="1976016" y="1291130"/>
            <a:ext cx="6260906" cy="610820"/>
          </a:xfrm>
        </p:spPr>
        <p:txBody>
          <a:bodyPr>
            <a:normAutofit fontScale="90000"/>
          </a:bodyPr>
          <a:lstStyle/>
          <a:p>
            <a:pPr algn="r"/>
            <a:r>
              <a:rPr lang="en-US" b="1" dirty="0"/>
              <a:t>Fake News and Fact Checking</a:t>
            </a:r>
          </a:p>
        </p:txBody>
      </p:sp>
      <p:sp>
        <p:nvSpPr>
          <p:cNvPr id="3" name="Content Placeholder 2">
            <a:extLst>
              <a:ext uri="{FF2B5EF4-FFF2-40B4-BE49-F238E27FC236}">
                <a16:creationId xmlns:a16="http://schemas.microsoft.com/office/drawing/2014/main" id="{956E24BE-6D7B-CB4F-BCB7-14EB0174F613}"/>
              </a:ext>
            </a:extLst>
          </p:cNvPr>
          <p:cNvSpPr>
            <a:spLocks noGrp="1"/>
          </p:cNvSpPr>
          <p:nvPr>
            <p:ph idx="1"/>
          </p:nvPr>
        </p:nvSpPr>
        <p:spPr>
          <a:xfrm>
            <a:off x="754375" y="2054655"/>
            <a:ext cx="7482547" cy="4084235"/>
          </a:xfrm>
        </p:spPr>
        <p:txBody>
          <a:bodyPr>
            <a:normAutofit fontScale="85000" lnSpcReduction="20000"/>
          </a:bodyPr>
          <a:lstStyle/>
          <a:p>
            <a:pPr marL="0" indent="0">
              <a:buNone/>
            </a:pPr>
            <a:r>
              <a:rPr lang="en-US" b="1" dirty="0">
                <a:solidFill>
                  <a:schemeClr val="tx1"/>
                </a:solidFill>
              </a:rPr>
              <a:t>Check out the Source </a:t>
            </a:r>
            <a:r>
              <a:rPr lang="en-US" dirty="0">
                <a:solidFill>
                  <a:schemeClr val="tx1"/>
                </a:solidFill>
              </a:rPr>
              <a:t>- When an article cites sources, it's good to check them out. Sometimes, official-sounding associations are really biased think tanks or represent only a fringe view of a group of people. If you can't find sources, read as much about the topic as you can to get a feel for what's already out there and decide for your self if the article is accurate or not.</a:t>
            </a:r>
          </a:p>
          <a:p>
            <a:pPr marL="0" indent="0">
              <a:buNone/>
            </a:pPr>
            <a:endParaRPr lang="en-US" dirty="0">
              <a:solidFill>
                <a:schemeClr val="tx1"/>
              </a:solidFill>
            </a:endParaRPr>
          </a:p>
          <a:p>
            <a:pPr marL="0" indent="0">
              <a:buNone/>
            </a:pPr>
            <a:r>
              <a:rPr lang="en-US" b="1" dirty="0">
                <a:solidFill>
                  <a:schemeClr val="tx1"/>
                </a:solidFill>
              </a:rPr>
              <a:t>Examine URLs </a:t>
            </a:r>
            <a:r>
              <a:rPr lang="en-US" dirty="0">
                <a:solidFill>
                  <a:schemeClr val="tx1"/>
                </a:solidFill>
              </a:rPr>
              <a:t>- We see quite a bit of domain manipulation these days. For example, what looks like an .</a:t>
            </a:r>
            <a:r>
              <a:rPr lang="en-US" dirty="0" err="1">
                <a:solidFill>
                  <a:schemeClr val="tx1"/>
                </a:solidFill>
              </a:rPr>
              <a:t>edu</a:t>
            </a:r>
            <a:r>
              <a:rPr lang="en-US" dirty="0">
                <a:solidFill>
                  <a:schemeClr val="tx1"/>
                </a:solidFill>
              </a:rPr>
              <a:t> domain, followed by .co or “lo” is likely a fake or deceptive site.  If you are you seeing a slightly variant version of a well-known URL, do some investigating.</a:t>
            </a:r>
          </a:p>
        </p:txBody>
      </p:sp>
    </p:spTree>
    <p:extLst>
      <p:ext uri="{BB962C8B-B14F-4D97-AF65-F5344CB8AC3E}">
        <p14:creationId xmlns:p14="http://schemas.microsoft.com/office/powerpoint/2010/main" val="16006554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F761-72BA-8D5C-0EFC-61DEF4B06486}"/>
              </a:ext>
            </a:extLst>
          </p:cNvPr>
          <p:cNvSpPr>
            <a:spLocks noGrp="1"/>
          </p:cNvSpPr>
          <p:nvPr>
            <p:ph type="title"/>
          </p:nvPr>
        </p:nvSpPr>
        <p:spPr>
          <a:xfrm>
            <a:off x="1976016" y="1291130"/>
            <a:ext cx="6260906" cy="610820"/>
          </a:xfrm>
        </p:spPr>
        <p:txBody>
          <a:bodyPr>
            <a:normAutofit fontScale="90000"/>
          </a:bodyPr>
          <a:lstStyle/>
          <a:p>
            <a:pPr algn="r"/>
            <a:r>
              <a:rPr lang="en-US" b="1" dirty="0"/>
              <a:t>Fake News and Fact Checking</a:t>
            </a:r>
          </a:p>
        </p:txBody>
      </p:sp>
      <p:sp>
        <p:nvSpPr>
          <p:cNvPr id="3" name="Content Placeholder 2">
            <a:extLst>
              <a:ext uri="{FF2B5EF4-FFF2-40B4-BE49-F238E27FC236}">
                <a16:creationId xmlns:a16="http://schemas.microsoft.com/office/drawing/2014/main" id="{956E24BE-6D7B-CB4F-BCB7-14EB0174F613}"/>
              </a:ext>
            </a:extLst>
          </p:cNvPr>
          <p:cNvSpPr>
            <a:spLocks noGrp="1"/>
          </p:cNvSpPr>
          <p:nvPr>
            <p:ph idx="1"/>
          </p:nvPr>
        </p:nvSpPr>
        <p:spPr>
          <a:xfrm>
            <a:off x="754375" y="2054655"/>
            <a:ext cx="7787955" cy="3970330"/>
          </a:xfrm>
        </p:spPr>
        <p:txBody>
          <a:bodyPr>
            <a:normAutofit fontScale="85000" lnSpcReduction="20000"/>
          </a:bodyPr>
          <a:lstStyle/>
          <a:p>
            <a:pPr marL="0" indent="0">
              <a:buNone/>
            </a:pPr>
            <a:r>
              <a:rPr lang="en-US" b="1" dirty="0">
                <a:solidFill>
                  <a:schemeClr val="tx1"/>
                </a:solidFill>
              </a:rPr>
              <a:t>Suspect the sensational </a:t>
            </a:r>
            <a:r>
              <a:rPr lang="en-US" dirty="0">
                <a:solidFill>
                  <a:schemeClr val="tx1"/>
                </a:solidFill>
              </a:rPr>
              <a:t>- When you see something posted that looks sensational, it is even more important to be skeptical. Exaggerated and provocative headlines with excessive use of capital letters or emotional language are serious red flags.</a:t>
            </a:r>
          </a:p>
          <a:p>
            <a:pPr marL="0" indent="0">
              <a:buNone/>
            </a:pPr>
            <a:endParaRPr lang="en-US" dirty="0">
              <a:solidFill>
                <a:schemeClr val="tx1"/>
              </a:solidFill>
            </a:endParaRPr>
          </a:p>
          <a:p>
            <a:pPr marL="0" indent="0">
              <a:buNone/>
            </a:pPr>
            <a:r>
              <a:rPr lang="en-US" b="1" dirty="0">
                <a:solidFill>
                  <a:schemeClr val="tx1"/>
                </a:solidFill>
              </a:rPr>
              <a:t>Judge Hard </a:t>
            </a:r>
            <a:r>
              <a:rPr lang="en-US" dirty="0">
                <a:solidFill>
                  <a:schemeClr val="tx1"/>
                </a:solidFill>
              </a:rPr>
              <a:t>- If what you're reading seems too good to be true, or too weird, or too reactionary, it probably is.</a:t>
            </a:r>
          </a:p>
          <a:p>
            <a:pPr marL="0" indent="0">
              <a:buNone/>
            </a:pPr>
            <a:endParaRPr lang="en-US" dirty="0">
              <a:solidFill>
                <a:schemeClr val="tx1"/>
              </a:solidFill>
            </a:endParaRPr>
          </a:p>
          <a:p>
            <a:pPr marL="0" indent="0">
              <a:buNone/>
            </a:pPr>
            <a:r>
              <a:rPr lang="en-US" i="1" dirty="0">
                <a:solidFill>
                  <a:schemeClr val="tx1"/>
                </a:solidFill>
              </a:rPr>
              <a:t>Read for more info: </a:t>
            </a:r>
            <a:r>
              <a:rPr lang="en-US" i="1" dirty="0">
                <a:solidFill>
                  <a:srgbClr val="0000FF"/>
                </a:solidFill>
                <a:hlinkClick r:id="rId2"/>
              </a:rPr>
              <a:t>https://utopia.ut.edu/FakeNews/factcheck - s-lg-box-13625239</a:t>
            </a:r>
            <a:endParaRPr lang="en-US" i="1" dirty="0">
              <a:solidFill>
                <a:schemeClr val="tx1"/>
              </a:solidFill>
            </a:endParaRPr>
          </a:p>
        </p:txBody>
      </p:sp>
    </p:spTree>
    <p:extLst>
      <p:ext uri="{BB962C8B-B14F-4D97-AF65-F5344CB8AC3E}">
        <p14:creationId xmlns:p14="http://schemas.microsoft.com/office/powerpoint/2010/main" val="13387196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B0F761-72BA-8D5C-0EFC-61DEF4B06486}"/>
              </a:ext>
            </a:extLst>
          </p:cNvPr>
          <p:cNvSpPr>
            <a:spLocks noGrp="1"/>
          </p:cNvSpPr>
          <p:nvPr>
            <p:ph type="title"/>
          </p:nvPr>
        </p:nvSpPr>
        <p:spPr>
          <a:xfrm>
            <a:off x="1976015" y="527605"/>
            <a:ext cx="6260906" cy="610820"/>
          </a:xfrm>
        </p:spPr>
        <p:txBody>
          <a:bodyPr>
            <a:normAutofit fontScale="90000"/>
          </a:bodyPr>
          <a:lstStyle/>
          <a:p>
            <a:pPr algn="r"/>
            <a:r>
              <a:rPr lang="en-US" b="1" dirty="0"/>
              <a:t>Plagiarism</a:t>
            </a:r>
          </a:p>
        </p:txBody>
      </p:sp>
      <p:sp>
        <p:nvSpPr>
          <p:cNvPr id="3" name="Content Placeholder 2">
            <a:extLst>
              <a:ext uri="{FF2B5EF4-FFF2-40B4-BE49-F238E27FC236}">
                <a16:creationId xmlns:a16="http://schemas.microsoft.com/office/drawing/2014/main" id="{956E24BE-6D7B-CB4F-BCB7-14EB0174F613}"/>
              </a:ext>
            </a:extLst>
          </p:cNvPr>
          <p:cNvSpPr>
            <a:spLocks noGrp="1"/>
          </p:cNvSpPr>
          <p:nvPr>
            <p:ph idx="1"/>
          </p:nvPr>
        </p:nvSpPr>
        <p:spPr>
          <a:xfrm>
            <a:off x="907079" y="1748288"/>
            <a:ext cx="7329841" cy="4581150"/>
          </a:xfrm>
        </p:spPr>
        <p:txBody>
          <a:bodyPr>
            <a:normAutofit fontScale="92500"/>
          </a:bodyPr>
          <a:lstStyle/>
          <a:p>
            <a:pPr marL="0" indent="0">
              <a:buNone/>
            </a:pPr>
            <a:r>
              <a:rPr lang="en-US" dirty="0">
                <a:solidFill>
                  <a:schemeClr val="tx1"/>
                </a:solidFill>
              </a:rPr>
              <a:t>In Media and Information Literacy (MIL), </a:t>
            </a:r>
            <a:r>
              <a:rPr lang="en-US" b="1" i="1" dirty="0">
                <a:solidFill>
                  <a:schemeClr val="tx1"/>
                </a:solidFill>
              </a:rPr>
              <a:t>plagiarism </a:t>
            </a:r>
            <a:r>
              <a:rPr lang="en-US" dirty="0">
                <a:solidFill>
                  <a:schemeClr val="tx1"/>
                </a:solidFill>
              </a:rPr>
              <a:t>is presenting someone else's words, ideas, images, or creative work as your own, covering intentional acts like direct copying and unintentional errors like poor paraphrasing, with serious academic and professional consequences, including penalties under laws like the Cybercrime Prevention Act in the Philippines if copyright is involved. It's a key ethical issue, distinct from copyright infringement, that requires citing all sources for text, media, and ideas to maintain integrity and avoid legal trouble. </a:t>
            </a:r>
          </a:p>
        </p:txBody>
      </p:sp>
    </p:spTree>
    <p:extLst>
      <p:ext uri="{BB962C8B-B14F-4D97-AF65-F5344CB8AC3E}">
        <p14:creationId xmlns:p14="http://schemas.microsoft.com/office/powerpoint/2010/main" val="126181452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rotWithShape="1">
          <a:blip r:embed="rId2"/>
          <a:srcRect l="13655" t="6481" r="13700" b="8906"/>
          <a:stretch/>
        </p:blipFill>
        <p:spPr>
          <a:xfrm>
            <a:off x="1823310" y="1901950"/>
            <a:ext cx="6051940" cy="3965065"/>
          </a:xfrm>
          <a:prstGeom prst="rect">
            <a:avLst/>
          </a:prstGeom>
        </p:spPr>
        <p:style>
          <a:lnRef idx="2">
            <a:schemeClr val="dk1"/>
          </a:lnRef>
          <a:fillRef idx="1">
            <a:schemeClr val="lt1"/>
          </a:fillRef>
          <a:effectRef idx="0">
            <a:schemeClr val="dk1"/>
          </a:effectRef>
          <a:fontRef idx="minor">
            <a:schemeClr val="dk1"/>
          </a:fontRef>
        </p:style>
      </p:pic>
    </p:spTree>
    <p:extLst>
      <p:ext uri="{BB962C8B-B14F-4D97-AF65-F5344CB8AC3E}">
        <p14:creationId xmlns:p14="http://schemas.microsoft.com/office/powerpoint/2010/main" val="17094355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61C96-353E-B2EC-9921-4FB4EA521F6F}"/>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C917F47A-F287-BDE2-007D-7AD4B3B2239A}"/>
              </a:ext>
            </a:extLst>
          </p:cNvPr>
          <p:cNvSpPr>
            <a:spLocks noGrp="1"/>
          </p:cNvSpPr>
          <p:nvPr>
            <p:ph idx="1"/>
          </p:nvPr>
        </p:nvSpPr>
        <p:spPr>
          <a:xfrm>
            <a:off x="448965" y="1749245"/>
            <a:ext cx="8246069" cy="4581150"/>
          </a:xfrm>
        </p:spPr>
        <p:txBody>
          <a:bodyPr>
            <a:normAutofit fontScale="85000" lnSpcReduction="10000"/>
          </a:bodyPr>
          <a:lstStyle/>
          <a:p>
            <a:pPr marL="0" indent="0">
              <a:buNone/>
            </a:pPr>
            <a:r>
              <a:rPr lang="en-US" b="1" i="1" dirty="0">
                <a:solidFill>
                  <a:schemeClr val="tx1"/>
                </a:solidFill>
              </a:rPr>
              <a:t>Types of Plagiarism</a:t>
            </a:r>
          </a:p>
          <a:p>
            <a:r>
              <a:rPr lang="en-US" b="1" dirty="0">
                <a:solidFill>
                  <a:schemeClr val="tx1"/>
                </a:solidFill>
              </a:rPr>
              <a:t>The Ghost Writer</a:t>
            </a:r>
            <a:r>
              <a:rPr lang="en-US" dirty="0">
                <a:solidFill>
                  <a:schemeClr val="tx1"/>
                </a:solidFill>
              </a:rPr>
              <a:t>: Submitting another's work word-for-word.</a:t>
            </a:r>
          </a:p>
          <a:p>
            <a:r>
              <a:rPr lang="en-US" b="1" dirty="0">
                <a:solidFill>
                  <a:schemeClr val="tx1"/>
                </a:solidFill>
              </a:rPr>
              <a:t>The Photocopy</a:t>
            </a:r>
            <a:r>
              <a:rPr lang="en-US" dirty="0">
                <a:solidFill>
                  <a:schemeClr val="tx1"/>
                </a:solidFill>
              </a:rPr>
              <a:t>: Copying large sections from one source without changing it.</a:t>
            </a:r>
          </a:p>
          <a:p>
            <a:r>
              <a:rPr lang="en-US" b="1" dirty="0">
                <a:solidFill>
                  <a:schemeClr val="tx1"/>
                </a:solidFill>
              </a:rPr>
              <a:t>The Potluck Paper</a:t>
            </a:r>
            <a:r>
              <a:rPr lang="en-US" dirty="0">
                <a:solidFill>
                  <a:schemeClr val="tx1"/>
                </a:solidFill>
              </a:rPr>
              <a:t>: Mixing text from several sources with minor tweaks.</a:t>
            </a:r>
          </a:p>
          <a:p>
            <a:r>
              <a:rPr lang="en-US" b="1" dirty="0">
                <a:solidFill>
                  <a:schemeClr val="tx1"/>
                </a:solidFill>
              </a:rPr>
              <a:t>The Poor Disguise</a:t>
            </a:r>
            <a:r>
              <a:rPr lang="en-US" dirty="0">
                <a:solidFill>
                  <a:schemeClr val="tx1"/>
                </a:solidFill>
              </a:rPr>
              <a:t>: Slightly changing words or phrases but keeping the original structure.</a:t>
            </a:r>
          </a:p>
          <a:p>
            <a:r>
              <a:rPr lang="en-US" b="1" dirty="0">
                <a:solidFill>
                  <a:schemeClr val="tx1"/>
                </a:solidFill>
              </a:rPr>
              <a:t>The Self-Stealer</a:t>
            </a:r>
            <a:r>
              <a:rPr lang="en-US" dirty="0">
                <a:solidFill>
                  <a:schemeClr val="tx1"/>
                </a:solidFill>
              </a:rPr>
              <a:t>: Borrowing heavily from your own previous work.</a:t>
            </a:r>
          </a:p>
          <a:p>
            <a:r>
              <a:rPr lang="en-US" b="1" dirty="0">
                <a:solidFill>
                  <a:schemeClr val="tx1"/>
                </a:solidFill>
              </a:rPr>
              <a:t>Media Plagiarism</a:t>
            </a:r>
            <a:r>
              <a:rPr lang="en-US" dirty="0">
                <a:solidFill>
                  <a:schemeClr val="tx1"/>
                </a:solidFill>
              </a:rPr>
              <a:t>: Using images, videos, or music from the web without permission or citation. </a:t>
            </a:r>
          </a:p>
        </p:txBody>
      </p:sp>
    </p:spTree>
    <p:extLst>
      <p:ext uri="{BB962C8B-B14F-4D97-AF65-F5344CB8AC3E}">
        <p14:creationId xmlns:p14="http://schemas.microsoft.com/office/powerpoint/2010/main" val="285271668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FD094-4EC1-1C94-CE65-AE6DA835F98E}"/>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FD389712-F1DD-787C-6474-4CABE9B47AC6}"/>
              </a:ext>
            </a:extLst>
          </p:cNvPr>
          <p:cNvSpPr>
            <a:spLocks noGrp="1"/>
          </p:cNvSpPr>
          <p:nvPr>
            <p:ph idx="1"/>
          </p:nvPr>
        </p:nvSpPr>
        <p:spPr>
          <a:xfrm>
            <a:off x="1059785" y="1901950"/>
            <a:ext cx="7478428" cy="4123035"/>
          </a:xfrm>
        </p:spPr>
        <p:txBody>
          <a:bodyPr/>
          <a:lstStyle/>
          <a:p>
            <a:pPr marL="0" indent="0">
              <a:buNone/>
            </a:pPr>
            <a:r>
              <a:rPr lang="en-US" b="1" i="1" dirty="0">
                <a:solidFill>
                  <a:schemeClr val="tx1"/>
                </a:solidFill>
              </a:rPr>
              <a:t>Why It's a Problem (Consequences)</a:t>
            </a:r>
          </a:p>
          <a:p>
            <a:r>
              <a:rPr lang="en-US" b="1" dirty="0">
                <a:solidFill>
                  <a:schemeClr val="tx1"/>
                </a:solidFill>
              </a:rPr>
              <a:t>Academic</a:t>
            </a:r>
            <a:r>
              <a:rPr lang="en-US" dirty="0">
                <a:solidFill>
                  <a:schemeClr val="tx1"/>
                </a:solidFill>
              </a:rPr>
              <a:t>: Failing grades, suspension, expulsion.</a:t>
            </a:r>
          </a:p>
          <a:p>
            <a:r>
              <a:rPr lang="en-US" b="1" dirty="0">
                <a:solidFill>
                  <a:schemeClr val="tx1"/>
                </a:solidFill>
              </a:rPr>
              <a:t>Professional</a:t>
            </a:r>
            <a:r>
              <a:rPr lang="en-US" dirty="0">
                <a:solidFill>
                  <a:schemeClr val="tx1"/>
                </a:solidFill>
              </a:rPr>
              <a:t>: Damaged reputation, job loss, legal action.</a:t>
            </a:r>
          </a:p>
          <a:p>
            <a:r>
              <a:rPr lang="en-US" b="1" dirty="0">
                <a:solidFill>
                  <a:schemeClr val="tx1"/>
                </a:solidFill>
              </a:rPr>
              <a:t>Legal (Philippines): </a:t>
            </a:r>
            <a:r>
              <a:rPr lang="en-US" dirty="0">
                <a:solidFill>
                  <a:schemeClr val="tx1"/>
                </a:solidFill>
              </a:rPr>
              <a:t>Can fall under copyright infringement, leading to imprisonment and fines under the Cybercrime Prevention Act. </a:t>
            </a:r>
          </a:p>
        </p:txBody>
      </p:sp>
    </p:spTree>
    <p:extLst>
      <p:ext uri="{BB962C8B-B14F-4D97-AF65-F5344CB8AC3E}">
        <p14:creationId xmlns:p14="http://schemas.microsoft.com/office/powerpoint/2010/main" val="28057099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FD094-4EC1-1C94-CE65-AE6DA835F98E}"/>
              </a:ext>
            </a:extLst>
          </p:cNvPr>
          <p:cNvSpPr>
            <a:spLocks noGrp="1"/>
          </p:cNvSpPr>
          <p:nvPr>
            <p:ph type="title"/>
          </p:nvPr>
        </p:nvSpPr>
        <p:spPr/>
        <p:txBody>
          <a:bodyPr>
            <a:normAutofit fontScale="90000"/>
          </a:bodyPr>
          <a:lstStyle/>
          <a:p>
            <a:endParaRPr lang="en-US"/>
          </a:p>
        </p:txBody>
      </p:sp>
      <p:sp>
        <p:nvSpPr>
          <p:cNvPr id="3" name="Content Placeholder 2">
            <a:extLst>
              <a:ext uri="{FF2B5EF4-FFF2-40B4-BE49-F238E27FC236}">
                <a16:creationId xmlns:a16="http://schemas.microsoft.com/office/drawing/2014/main" id="{FD389712-F1DD-787C-6474-4CABE9B47AC6}"/>
              </a:ext>
            </a:extLst>
          </p:cNvPr>
          <p:cNvSpPr>
            <a:spLocks noGrp="1"/>
          </p:cNvSpPr>
          <p:nvPr>
            <p:ph idx="1"/>
          </p:nvPr>
        </p:nvSpPr>
        <p:spPr>
          <a:xfrm>
            <a:off x="1059785" y="1901950"/>
            <a:ext cx="7478428" cy="4123035"/>
          </a:xfrm>
        </p:spPr>
        <p:txBody>
          <a:bodyPr>
            <a:normAutofit lnSpcReduction="10000"/>
          </a:bodyPr>
          <a:lstStyle/>
          <a:p>
            <a:pPr marL="0" indent="0">
              <a:buNone/>
            </a:pPr>
            <a:r>
              <a:rPr lang="en-US" b="1" i="1" dirty="0">
                <a:solidFill>
                  <a:schemeClr val="tx1"/>
                </a:solidFill>
              </a:rPr>
              <a:t>How to Avoid It (Prevention)</a:t>
            </a:r>
          </a:p>
          <a:p>
            <a:r>
              <a:rPr lang="en-US" b="1" dirty="0">
                <a:solidFill>
                  <a:schemeClr val="tx1"/>
                </a:solidFill>
              </a:rPr>
              <a:t>Cite Everything: </a:t>
            </a:r>
            <a:r>
              <a:rPr lang="en-US" dirty="0">
                <a:solidFill>
                  <a:schemeClr val="tx1"/>
                </a:solidFill>
              </a:rPr>
              <a:t>Always credit the original source for words, ideas, and media.</a:t>
            </a:r>
          </a:p>
          <a:p>
            <a:r>
              <a:rPr lang="en-US" b="1" dirty="0">
                <a:solidFill>
                  <a:schemeClr val="tx1"/>
                </a:solidFill>
              </a:rPr>
              <a:t>Use Your Own Words: </a:t>
            </a:r>
            <a:r>
              <a:rPr lang="en-US" dirty="0">
                <a:solidFill>
                  <a:schemeClr val="tx1"/>
                </a:solidFill>
              </a:rPr>
              <a:t>Paraphrase properly, not just by rearranging words.</a:t>
            </a:r>
          </a:p>
          <a:p>
            <a:r>
              <a:rPr lang="en-US" b="1" dirty="0">
                <a:solidFill>
                  <a:schemeClr val="tx1"/>
                </a:solidFill>
              </a:rPr>
              <a:t>Document Sources: </a:t>
            </a:r>
            <a:r>
              <a:rPr lang="en-US" dirty="0">
                <a:solidFill>
                  <a:schemeClr val="tx1"/>
                </a:solidFill>
              </a:rPr>
              <a:t>Keep track of where you find information.</a:t>
            </a:r>
          </a:p>
          <a:p>
            <a:r>
              <a:rPr lang="en-US" b="1" dirty="0">
                <a:solidFill>
                  <a:schemeClr val="tx1"/>
                </a:solidFill>
              </a:rPr>
              <a:t>Understand Fair Use: </a:t>
            </a:r>
            <a:r>
              <a:rPr lang="en-US" dirty="0">
                <a:solidFill>
                  <a:schemeClr val="tx1"/>
                </a:solidFill>
              </a:rPr>
              <a:t>Know when you can use material without permission. </a:t>
            </a:r>
          </a:p>
        </p:txBody>
      </p:sp>
    </p:spTree>
    <p:extLst>
      <p:ext uri="{BB962C8B-B14F-4D97-AF65-F5344CB8AC3E}">
        <p14:creationId xmlns:p14="http://schemas.microsoft.com/office/powerpoint/2010/main" val="395747927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EAC716-C4B4-279B-9F1E-249768B47595}"/>
              </a:ext>
            </a:extLst>
          </p:cNvPr>
          <p:cNvSpPr>
            <a:spLocks noGrp="1"/>
          </p:cNvSpPr>
          <p:nvPr>
            <p:ph type="title"/>
          </p:nvPr>
        </p:nvSpPr>
        <p:spPr>
          <a:xfrm>
            <a:off x="1670605" y="1596540"/>
            <a:ext cx="7016195" cy="610820"/>
          </a:xfrm>
        </p:spPr>
        <p:txBody>
          <a:bodyPr>
            <a:normAutofit fontScale="90000"/>
          </a:bodyPr>
          <a:lstStyle/>
          <a:p>
            <a:pPr algn="r"/>
            <a:r>
              <a:rPr lang="en-US" b="1" dirty="0"/>
              <a:t>Social Media security and privacy</a:t>
            </a:r>
          </a:p>
        </p:txBody>
      </p:sp>
      <p:sp>
        <p:nvSpPr>
          <p:cNvPr id="3" name="Content Placeholder 2">
            <a:extLst>
              <a:ext uri="{FF2B5EF4-FFF2-40B4-BE49-F238E27FC236}">
                <a16:creationId xmlns:a16="http://schemas.microsoft.com/office/drawing/2014/main" id="{17EA8F82-8B2E-66BD-8627-DDF598F6DEB1}"/>
              </a:ext>
            </a:extLst>
          </p:cNvPr>
          <p:cNvSpPr>
            <a:spLocks noGrp="1"/>
          </p:cNvSpPr>
          <p:nvPr>
            <p:ph idx="1"/>
          </p:nvPr>
        </p:nvSpPr>
        <p:spPr>
          <a:xfrm>
            <a:off x="601670" y="2360065"/>
            <a:ext cx="8085130" cy="3970330"/>
          </a:xfrm>
        </p:spPr>
        <p:txBody>
          <a:bodyPr>
            <a:normAutofit fontScale="92500" lnSpcReduction="20000"/>
          </a:bodyPr>
          <a:lstStyle/>
          <a:p>
            <a:pPr marL="0" indent="0">
              <a:buNone/>
            </a:pPr>
            <a:r>
              <a:rPr lang="en-US" dirty="0">
                <a:solidFill>
                  <a:schemeClr val="tx1"/>
                </a:solidFill>
              </a:rPr>
              <a:t>Social media security and privacy involve protecting your personal data from unauthorized access and misuse, as platforms collect vast amounts of info (posts, location, interests) that can be vulnerable to breaches, scams, identity theft, and oversharing risks. </a:t>
            </a:r>
          </a:p>
          <a:p>
            <a:pPr marL="0" indent="0">
              <a:buNone/>
            </a:pPr>
            <a:endParaRPr lang="en-US" dirty="0">
              <a:solidFill>
                <a:schemeClr val="tx1"/>
              </a:solidFill>
            </a:endParaRPr>
          </a:p>
          <a:p>
            <a:pPr marL="0" indent="0">
              <a:buNone/>
            </a:pPr>
            <a:r>
              <a:rPr lang="en-US" dirty="0">
                <a:solidFill>
                  <a:schemeClr val="tx1"/>
                </a:solidFill>
              </a:rPr>
              <a:t>Key protections include strong, unique passwords, two-factor authentication (2FA), strict privacy settings (limiting audience), being cautious about links/location sharing, and avoiding posting sensitive IDs (passports, bank details) to prevent fraud and stalking. (</a:t>
            </a:r>
            <a:r>
              <a:rPr lang="en-US">
                <a:solidFill>
                  <a:schemeClr val="tx1"/>
                </a:solidFill>
              </a:rPr>
              <a:t>Online resources)</a:t>
            </a:r>
            <a:endParaRPr lang="en-US" dirty="0">
              <a:solidFill>
                <a:schemeClr val="tx1"/>
              </a:solidFill>
            </a:endParaRPr>
          </a:p>
        </p:txBody>
      </p:sp>
    </p:spTree>
    <p:extLst>
      <p:ext uri="{BB962C8B-B14F-4D97-AF65-F5344CB8AC3E}">
        <p14:creationId xmlns:p14="http://schemas.microsoft.com/office/powerpoint/2010/main" val="1990987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62609" y="985720"/>
            <a:ext cx="7016195" cy="610820"/>
          </a:xfrm>
        </p:spPr>
        <p:txBody>
          <a:bodyPr>
            <a:normAutofit fontScale="90000"/>
          </a:bodyPr>
          <a:lstStyle/>
          <a:p>
            <a:pPr algn="r"/>
            <a:r>
              <a:rPr lang="en-US" b="1" dirty="0"/>
              <a:t>DepEd Video Lessons</a:t>
            </a:r>
          </a:p>
        </p:txBody>
      </p:sp>
      <p:sp>
        <p:nvSpPr>
          <p:cNvPr id="3" name="Content Placeholder 2"/>
          <p:cNvSpPr>
            <a:spLocks noGrp="1"/>
          </p:cNvSpPr>
          <p:nvPr>
            <p:ph idx="1"/>
          </p:nvPr>
        </p:nvSpPr>
        <p:spPr>
          <a:xfrm>
            <a:off x="762610" y="1749245"/>
            <a:ext cx="7627015" cy="4581150"/>
          </a:xfrm>
        </p:spPr>
        <p:txBody>
          <a:bodyPr>
            <a:normAutofit/>
          </a:bodyPr>
          <a:lstStyle/>
          <a:p>
            <a:pPr>
              <a:buClr>
                <a:schemeClr val="accent6">
                  <a:lumMod val="75000"/>
                </a:schemeClr>
              </a:buClr>
            </a:pPr>
            <a:r>
              <a:rPr lang="en-US" sz="3200" dirty="0">
                <a:solidFill>
                  <a:schemeClr val="tx1"/>
                </a:solidFill>
                <a:hlinkClick r:id="rId2"/>
              </a:rPr>
              <a:t>https://youtube.com/playlist?list=PLeSycEi09hln3E_J9Mhu1kve5duqQEu8A&amp;si=TG7mWiFHJXkM0YNT</a:t>
            </a:r>
            <a:endParaRPr lang="en-US" sz="3200" dirty="0">
              <a:solidFill>
                <a:schemeClr val="tx1"/>
              </a:solidFill>
            </a:endParaRPr>
          </a:p>
          <a:p>
            <a:pPr>
              <a:buClr>
                <a:schemeClr val="accent6">
                  <a:lumMod val="75000"/>
                </a:schemeClr>
              </a:buClr>
            </a:pPr>
            <a:endParaRPr lang="en-US" sz="3200" dirty="0">
              <a:solidFill>
                <a:schemeClr val="tx1"/>
              </a:solidFill>
            </a:endParaRPr>
          </a:p>
          <a:p>
            <a:pPr>
              <a:buClr>
                <a:schemeClr val="accent6">
                  <a:lumMod val="75000"/>
                </a:schemeClr>
              </a:buClr>
            </a:pPr>
            <a:r>
              <a:rPr lang="en-US" sz="3200" dirty="0">
                <a:solidFill>
                  <a:schemeClr val="tx1"/>
                </a:solidFill>
                <a:hlinkClick r:id="rId3"/>
              </a:rPr>
              <a:t>https://</a:t>
            </a:r>
            <a:r>
              <a:rPr lang="en-US" sz="3200" dirty="0" err="1">
                <a:solidFill>
                  <a:schemeClr val="tx1"/>
                </a:solidFill>
                <a:hlinkClick r:id="rId3"/>
              </a:rPr>
              <a:t>www.youtube.com</a:t>
            </a:r>
            <a:r>
              <a:rPr lang="en-US" sz="3200" dirty="0">
                <a:solidFill>
                  <a:schemeClr val="tx1"/>
                </a:solidFill>
                <a:hlinkClick r:id="rId3"/>
              </a:rPr>
              <a:t>/</a:t>
            </a:r>
            <a:r>
              <a:rPr lang="en-US" sz="3200" dirty="0" err="1">
                <a:solidFill>
                  <a:schemeClr val="tx1"/>
                </a:solidFill>
                <a:hlinkClick r:id="rId3"/>
              </a:rPr>
              <a:t>watch?v</a:t>
            </a:r>
            <a:r>
              <a:rPr lang="en-US" sz="3200" dirty="0">
                <a:solidFill>
                  <a:schemeClr val="tx1"/>
                </a:solidFill>
                <a:hlinkClick r:id="rId3"/>
              </a:rPr>
              <a:t>=HzP6IDTMNEA&amp;list=PLymjw6LZq7owvLWOiDpyk-ilVPrOh19ju</a:t>
            </a:r>
            <a:endParaRPr lang="en-US" sz="3200" dirty="0">
              <a:solidFill>
                <a:schemeClr val="tx1"/>
              </a:solidFill>
            </a:endParaRPr>
          </a:p>
        </p:txBody>
      </p:sp>
    </p:spTree>
    <p:extLst>
      <p:ext uri="{BB962C8B-B14F-4D97-AF65-F5344CB8AC3E}">
        <p14:creationId xmlns:p14="http://schemas.microsoft.com/office/powerpoint/2010/main" val="417078371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1605</Words>
  <Application>Microsoft Macintosh PowerPoint</Application>
  <PresentationFormat>On-screen Show (4:3)</PresentationFormat>
  <Paragraphs>122</Paragraphs>
  <Slides>26</Slides>
  <Notes>10</Notes>
  <HiddenSlides>0</HiddenSlides>
  <MMClips>2</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Adobe Garamond Pro Bold</vt:lpstr>
      <vt:lpstr>Arial</vt:lpstr>
      <vt:lpstr>Calibri</vt:lpstr>
      <vt:lpstr>Office Theme</vt:lpstr>
      <vt:lpstr>MEDIA AND INFORMATION  LITERACY (MIL)</vt:lpstr>
      <vt:lpstr>MEDIA AND INFORMATION LITERACY (MIL)</vt:lpstr>
      <vt:lpstr>PowerPoint Presentation</vt:lpstr>
      <vt:lpstr>PowerPoint Presentation</vt:lpstr>
      <vt:lpstr>PowerPoint Presentation</vt:lpstr>
      <vt:lpstr>PowerPoint Presentation</vt:lpstr>
      <vt:lpstr>VIDEO PRESENTATION</vt:lpstr>
      <vt:lpstr>PowerPoint Presentation</vt:lpstr>
      <vt:lpstr>PowerPoint Presentation</vt:lpstr>
      <vt:lpstr>PowerPoint Presentation</vt:lpstr>
      <vt:lpstr>Importance of Media and Information Literacy</vt:lpstr>
      <vt:lpstr>Importance of Media and Information Literacy</vt:lpstr>
      <vt:lpstr>Importance of Media and Information Literacy</vt:lpstr>
      <vt:lpstr>Importance of Media and Information Literacy</vt:lpstr>
      <vt:lpstr>Fake News and Fact Checking</vt:lpstr>
      <vt:lpstr>Fake News and Fact Checking</vt:lpstr>
      <vt:lpstr>Fake News and Fact Checking</vt:lpstr>
      <vt:lpstr>Fake News and Fact Checking</vt:lpstr>
      <vt:lpstr>Fake News and Fact Checking</vt:lpstr>
      <vt:lpstr>Plagiarism</vt:lpstr>
      <vt:lpstr>PowerPoint Presentation</vt:lpstr>
      <vt:lpstr>PowerPoint Presentation</vt:lpstr>
      <vt:lpstr>PowerPoint Presentation</vt:lpstr>
      <vt:lpstr>PowerPoint Presentation</vt:lpstr>
      <vt:lpstr>Social Media security and privacy</vt:lpstr>
      <vt:lpstr>DepEd Video Lessons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2016-09-17T15:24:09Z</dcterms:created>
  <dcterms:modified xsi:type="dcterms:W3CDTF">2026-01-09T21:38:07Z</dcterms:modified>
</cp:coreProperties>
</file>