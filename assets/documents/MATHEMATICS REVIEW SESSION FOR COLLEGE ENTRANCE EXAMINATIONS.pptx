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handoutMasterIdLst>
    <p:handoutMasterId r:id="rId32"/>
  </p:handoutMasterIdLst>
  <p:sldIdLst>
    <p:sldId id="256" r:id="rId2"/>
    <p:sldId id="273" r:id="rId3"/>
    <p:sldId id="274" r:id="rId4"/>
    <p:sldId id="275" r:id="rId5"/>
    <p:sldId id="276" r:id="rId6"/>
    <p:sldId id="287" r:id="rId7"/>
    <p:sldId id="277" r:id="rId8"/>
    <p:sldId id="278" r:id="rId9"/>
    <p:sldId id="281" r:id="rId10"/>
    <p:sldId id="283" r:id="rId11"/>
    <p:sldId id="284" r:id="rId12"/>
    <p:sldId id="285" r:id="rId13"/>
    <p:sldId id="286" r:id="rId14"/>
    <p:sldId id="258" r:id="rId15"/>
    <p:sldId id="288" r:id="rId16"/>
    <p:sldId id="282" r:id="rId17"/>
    <p:sldId id="280" r:id="rId18"/>
    <p:sldId id="290" r:id="rId19"/>
    <p:sldId id="291" r:id="rId20"/>
    <p:sldId id="295" r:id="rId21"/>
    <p:sldId id="296" r:id="rId22"/>
    <p:sldId id="298" r:id="rId23"/>
    <p:sldId id="299" r:id="rId24"/>
    <p:sldId id="301" r:id="rId25"/>
    <p:sldId id="289" r:id="rId26"/>
    <p:sldId id="300" r:id="rId27"/>
    <p:sldId id="297" r:id="rId28"/>
    <p:sldId id="279" r:id="rId29"/>
    <p:sldId id="294" r:id="rId3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68" d="100"/>
          <a:sy n="68" d="100"/>
        </p:scale>
        <p:origin x="84" y="594"/>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1/16/2026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1/16/2026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412"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2C6F8EA-316C-41DE-B9A4-EDCC3A85ED9A}" type="datetimeFigureOut">
              <a:rPr lang="en-US"/>
              <a:t>1/16/2026</a:t>
            </a:fld>
            <a:endParaRPr dirty="0"/>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0" name="Rectangle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4" name="Rectangle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1" name="Rectangle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22" name="Straight Connector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cxnSp>
        <p:nvCxnSpPr>
          <p:cNvPr id="23" name="Straight Connector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7" name="Rectangle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8" name="Rectangle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9" name="Rectangle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0" name="Rectangle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1" name="Straight Connector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3" name="Straight Connector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98613" y="1600201"/>
            <a:ext cx="8283272" cy="2654064"/>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98613"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1/16/2026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571"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93436" y="1600200"/>
            <a:ext cx="4814586"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61651" y="1600200"/>
            <a:ext cx="4814586" cy="4572000"/>
          </a:xfrm>
        </p:spPr>
        <p:txBody>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C2C6F8EA-316C-41DE-B9A4-EDCC3A85ED9A}" type="datetimeFigureOut">
              <a:rPr lang="en-US"/>
              <a:t>1/16/2026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93436"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93436" y="2514706"/>
            <a:ext cx="4814586" cy="365749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7349"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7349" y="2514600"/>
            <a:ext cx="4818888" cy="365556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C2C6F8EA-316C-41DE-B9A4-EDCC3A85ED9A}" type="datetimeFigureOut">
              <a:rPr lang="en-US"/>
              <a:t>1/16/2026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C2C6F8EA-316C-41DE-B9A4-EDCC3A85ED9A}" type="datetimeFigureOut">
              <a:rPr lang="en-US"/>
              <a:t>1/16/2026</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6" name="Rectangle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7" name="Straight Connector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Date Placeholder 1"/>
          <p:cNvSpPr>
            <a:spLocks noGrp="1"/>
          </p:cNvSpPr>
          <p:nvPr>
            <p:ph type="dt" sz="half" idx="10"/>
          </p:nvPr>
        </p:nvSpPr>
        <p:spPr/>
        <p:txBody>
          <a:bodyPr/>
          <a:lstStyle/>
          <a:p>
            <a:fld id="{C2C6F8EA-316C-41DE-B9A4-EDCC3A85ED9A}" type="datetimeFigureOut">
              <a:rPr lang="en-US"/>
              <a:t>1/16/2026</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10" name="Straight Connector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180251" y="482600"/>
            <a:ext cx="6195986" cy="56896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a:t>1/16/2026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1">
                    <a:lumMod val="75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1/16/2026</a:t>
            </a:fld>
            <a:endParaRPr lang="en-US" dirty="0"/>
          </a:p>
        </p:txBody>
      </p:sp>
      <p:sp>
        <p:nvSpPr>
          <p:cNvPr id="6" name="Footer Placeholder 5"/>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7" name="Slide Number Placeholder 6"/>
          <p:cNvSpPr>
            <a:spLocks noGrp="1"/>
          </p:cNvSpPr>
          <p:nvPr>
            <p:ph type="sldNum" sz="quarter" idx="12"/>
          </p:nvPr>
        </p:nvSpPr>
        <p:spPr/>
        <p:txBody>
          <a:bodyPr/>
          <a:lstStyle>
            <a:lvl1pPr>
              <a:defRPr baseline="0">
                <a:solidFill>
                  <a:schemeClr val="tx2"/>
                </a:solidFill>
              </a:defRPr>
            </a:lvl1pPr>
          </a:lstStyle>
          <a:p>
            <a:fld id="{7DC1BBB0-96F0-4077-A278-0F3FB5C104D3}" type="slidenum">
              <a:rPr lang="en-US" smtClean="0"/>
              <a:pPr/>
              <a:t>‹#›</a:t>
            </a:fld>
            <a:endParaRPr lang="en-US"/>
          </a:p>
        </p:txBody>
      </p:sp>
      <p:cxnSp>
        <p:nvCxnSpPr>
          <p:cNvPr id="10" name="Straight Connector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1/16/2026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4" name="Straight Connector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98613" y="685800"/>
            <a:ext cx="784859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1/16/2026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6" name="Straight Connector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fld id="{C2C6F8EA-316C-41DE-B9A4-EDCC3A85ED9A}" type="datetimeFigureOut">
              <a:rPr lang="en-US" smtClean="0"/>
              <a:pPr/>
              <a:t>1/16/2026</a:t>
            </a:fld>
            <a:endParaRPr lang="en-US" dirty="0"/>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1612" y="1981200"/>
            <a:ext cx="8329031" cy="1600201"/>
          </a:xfrm>
        </p:spPr>
        <p:txBody>
          <a:bodyPr/>
          <a:lstStyle/>
          <a:p>
            <a:pPr algn="ctr"/>
            <a:r>
              <a:rPr lang="en-US" dirty="0">
                <a:latin typeface="Cambria" panose="02040503050406030204" pitchFamily="18" charset="0"/>
                <a:ea typeface="Cambria" panose="02040503050406030204" pitchFamily="18" charset="0"/>
              </a:rPr>
              <a:t>MATHEMATICS REVIEW SESSION FOR COLLEGE ENTRANCE EXAMINATIONS</a:t>
            </a:r>
          </a:p>
        </p:txBody>
      </p:sp>
      <p:sp>
        <p:nvSpPr>
          <p:cNvPr id="3" name="Subtitle 2"/>
          <p:cNvSpPr>
            <a:spLocks noGrp="1"/>
          </p:cNvSpPr>
          <p:nvPr>
            <p:ph type="subTitle" idx="1"/>
          </p:nvPr>
        </p:nvSpPr>
        <p:spPr>
          <a:xfrm>
            <a:off x="3147906" y="3962400"/>
            <a:ext cx="7516442" cy="1116085"/>
          </a:xfrm>
        </p:spPr>
        <p:txBody>
          <a:bodyPr/>
          <a:lstStyle/>
          <a:p>
            <a:pPr algn="ctr"/>
            <a:r>
              <a:rPr lang="en-US" dirty="0">
                <a:latin typeface="Bookman Old Style" panose="02050604050505020204" pitchFamily="18" charset="0"/>
                <a:ea typeface="Cascadia Mono SemiLight" panose="020B0609020000020004" pitchFamily="49" charset="0"/>
                <a:cs typeface="Cascadia Mono SemiLight" panose="020B0609020000020004" pitchFamily="49" charset="0"/>
              </a:rPr>
              <a:t>January 17, 2025</a:t>
            </a:r>
          </a:p>
          <a:p>
            <a:pPr algn="ctr"/>
            <a:r>
              <a:rPr lang="en-US" dirty="0" err="1">
                <a:latin typeface="Bookman Old Style" panose="02050604050505020204" pitchFamily="18" charset="0"/>
                <a:ea typeface="Cascadia Mono SemiLight" panose="020B0609020000020004" pitchFamily="49" charset="0"/>
                <a:cs typeface="Cascadia Mono SemiLight" panose="020B0609020000020004" pitchFamily="49" charset="0"/>
              </a:rPr>
              <a:t>Culiat</a:t>
            </a:r>
            <a:r>
              <a:rPr lang="en-US" dirty="0">
                <a:latin typeface="Bookman Old Style" panose="02050604050505020204" pitchFamily="18" charset="0"/>
                <a:ea typeface="Cascadia Mono SemiLight" panose="020B0609020000020004" pitchFamily="49" charset="0"/>
                <a:cs typeface="Cascadia Mono SemiLight" panose="020B0609020000020004" pitchFamily="49" charset="0"/>
              </a:rPr>
              <a:t> High School</a:t>
            </a:r>
          </a:p>
        </p:txBody>
      </p:sp>
      <p:sp>
        <p:nvSpPr>
          <p:cNvPr id="4" name="Subtitle 2">
            <a:extLst>
              <a:ext uri="{FF2B5EF4-FFF2-40B4-BE49-F238E27FC236}">
                <a16:creationId xmlns:a16="http://schemas.microsoft.com/office/drawing/2014/main" id="{F285E314-97BF-0704-F990-5C722E94A8B0}"/>
              </a:ext>
            </a:extLst>
          </p:cNvPr>
          <p:cNvSpPr txBox="1">
            <a:spLocks/>
          </p:cNvSpPr>
          <p:nvPr/>
        </p:nvSpPr>
        <p:spPr>
          <a:xfrm>
            <a:off x="1827212" y="5638800"/>
            <a:ext cx="7239000" cy="6588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Font typeface="Euphemia" pitchFamily="34" charset="0"/>
              <a:buNone/>
              <a:defRPr sz="32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Euphemia"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600"/>
              </a:spcBef>
              <a:buFont typeface="Euphemia"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Font typeface="Arial"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Font typeface="Euphemia"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Font typeface="Euphemia" pitchFamily="34" charset="0"/>
              <a:buNone/>
              <a:defRPr sz="1800" kern="1200" baseline="0">
                <a:solidFill>
                  <a:schemeClr val="tx1">
                    <a:tint val="75000"/>
                  </a:schemeClr>
                </a:solidFill>
                <a:latin typeface="+mn-lt"/>
                <a:ea typeface="+mn-ea"/>
                <a:cs typeface="+mn-cs"/>
              </a:defRPr>
            </a:lvl9pPr>
          </a:lstStyle>
          <a:p>
            <a:r>
              <a:rPr lang="en-US" sz="2000" dirty="0">
                <a:latin typeface="Bookman Old Style" panose="02050604050505020204" pitchFamily="18" charset="0"/>
                <a:ea typeface="Cascadia Mono SemiLight" panose="020B0609020000020004" pitchFamily="49" charset="0"/>
                <a:cs typeface="Cascadia Mono SemiLight" panose="020B0609020000020004" pitchFamily="49" charset="0"/>
              </a:rPr>
              <a:t>Achilles L. Untalasco</a:t>
            </a:r>
          </a:p>
          <a:p>
            <a:r>
              <a:rPr lang="en-US" sz="2000" dirty="0">
                <a:latin typeface="Bookman Old Style" panose="02050604050505020204" pitchFamily="18" charset="0"/>
                <a:ea typeface="Cascadia Mono SemiLight" panose="020B0609020000020004" pitchFamily="49" charset="0"/>
                <a:cs typeface="Cascadia Mono SemiLight" panose="020B0609020000020004" pitchFamily="49" charset="0"/>
              </a:rPr>
              <a:t>Lecturer</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5117-09A5-3634-4FCB-1BC1CD12A9CF}"/>
              </a:ext>
            </a:extLst>
          </p:cNvPr>
          <p:cNvSpPr>
            <a:spLocks noGrp="1"/>
          </p:cNvSpPr>
          <p:nvPr>
            <p:ph type="title"/>
          </p:nvPr>
        </p:nvSpPr>
        <p:spPr>
          <a:xfrm>
            <a:off x="1593436" y="177800"/>
            <a:ext cx="9782801" cy="1239837"/>
          </a:xfrm>
        </p:spPr>
        <p:txBody>
          <a:bodyPr anchor="b">
            <a:normAutofit/>
          </a:bodyPr>
          <a:lstStyle/>
          <a:p>
            <a:r>
              <a:rPr lang="en-US"/>
              <a:t>Effective ways to learn mathematics at home</a:t>
            </a:r>
          </a:p>
        </p:txBody>
      </p:sp>
      <p:sp>
        <p:nvSpPr>
          <p:cNvPr id="3" name="Content Placeholder 2">
            <a:extLst>
              <a:ext uri="{FF2B5EF4-FFF2-40B4-BE49-F238E27FC236}">
                <a16:creationId xmlns:a16="http://schemas.microsoft.com/office/drawing/2014/main" id="{A73C447F-31A1-4EF3-5843-8F58AD4D765D}"/>
              </a:ext>
            </a:extLst>
          </p:cNvPr>
          <p:cNvSpPr>
            <a:spLocks noGrp="1"/>
          </p:cNvSpPr>
          <p:nvPr>
            <p:ph sz="half" idx="1"/>
          </p:nvPr>
        </p:nvSpPr>
        <p:spPr>
          <a:xfrm>
            <a:off x="1593436" y="1600200"/>
            <a:ext cx="5567776" cy="4572000"/>
          </a:xfrm>
        </p:spPr>
        <p:txBody>
          <a:bodyPr>
            <a:normAutofit fontScale="92500" lnSpcReduction="10000"/>
          </a:bodyPr>
          <a:lstStyle/>
          <a:p>
            <a:pPr marL="0" indent="0">
              <a:buNone/>
            </a:pPr>
            <a:r>
              <a:rPr lang="en-US" sz="3000" dirty="0"/>
              <a:t>✔ Study examples before solving independently.</a:t>
            </a:r>
            <a:br>
              <a:rPr lang="en-US" sz="3000" dirty="0"/>
            </a:br>
            <a:r>
              <a:rPr lang="en-US" sz="3000" dirty="0"/>
              <a:t>✔ Space out math study sessions. (revisit the topic multiple times).</a:t>
            </a:r>
            <a:br>
              <a:rPr lang="en-US" sz="3000" dirty="0"/>
            </a:br>
            <a:r>
              <a:rPr lang="en-US" sz="3000" dirty="0"/>
              <a:t>✔ Mix problem types (don’t block by topic).</a:t>
            </a:r>
            <a:br>
              <a:rPr lang="en-US" sz="3000" dirty="0"/>
            </a:br>
            <a:r>
              <a:rPr lang="en-US" sz="3000" dirty="0"/>
              <a:t>✔ Think out loud.</a:t>
            </a:r>
            <a:br>
              <a:rPr lang="en-US" sz="3000" dirty="0"/>
            </a:br>
            <a:r>
              <a:rPr lang="en-US" sz="3000" dirty="0"/>
              <a:t>✔ Use physical/visual models for tough concepts.</a:t>
            </a:r>
            <a:br>
              <a:rPr lang="en-US" sz="3000" dirty="0"/>
            </a:br>
            <a:r>
              <a:rPr lang="en-US" sz="3000" dirty="0"/>
              <a:t>✔ Reflect on errors — don’t just correct them.</a:t>
            </a:r>
          </a:p>
          <a:p>
            <a:pPr marL="0" indent="0">
              <a:buNone/>
            </a:pPr>
            <a:endParaRPr lang="en-US" sz="2600" dirty="0"/>
          </a:p>
        </p:txBody>
      </p:sp>
      <p:pic>
        <p:nvPicPr>
          <p:cNvPr id="2050" name="Picture 2" descr="One Punch Man Recap: Episode 7 “The ...">
            <a:extLst>
              <a:ext uri="{FF2B5EF4-FFF2-40B4-BE49-F238E27FC236}">
                <a16:creationId xmlns:a16="http://schemas.microsoft.com/office/drawing/2014/main" id="{FBB94485-169D-A098-7D52-8EF79157E0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426" t="1" r="37746" b="-2"/>
          <a:stretch>
            <a:fillRect/>
          </a:stretch>
        </p:blipFill>
        <p:spPr bwMode="auto">
          <a:xfrm>
            <a:off x="7389811" y="1600200"/>
            <a:ext cx="3986425" cy="4572000"/>
          </a:xfrm>
          <a:prstGeom prst="rect">
            <a:avLst/>
          </a:prstGeom>
          <a:solidFill>
            <a:srgbClr val="FFFFFF"/>
          </a:solidFill>
        </p:spPr>
      </p:pic>
    </p:spTree>
    <p:extLst>
      <p:ext uri="{BB962C8B-B14F-4D97-AF65-F5344CB8AC3E}">
        <p14:creationId xmlns:p14="http://schemas.microsoft.com/office/powerpoint/2010/main" val="3406896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F2F7-DE08-516E-1221-0296941BBD35}"/>
              </a:ext>
            </a:extLst>
          </p:cNvPr>
          <p:cNvSpPr>
            <a:spLocks noGrp="1"/>
          </p:cNvSpPr>
          <p:nvPr>
            <p:ph type="title"/>
          </p:nvPr>
        </p:nvSpPr>
        <p:spPr/>
        <p:txBody>
          <a:bodyPr/>
          <a:lstStyle/>
          <a:p>
            <a:pPr algn="ctr"/>
            <a:r>
              <a:rPr lang="en-US" dirty="0">
                <a:latin typeface="Bookman Old Style" panose="02050604050505020204" pitchFamily="18" charset="0"/>
              </a:rPr>
              <a:t>Practical tips for answering math problems during an examination.</a:t>
            </a:r>
          </a:p>
        </p:txBody>
      </p:sp>
      <p:sp>
        <p:nvSpPr>
          <p:cNvPr id="3" name="Content Placeholder 2">
            <a:extLst>
              <a:ext uri="{FF2B5EF4-FFF2-40B4-BE49-F238E27FC236}">
                <a16:creationId xmlns:a16="http://schemas.microsoft.com/office/drawing/2014/main" id="{05735581-BBEE-1346-9874-314EEC080C4F}"/>
              </a:ext>
            </a:extLst>
          </p:cNvPr>
          <p:cNvSpPr>
            <a:spLocks noGrp="1"/>
          </p:cNvSpPr>
          <p:nvPr>
            <p:ph idx="1"/>
          </p:nvPr>
        </p:nvSpPr>
        <p:spPr/>
        <p:txBody>
          <a:bodyPr>
            <a:normAutofit/>
          </a:bodyPr>
          <a:lstStyle/>
          <a:p>
            <a:r>
              <a:rPr lang="en-US" b="1" dirty="0">
                <a:solidFill>
                  <a:schemeClr val="tx2"/>
                </a:solidFill>
                <a:highlight>
                  <a:srgbClr val="FFFF00"/>
                </a:highlight>
                <a:latin typeface="Kristen ITC" panose="03050502040202030202" pitchFamily="66" charset="0"/>
              </a:rPr>
              <a:t>Do a Quick Scan First (1–2 minutes).</a:t>
            </a:r>
          </a:p>
          <a:p>
            <a:pPr lvl="1"/>
            <a:r>
              <a:rPr lang="en-US" dirty="0">
                <a:solidFill>
                  <a:schemeClr val="tx2"/>
                </a:solidFill>
              </a:rPr>
              <a:t>Start with easy ones to build confidence and secure points.</a:t>
            </a:r>
          </a:p>
          <a:p>
            <a:r>
              <a:rPr lang="en-US" dirty="0">
                <a:solidFill>
                  <a:schemeClr val="tx2"/>
                </a:solidFill>
                <a:highlight>
                  <a:srgbClr val="FFFF00"/>
                </a:highlight>
                <a:latin typeface="Kristen ITC" panose="03050502040202030202" pitchFamily="66" charset="0"/>
              </a:rPr>
              <a:t>Write Something Immediately.</a:t>
            </a:r>
          </a:p>
          <a:p>
            <a:pPr lvl="1"/>
            <a:r>
              <a:rPr lang="en-US" dirty="0">
                <a:solidFill>
                  <a:schemeClr val="tx2"/>
                </a:solidFill>
              </a:rPr>
              <a:t>Blank pages increase anxiety and waste working memory.</a:t>
            </a:r>
          </a:p>
          <a:p>
            <a:r>
              <a:rPr lang="en-US" dirty="0">
                <a:solidFill>
                  <a:schemeClr val="tx2"/>
                </a:solidFill>
                <a:highlight>
                  <a:srgbClr val="FFFF00"/>
                </a:highlight>
                <a:latin typeface="Kristen ITC" panose="03050502040202030202" pitchFamily="66" charset="0"/>
              </a:rPr>
              <a:t>Translate the Question.</a:t>
            </a:r>
          </a:p>
          <a:p>
            <a:pPr lvl="1"/>
            <a:r>
              <a:rPr lang="en-US" dirty="0">
                <a:solidFill>
                  <a:schemeClr val="tx2"/>
                </a:solidFill>
              </a:rPr>
              <a:t>Many errors come from misreading, not lack of knowledge.</a:t>
            </a:r>
          </a:p>
          <a:p>
            <a:r>
              <a:rPr lang="en-US" dirty="0">
                <a:solidFill>
                  <a:schemeClr val="tx2"/>
                </a:solidFill>
                <a:highlight>
                  <a:srgbClr val="FFFF00"/>
                </a:highlight>
                <a:latin typeface="Kristen ITC" panose="03050502040202030202" pitchFamily="66" charset="0"/>
              </a:rPr>
              <a:t>Work Backwards (Especially Multiple Choice)</a:t>
            </a:r>
          </a:p>
          <a:p>
            <a:pPr lvl="1"/>
            <a:r>
              <a:rPr lang="en-US" dirty="0">
                <a:solidFill>
                  <a:schemeClr val="tx2"/>
                </a:solidFill>
              </a:rPr>
              <a:t>Eliminate obviously wrong options.</a:t>
            </a:r>
          </a:p>
          <a:p>
            <a:pPr lvl="1"/>
            <a:r>
              <a:rPr lang="en-US" dirty="0">
                <a:solidFill>
                  <a:schemeClr val="tx2"/>
                </a:solidFill>
              </a:rPr>
              <a:t>Use Logic even if you can’t fully solve the problem.</a:t>
            </a:r>
          </a:p>
          <a:p>
            <a:pPr marL="0" indent="0">
              <a:buNone/>
            </a:pPr>
            <a:endParaRPr lang="en-US" dirty="0">
              <a:solidFill>
                <a:schemeClr val="tx2"/>
              </a:solidFill>
            </a:endParaRPr>
          </a:p>
          <a:p>
            <a:endParaRPr lang="en-US" dirty="0">
              <a:solidFill>
                <a:schemeClr val="tx2"/>
              </a:solidFill>
            </a:endParaRPr>
          </a:p>
          <a:p>
            <a:endParaRPr lang="en-US" dirty="0">
              <a:solidFill>
                <a:schemeClr val="tx2"/>
              </a:solidFill>
            </a:endParaRPr>
          </a:p>
          <a:p>
            <a:pPr marL="365760" lvl="1" indent="0">
              <a:buNone/>
            </a:pPr>
            <a:endParaRPr lang="en-US" dirty="0">
              <a:solidFill>
                <a:schemeClr val="tx2"/>
              </a:solidFill>
            </a:endParaRPr>
          </a:p>
        </p:txBody>
      </p:sp>
    </p:spTree>
    <p:extLst>
      <p:ext uri="{BB962C8B-B14F-4D97-AF65-F5344CB8AC3E}">
        <p14:creationId xmlns:p14="http://schemas.microsoft.com/office/powerpoint/2010/main" val="180342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31D7-DF02-7B48-DEF3-374A197E0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EF25A-033D-DF1B-0E95-8A807661F93A}"/>
              </a:ext>
            </a:extLst>
          </p:cNvPr>
          <p:cNvSpPr>
            <a:spLocks noGrp="1"/>
          </p:cNvSpPr>
          <p:nvPr>
            <p:ph type="title"/>
          </p:nvPr>
        </p:nvSpPr>
        <p:spPr/>
        <p:txBody>
          <a:bodyPr/>
          <a:lstStyle/>
          <a:p>
            <a:pPr algn="ctr"/>
            <a:r>
              <a:rPr lang="en-US" dirty="0">
                <a:latin typeface="Bookman Old Style" panose="02050604050505020204" pitchFamily="18" charset="0"/>
              </a:rPr>
              <a:t>Practical tips for answering math problems during an examination.</a:t>
            </a:r>
          </a:p>
        </p:txBody>
      </p:sp>
      <p:sp>
        <p:nvSpPr>
          <p:cNvPr id="3" name="Content Placeholder 2">
            <a:extLst>
              <a:ext uri="{FF2B5EF4-FFF2-40B4-BE49-F238E27FC236}">
                <a16:creationId xmlns:a16="http://schemas.microsoft.com/office/drawing/2014/main" id="{2EEA383C-9668-9F66-A848-679514CBC11D}"/>
              </a:ext>
            </a:extLst>
          </p:cNvPr>
          <p:cNvSpPr>
            <a:spLocks noGrp="1"/>
          </p:cNvSpPr>
          <p:nvPr>
            <p:ph idx="1"/>
          </p:nvPr>
        </p:nvSpPr>
        <p:spPr/>
        <p:txBody>
          <a:bodyPr>
            <a:normAutofit fontScale="92500" lnSpcReduction="10000"/>
          </a:bodyPr>
          <a:lstStyle/>
          <a:p>
            <a:r>
              <a:rPr lang="en-US" b="1" dirty="0">
                <a:solidFill>
                  <a:schemeClr val="tx2"/>
                </a:solidFill>
                <a:highlight>
                  <a:srgbClr val="FFFF00"/>
                </a:highlight>
                <a:latin typeface="Kristen ITC" panose="03050502040202030202" pitchFamily="66" charset="0"/>
              </a:rPr>
              <a:t>Draw a Diagram (even if it seems simple).</a:t>
            </a:r>
          </a:p>
          <a:p>
            <a:pPr lvl="1"/>
            <a:r>
              <a:rPr lang="en-US" dirty="0">
                <a:solidFill>
                  <a:schemeClr val="tx2"/>
                </a:solidFill>
              </a:rPr>
              <a:t>Diagrams reduce cognitive load and error rates..</a:t>
            </a:r>
          </a:p>
          <a:p>
            <a:r>
              <a:rPr lang="en-US" dirty="0">
                <a:solidFill>
                  <a:schemeClr val="tx2"/>
                </a:solidFill>
                <a:highlight>
                  <a:srgbClr val="FFFF00"/>
                </a:highlight>
                <a:latin typeface="Kristen ITC" panose="03050502040202030202" pitchFamily="66" charset="0"/>
              </a:rPr>
              <a:t>Show Clear Steps.</a:t>
            </a:r>
          </a:p>
          <a:p>
            <a:pPr lvl="1"/>
            <a:r>
              <a:rPr lang="en-US" dirty="0">
                <a:solidFill>
                  <a:schemeClr val="tx2"/>
                </a:solidFill>
              </a:rPr>
              <a:t>Clear steps help you spot mistakes.</a:t>
            </a:r>
          </a:p>
          <a:p>
            <a:r>
              <a:rPr lang="en-US" dirty="0">
                <a:solidFill>
                  <a:schemeClr val="tx2"/>
                </a:solidFill>
                <a:highlight>
                  <a:srgbClr val="FFFF00"/>
                </a:highlight>
                <a:latin typeface="Kristen ITC" panose="03050502040202030202" pitchFamily="66" charset="0"/>
              </a:rPr>
              <a:t>Don’t Let One Problem Steal the Exam.</a:t>
            </a:r>
          </a:p>
          <a:p>
            <a:pPr lvl="1"/>
            <a:r>
              <a:rPr lang="en-US" dirty="0">
                <a:solidFill>
                  <a:schemeClr val="tx2"/>
                </a:solidFill>
              </a:rPr>
              <a:t>Spending 15 minutes on one hard problem can cost several easy ones.</a:t>
            </a:r>
          </a:p>
          <a:p>
            <a:r>
              <a:rPr lang="en-US" dirty="0">
                <a:solidFill>
                  <a:schemeClr val="tx2"/>
                </a:solidFill>
                <a:highlight>
                  <a:srgbClr val="FFFF00"/>
                </a:highlight>
                <a:latin typeface="Kristen ITC" panose="03050502040202030202" pitchFamily="66" charset="0"/>
              </a:rPr>
              <a:t>Check Units and Signs</a:t>
            </a:r>
          </a:p>
          <a:p>
            <a:pPr lvl="1"/>
            <a:r>
              <a:rPr lang="en-US" dirty="0">
                <a:solidFill>
                  <a:schemeClr val="tx2"/>
                </a:solidFill>
              </a:rPr>
              <a:t>Common exam mistakes:</a:t>
            </a:r>
          </a:p>
          <a:p>
            <a:pPr lvl="1"/>
            <a:r>
              <a:rPr lang="en-US" dirty="0">
                <a:solidFill>
                  <a:schemeClr val="tx2"/>
                </a:solidFill>
              </a:rPr>
              <a:t>Wrong sign (+/–)</a:t>
            </a:r>
          </a:p>
          <a:p>
            <a:pPr lvl="1"/>
            <a:r>
              <a:rPr lang="en-US" dirty="0">
                <a:solidFill>
                  <a:schemeClr val="tx2"/>
                </a:solidFill>
              </a:rPr>
              <a:t>Unit mismatch</a:t>
            </a:r>
          </a:p>
          <a:p>
            <a:pPr lvl="1"/>
            <a:r>
              <a:rPr lang="en-US" dirty="0">
                <a:solidFill>
                  <a:schemeClr val="tx2"/>
                </a:solidFill>
              </a:rPr>
              <a:t>Dropping constants</a:t>
            </a:r>
          </a:p>
          <a:p>
            <a:pPr lvl="1"/>
            <a:endParaRPr lang="en-US" dirty="0">
              <a:solidFill>
                <a:schemeClr val="tx2"/>
              </a:solidFill>
              <a:highlight>
                <a:srgbClr val="FFFF00"/>
              </a:highlight>
              <a:latin typeface="Kristen ITC" panose="03050502040202030202" pitchFamily="66" charset="0"/>
            </a:endParaRPr>
          </a:p>
          <a:p>
            <a:pPr marL="0" indent="0">
              <a:buNone/>
            </a:pPr>
            <a:endParaRPr lang="en-US" dirty="0">
              <a:solidFill>
                <a:schemeClr val="tx2"/>
              </a:solidFill>
            </a:endParaRPr>
          </a:p>
          <a:p>
            <a:endParaRPr lang="en-US" dirty="0">
              <a:solidFill>
                <a:schemeClr val="tx2"/>
              </a:solidFill>
            </a:endParaRPr>
          </a:p>
          <a:p>
            <a:endParaRPr lang="en-US" dirty="0">
              <a:solidFill>
                <a:schemeClr val="tx2"/>
              </a:solidFill>
            </a:endParaRPr>
          </a:p>
          <a:p>
            <a:pPr marL="365760" lvl="1" indent="0">
              <a:buNone/>
            </a:pPr>
            <a:endParaRPr lang="en-US" dirty="0">
              <a:solidFill>
                <a:schemeClr val="tx2"/>
              </a:solidFill>
            </a:endParaRPr>
          </a:p>
        </p:txBody>
      </p:sp>
      <p:pic>
        <p:nvPicPr>
          <p:cNvPr id="3074" name="Picture 2" descr="15 Best Anime About Math, Chemistry, Biology &amp; the World of Science">
            <a:extLst>
              <a:ext uri="{FF2B5EF4-FFF2-40B4-BE49-F238E27FC236}">
                <a16:creationId xmlns:a16="http://schemas.microsoft.com/office/drawing/2014/main" id="{6AA8B00D-ABCC-0CAA-2F01-2B76D1F61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4836" y="4191000"/>
            <a:ext cx="4486376" cy="2523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34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F21DA-A931-D311-6FFC-8711860FA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F4E1C-697C-9EFE-96E8-BC6A9E259BBE}"/>
              </a:ext>
            </a:extLst>
          </p:cNvPr>
          <p:cNvSpPr>
            <a:spLocks noGrp="1"/>
          </p:cNvSpPr>
          <p:nvPr>
            <p:ph type="title"/>
          </p:nvPr>
        </p:nvSpPr>
        <p:spPr/>
        <p:txBody>
          <a:bodyPr/>
          <a:lstStyle/>
          <a:p>
            <a:pPr algn="ctr"/>
            <a:r>
              <a:rPr lang="en-US" dirty="0">
                <a:latin typeface="Bookman Old Style" panose="02050604050505020204" pitchFamily="18" charset="0"/>
              </a:rPr>
              <a:t>Practical tips for answering math problems during an examination.</a:t>
            </a:r>
          </a:p>
        </p:txBody>
      </p:sp>
      <p:sp>
        <p:nvSpPr>
          <p:cNvPr id="3" name="Content Placeholder 2">
            <a:extLst>
              <a:ext uri="{FF2B5EF4-FFF2-40B4-BE49-F238E27FC236}">
                <a16:creationId xmlns:a16="http://schemas.microsoft.com/office/drawing/2014/main" id="{8585F3E2-22F7-E53E-88E9-0D80B0018AFD}"/>
              </a:ext>
            </a:extLst>
          </p:cNvPr>
          <p:cNvSpPr>
            <a:spLocks noGrp="1"/>
          </p:cNvSpPr>
          <p:nvPr>
            <p:ph idx="1"/>
          </p:nvPr>
        </p:nvSpPr>
        <p:spPr/>
        <p:txBody>
          <a:bodyPr>
            <a:normAutofit/>
          </a:bodyPr>
          <a:lstStyle/>
          <a:p>
            <a:r>
              <a:rPr lang="en-US" b="1" dirty="0">
                <a:solidFill>
                  <a:schemeClr val="tx2"/>
                </a:solidFill>
                <a:highlight>
                  <a:srgbClr val="FFFF00"/>
                </a:highlight>
                <a:latin typeface="Kristen ITC" panose="03050502040202030202" pitchFamily="66" charset="0"/>
              </a:rPr>
              <a:t>Use a 5-Second Reset</a:t>
            </a:r>
          </a:p>
          <a:p>
            <a:pPr lvl="1"/>
            <a:r>
              <a:rPr lang="en-US" dirty="0">
                <a:solidFill>
                  <a:schemeClr val="tx2"/>
                </a:solidFill>
              </a:rPr>
              <a:t>Look away, take 2 slow breaths, Resume with a new approach.</a:t>
            </a:r>
          </a:p>
          <a:p>
            <a:r>
              <a:rPr lang="en-US" dirty="0">
                <a:solidFill>
                  <a:schemeClr val="tx2"/>
                </a:solidFill>
                <a:highlight>
                  <a:srgbClr val="FFFF00"/>
                </a:highlight>
                <a:latin typeface="Kristen ITC" panose="03050502040202030202" pitchFamily="66" charset="0"/>
              </a:rPr>
              <a:t>Don’t Change Answers Without a Clear Reason.</a:t>
            </a:r>
          </a:p>
          <a:p>
            <a:pPr lvl="1"/>
            <a:r>
              <a:rPr lang="en-US" dirty="0">
                <a:solidFill>
                  <a:schemeClr val="tx2"/>
                </a:solidFill>
              </a:rPr>
              <a:t>Studies show first instincts are often correct unless you find a concrete mistake or you misread the question initially.</a:t>
            </a:r>
          </a:p>
          <a:p>
            <a:pPr marL="365760" lvl="1" indent="0">
              <a:buNone/>
            </a:pPr>
            <a:endParaRPr lang="en-US" dirty="0">
              <a:solidFill>
                <a:schemeClr val="tx2"/>
              </a:solidFill>
              <a:highlight>
                <a:srgbClr val="FFFF00"/>
              </a:highlight>
              <a:latin typeface="Kristen ITC" panose="03050502040202030202" pitchFamily="66" charset="0"/>
            </a:endParaRPr>
          </a:p>
          <a:p>
            <a:pPr marL="0" indent="0">
              <a:buNone/>
            </a:pPr>
            <a:endParaRPr lang="en-US" dirty="0">
              <a:solidFill>
                <a:schemeClr val="tx2"/>
              </a:solidFill>
            </a:endParaRPr>
          </a:p>
          <a:p>
            <a:endParaRPr lang="en-US" dirty="0">
              <a:solidFill>
                <a:schemeClr val="tx2"/>
              </a:solidFill>
            </a:endParaRPr>
          </a:p>
          <a:p>
            <a:endParaRPr lang="en-US" dirty="0">
              <a:solidFill>
                <a:schemeClr val="tx2"/>
              </a:solidFill>
            </a:endParaRPr>
          </a:p>
          <a:p>
            <a:pPr marL="365760" lvl="1" indent="0">
              <a:buNone/>
            </a:pPr>
            <a:endParaRPr lang="en-US" dirty="0">
              <a:solidFill>
                <a:schemeClr val="tx2"/>
              </a:solidFill>
            </a:endParaRPr>
          </a:p>
        </p:txBody>
      </p:sp>
      <p:pic>
        <p:nvPicPr>
          <p:cNvPr id="4098" name="Picture 2" descr="Anime IQ'nuz Kaç? (Test) - Figurex">
            <a:extLst>
              <a:ext uri="{FF2B5EF4-FFF2-40B4-BE49-F238E27FC236}">
                <a16:creationId xmlns:a16="http://schemas.microsoft.com/office/drawing/2014/main" id="{C90F49BA-C7A3-B924-B563-2B45A0308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0812" y="3859847"/>
            <a:ext cx="3794337" cy="2845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657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0B245-4BC8-307A-A4EB-38B2C5CC6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787CC-9038-1FF1-AF00-A35FB78F5DC1}"/>
              </a:ext>
            </a:extLst>
          </p:cNvPr>
          <p:cNvSpPr>
            <a:spLocks noGrp="1"/>
          </p:cNvSpPr>
          <p:nvPr>
            <p:ph type="title"/>
          </p:nvPr>
        </p:nvSpPr>
        <p:spPr/>
        <p:txBody>
          <a:bodyPr/>
          <a:lstStyle/>
          <a:p>
            <a:r>
              <a:rPr lang="en-US" dirty="0"/>
              <a:t>General Mathematics</a:t>
            </a:r>
          </a:p>
        </p:txBody>
      </p:sp>
      <p:sp>
        <p:nvSpPr>
          <p:cNvPr id="5" name="Text Placeholder 4">
            <a:extLst>
              <a:ext uri="{FF2B5EF4-FFF2-40B4-BE49-F238E27FC236}">
                <a16:creationId xmlns:a16="http://schemas.microsoft.com/office/drawing/2014/main" id="{28D7A504-DCF7-5A34-31CC-A18B41633C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79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F6CC5-679F-5800-8D44-9B3DA91557C6}"/>
              </a:ext>
            </a:extLst>
          </p:cNvPr>
          <p:cNvSpPr>
            <a:spLocks noGrp="1"/>
          </p:cNvSpPr>
          <p:nvPr>
            <p:ph type="title"/>
          </p:nvPr>
        </p:nvSpPr>
        <p:spPr/>
        <p:txBody>
          <a:bodyPr/>
          <a:lstStyle/>
          <a:p>
            <a:r>
              <a:rPr lang="en-US" dirty="0"/>
              <a:t>Problem #1 (Elimination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80368D-CB84-260E-8FF0-B931E0764F73}"/>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The number of products produced per day by machines A and B are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𝑎</m:t>
                    </m:r>
                    <m:d>
                      <m:dPr>
                        <m:ctrlPr>
                          <a:rPr lang="en-US" b="0" i="1" smtClean="0">
                            <a:solidFill>
                              <a:schemeClr val="tx2"/>
                            </a:solidFill>
                            <a:latin typeface="Cambria Math" panose="02040503050406030204" pitchFamily="18" charset="0"/>
                            <a:ea typeface="Cambria Math" panose="02040503050406030204" pitchFamily="18" charset="0"/>
                          </a:rPr>
                        </m:ctrlPr>
                      </m:dPr>
                      <m:e>
                        <m:r>
                          <a:rPr lang="en-US" b="0" i="1" smtClean="0">
                            <a:solidFill>
                              <a:schemeClr val="tx2"/>
                            </a:solidFill>
                            <a:latin typeface="Cambria Math" panose="02040503050406030204" pitchFamily="18" charset="0"/>
                            <a:ea typeface="Cambria Math" panose="02040503050406030204" pitchFamily="18" charset="0"/>
                          </a:rPr>
                          <m:t>𝑥</m:t>
                        </m:r>
                      </m:e>
                    </m:d>
                    <m:r>
                      <a:rPr lang="en-US" b="0" i="1" smtClean="0">
                        <a:solidFill>
                          <a:schemeClr val="tx2"/>
                        </a:solidFill>
                        <a:latin typeface="Cambria Math" panose="02040503050406030204" pitchFamily="18" charset="0"/>
                        <a:ea typeface="Cambria Math" panose="02040503050406030204" pitchFamily="18" charset="0"/>
                      </a:rPr>
                      <m:t>=3</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+5 </m:t>
                    </m:r>
                  </m:oMath>
                </a14:m>
                <a:r>
                  <a:rPr lang="en-US" dirty="0">
                    <a:solidFill>
                      <a:schemeClr val="tx2"/>
                    </a:solidFill>
                    <a:latin typeface="Cambria Math" panose="02040503050406030204" pitchFamily="18" charset="0"/>
                    <a:ea typeface="Cambria Math" panose="02040503050406030204" pitchFamily="18" charset="0"/>
                  </a:rPr>
                  <a:t>and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𝑏</m:t>
                    </m:r>
                    <m:d>
                      <m:dPr>
                        <m:ctrlPr>
                          <a:rPr lang="en-US" b="0" i="1" smtClean="0">
                            <a:solidFill>
                              <a:schemeClr val="tx2"/>
                            </a:solidFill>
                            <a:latin typeface="Cambria Math" panose="02040503050406030204" pitchFamily="18" charset="0"/>
                            <a:ea typeface="Cambria Math" panose="02040503050406030204" pitchFamily="18" charset="0"/>
                          </a:rPr>
                        </m:ctrlPr>
                      </m:dPr>
                      <m:e>
                        <m:r>
                          <a:rPr lang="en-US" b="0" i="1" smtClean="0">
                            <a:solidFill>
                              <a:schemeClr val="tx2"/>
                            </a:solidFill>
                            <a:latin typeface="Cambria Math" panose="02040503050406030204" pitchFamily="18" charset="0"/>
                            <a:ea typeface="Cambria Math" panose="02040503050406030204" pitchFamily="18" charset="0"/>
                          </a:rPr>
                          <m:t>𝑥</m:t>
                        </m:r>
                      </m:e>
                    </m:d>
                    <m:r>
                      <a:rPr lang="en-US" b="0" i="1" smtClean="0">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b="0" i="1" smtClean="0">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m:t>
                    </m:r>
                  </m:oMath>
                </a14:m>
                <a:r>
                  <a:rPr lang="en-US" dirty="0">
                    <a:solidFill>
                      <a:schemeClr val="tx2"/>
                    </a:solidFill>
                    <a:latin typeface="Cambria Math" panose="02040503050406030204" pitchFamily="18" charset="0"/>
                    <a:ea typeface="Cambria Math" panose="02040503050406030204" pitchFamily="18" charset="0"/>
                  </a:rPr>
                  <a:t> respectively. If machine A and B are working together, which function gives the total number of products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𝑐</m:t>
                    </m:r>
                    <m:r>
                      <a:rPr lang="en-US" b="0" i="1" smtClean="0">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m:t>
                    </m:r>
                  </m:oMath>
                </a14:m>
                <a:r>
                  <a:rPr lang="en-US" dirty="0">
                    <a:solidFill>
                      <a:schemeClr val="tx2"/>
                    </a:solidFill>
                    <a:latin typeface="Cambria Math" panose="02040503050406030204" pitchFamily="18" charset="0"/>
                    <a:ea typeface="Cambria Math" panose="02040503050406030204" pitchFamily="18" charset="0"/>
                  </a:rPr>
                  <a:t> produced by both machines per day?</a:t>
                </a:r>
              </a:p>
              <a:p>
                <a:pPr marL="514350" indent="-514350">
                  <a:buAutoNum type="alphaUcPeriod"/>
                </a:pP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𝑐</m:t>
                    </m:r>
                    <m:d>
                      <m:dPr>
                        <m:ctrlPr>
                          <a:rPr lang="en-US" b="0" i="1" smtClean="0">
                            <a:solidFill>
                              <a:schemeClr val="tx2"/>
                            </a:solidFill>
                            <a:latin typeface="Cambria Math" panose="02040503050406030204" pitchFamily="18" charset="0"/>
                            <a:ea typeface="Cambria Math" panose="02040503050406030204" pitchFamily="18" charset="0"/>
                          </a:rPr>
                        </m:ctrlPr>
                      </m:dPr>
                      <m:e>
                        <m:r>
                          <a:rPr lang="en-US" b="0" i="1" smtClean="0">
                            <a:solidFill>
                              <a:schemeClr val="tx2"/>
                            </a:solidFill>
                            <a:latin typeface="Cambria Math" panose="02040503050406030204" pitchFamily="18" charset="0"/>
                            <a:ea typeface="Cambria Math" panose="02040503050406030204" pitchFamily="18" charset="0"/>
                          </a:rPr>
                          <m:t>𝑥</m:t>
                        </m:r>
                      </m:e>
                    </m:d>
                    <m:r>
                      <a:rPr lang="en-US" b="0" i="1" smtClean="0">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b="0" i="1" smtClean="0">
                        <a:solidFill>
                          <a:schemeClr val="tx2"/>
                        </a:solidFill>
                        <a:latin typeface="Cambria Math" panose="02040503050406030204" pitchFamily="18" charset="0"/>
                        <a:ea typeface="Cambria Math" panose="02040503050406030204" pitchFamily="18" charset="0"/>
                      </a:rPr>
                      <m:t>+2</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+5</m:t>
                    </m:r>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Font typeface="Euphemia" pitchFamily="34" charset="0"/>
                  <a:buAutoNum type="alphaUcPeriod"/>
                </a:pPr>
                <a14:m>
                  <m:oMath xmlns:m="http://schemas.openxmlformats.org/officeDocument/2006/math">
                    <m:r>
                      <a:rPr lang="en-US" i="1">
                        <a:solidFill>
                          <a:schemeClr val="tx2"/>
                        </a:solidFill>
                        <a:latin typeface="Cambria Math" panose="02040503050406030204" pitchFamily="18" charset="0"/>
                        <a:ea typeface="Cambria Math" panose="02040503050406030204" pitchFamily="18" charset="0"/>
                      </a:rPr>
                      <m:t>𝑐</m:t>
                    </m:r>
                    <m:d>
                      <m:dPr>
                        <m:ctrlPr>
                          <a:rPr lang="en-US" i="1">
                            <a:solidFill>
                              <a:schemeClr val="tx2"/>
                            </a:solidFill>
                            <a:latin typeface="Cambria Math" panose="02040503050406030204" pitchFamily="18" charset="0"/>
                            <a:ea typeface="Cambria Math" panose="02040503050406030204" pitchFamily="18" charset="0"/>
                          </a:rPr>
                        </m:ctrlPr>
                      </m:dPr>
                      <m:e>
                        <m:r>
                          <a:rPr lang="en-US" i="1">
                            <a:solidFill>
                              <a:schemeClr val="tx2"/>
                            </a:solidFill>
                            <a:latin typeface="Cambria Math" panose="02040503050406030204" pitchFamily="18" charset="0"/>
                            <a:ea typeface="Cambria Math" panose="02040503050406030204" pitchFamily="18" charset="0"/>
                          </a:rPr>
                          <m:t>𝑥</m:t>
                        </m:r>
                      </m:e>
                    </m:d>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𝑥</m:t>
                        </m:r>
                      </m:e>
                      <m:sup>
                        <m:r>
                          <a:rPr lang="en-US" i="1">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+2</m:t>
                    </m:r>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+4</m:t>
                    </m:r>
                  </m:oMath>
                </a14:m>
                <a:endParaRPr lang="en-US" dirty="0">
                  <a:solidFill>
                    <a:schemeClr val="tx2"/>
                  </a:solidFill>
                  <a:latin typeface="Cambria Math" panose="02040503050406030204" pitchFamily="18" charset="0"/>
                  <a:ea typeface="Cambria Math" panose="02040503050406030204" pitchFamily="18" charset="0"/>
                </a:endParaRPr>
              </a:p>
              <a:p>
                <a:pPr marL="514350" indent="-514350">
                  <a:buFont typeface="Euphemia" pitchFamily="34" charset="0"/>
                  <a:buAutoNum type="alphaUcPeriod"/>
                </a:pPr>
                <a14:m>
                  <m:oMath xmlns:m="http://schemas.openxmlformats.org/officeDocument/2006/math">
                    <m:r>
                      <a:rPr lang="en-US" i="1">
                        <a:solidFill>
                          <a:schemeClr val="tx2"/>
                        </a:solidFill>
                        <a:latin typeface="Cambria Math" panose="02040503050406030204" pitchFamily="18" charset="0"/>
                        <a:ea typeface="Cambria Math" panose="02040503050406030204" pitchFamily="18" charset="0"/>
                      </a:rPr>
                      <m:t>𝑐</m:t>
                    </m:r>
                    <m:d>
                      <m:dPr>
                        <m:ctrlPr>
                          <a:rPr lang="en-US" i="1">
                            <a:solidFill>
                              <a:schemeClr val="tx2"/>
                            </a:solidFill>
                            <a:latin typeface="Cambria Math" panose="02040503050406030204" pitchFamily="18" charset="0"/>
                            <a:ea typeface="Cambria Math" panose="02040503050406030204" pitchFamily="18" charset="0"/>
                          </a:rPr>
                        </m:ctrlPr>
                      </m:dPr>
                      <m:e>
                        <m:r>
                          <a:rPr lang="en-US" i="1">
                            <a:solidFill>
                              <a:schemeClr val="tx2"/>
                            </a:solidFill>
                            <a:latin typeface="Cambria Math" panose="02040503050406030204" pitchFamily="18" charset="0"/>
                            <a:ea typeface="Cambria Math" panose="02040503050406030204" pitchFamily="18" charset="0"/>
                          </a:rPr>
                          <m:t>𝑥</m:t>
                        </m:r>
                      </m:e>
                    </m:d>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𝑥</m:t>
                        </m:r>
                      </m:e>
                      <m:sup>
                        <m:r>
                          <a:rPr lang="en-US" i="1">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3</m:t>
                    </m:r>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+4</m:t>
                    </m:r>
                  </m:oMath>
                </a14:m>
                <a:endParaRPr lang="en-US" dirty="0">
                  <a:solidFill>
                    <a:schemeClr val="tx2"/>
                  </a:solidFill>
                  <a:latin typeface="Cambria Math" panose="02040503050406030204" pitchFamily="18" charset="0"/>
                  <a:ea typeface="Cambria Math" panose="02040503050406030204" pitchFamily="18" charset="0"/>
                </a:endParaRPr>
              </a:p>
              <a:p>
                <a:pPr marL="514350" indent="-514350">
                  <a:buFont typeface="Euphemia" pitchFamily="34" charset="0"/>
                  <a:buAutoNum type="alphaUcPeriod"/>
                </a:pPr>
                <a14:m>
                  <m:oMath xmlns:m="http://schemas.openxmlformats.org/officeDocument/2006/math">
                    <m:r>
                      <a:rPr lang="en-US" i="1">
                        <a:solidFill>
                          <a:schemeClr val="tx2"/>
                        </a:solidFill>
                        <a:latin typeface="Cambria Math" panose="02040503050406030204" pitchFamily="18" charset="0"/>
                        <a:ea typeface="Cambria Math" panose="02040503050406030204" pitchFamily="18" charset="0"/>
                      </a:rPr>
                      <m:t>𝑐</m:t>
                    </m:r>
                    <m:d>
                      <m:dPr>
                        <m:ctrlPr>
                          <a:rPr lang="en-US" i="1">
                            <a:solidFill>
                              <a:schemeClr val="tx2"/>
                            </a:solidFill>
                            <a:latin typeface="Cambria Math" panose="02040503050406030204" pitchFamily="18" charset="0"/>
                            <a:ea typeface="Cambria Math" panose="02040503050406030204" pitchFamily="18" charset="0"/>
                          </a:rPr>
                        </m:ctrlPr>
                      </m:dPr>
                      <m:e>
                        <m:r>
                          <a:rPr lang="en-US" i="1">
                            <a:solidFill>
                              <a:schemeClr val="tx2"/>
                            </a:solidFill>
                            <a:latin typeface="Cambria Math" panose="02040503050406030204" pitchFamily="18" charset="0"/>
                            <a:ea typeface="Cambria Math" panose="02040503050406030204" pitchFamily="18" charset="0"/>
                          </a:rPr>
                          <m:t>𝑥</m:t>
                        </m:r>
                      </m:e>
                    </m:d>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𝑥</m:t>
                        </m:r>
                      </m:e>
                      <m:sup>
                        <m:r>
                          <a:rPr lang="en-US" i="1">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4</m:t>
                    </m:r>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+5</m:t>
                    </m:r>
                  </m:oMath>
                </a14:m>
                <a:endParaRPr lang="en-US" dirty="0">
                  <a:solidFill>
                    <a:schemeClr val="tx2"/>
                  </a:solidFill>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marL="514350" indent="-514350">
                  <a:buAutoNum type="alphaUcPeriod"/>
                </a:pPr>
                <a:endParaRPr lang="en-US"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5480368D-CB84-260E-8FF0-B931E0764F73}"/>
                  </a:ext>
                </a:extLst>
              </p:cNvPr>
              <p:cNvSpPr>
                <a:spLocks noGrp="1" noRot="1" noChangeAspect="1" noMove="1" noResize="1" noEditPoints="1" noAdjustHandles="1" noChangeArrowheads="1" noChangeShapeType="1" noTextEdit="1"/>
              </p:cNvSpPr>
              <p:nvPr>
                <p:ph idx="1"/>
              </p:nvPr>
            </p:nvSpPr>
            <p:spPr>
              <a:blipFill>
                <a:blip r:embed="rId2"/>
                <a:stretch>
                  <a:fillRect l="-1246" t="-2400"/>
                </a:stretch>
              </a:blipFill>
            </p:spPr>
            <p:txBody>
              <a:bodyPr/>
              <a:lstStyle/>
              <a:p>
                <a:r>
                  <a:rPr lang="en-US">
                    <a:noFill/>
                  </a:rPr>
                  <a:t> </a:t>
                </a:r>
              </a:p>
            </p:txBody>
          </p:sp>
        </mc:Fallback>
      </mc:AlternateContent>
    </p:spTree>
    <p:extLst>
      <p:ext uri="{BB962C8B-B14F-4D97-AF65-F5344CB8AC3E}">
        <p14:creationId xmlns:p14="http://schemas.microsoft.com/office/powerpoint/2010/main" val="401539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8F066-6D7E-00C4-2CB3-AD8B947202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CED08-C59C-3AFA-A40D-C5A9804B78D9}"/>
              </a:ext>
            </a:extLst>
          </p:cNvPr>
          <p:cNvSpPr>
            <a:spLocks noGrp="1"/>
          </p:cNvSpPr>
          <p:nvPr>
            <p:ph type="title"/>
          </p:nvPr>
        </p:nvSpPr>
        <p:spPr/>
        <p:txBody>
          <a:bodyPr/>
          <a:lstStyle/>
          <a:p>
            <a:r>
              <a:rPr lang="en-US" dirty="0"/>
              <a:t>Problem #2 (Substitution and Check 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9342C5-B942-9537-3BA8-FE97E187573B}"/>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If the function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𝑦</m:t>
                    </m:r>
                    <m:d>
                      <m:dPr>
                        <m:ctrlPr>
                          <a:rPr lang="en-US" b="0" i="1" smtClean="0">
                            <a:solidFill>
                              <a:schemeClr val="tx2"/>
                            </a:solidFill>
                            <a:latin typeface="Cambria Math" panose="02040503050406030204" pitchFamily="18" charset="0"/>
                            <a:ea typeface="Cambria Math" panose="02040503050406030204" pitchFamily="18" charset="0"/>
                          </a:rPr>
                        </m:ctrlPr>
                      </m:dPr>
                      <m:e>
                        <m:r>
                          <a:rPr lang="en-US" b="0" i="1" smtClean="0">
                            <a:solidFill>
                              <a:schemeClr val="tx2"/>
                            </a:solidFill>
                            <a:latin typeface="Cambria Math" panose="02040503050406030204" pitchFamily="18" charset="0"/>
                            <a:ea typeface="Cambria Math" panose="02040503050406030204" pitchFamily="18" charset="0"/>
                          </a:rPr>
                          <m:t>𝑥</m:t>
                        </m:r>
                      </m:e>
                    </m:d>
                    <m:r>
                      <a:rPr lang="en-US" b="0" i="1" smtClean="0">
                        <a:solidFill>
                          <a:schemeClr val="tx2"/>
                        </a:solidFill>
                        <a:latin typeface="Cambria Math" panose="02040503050406030204" pitchFamily="18" charset="0"/>
                        <a:ea typeface="Cambria Math" panose="02040503050406030204" pitchFamily="18" charset="0"/>
                      </a:rPr>
                      <m:t>=2</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3</m:t>
                        </m:r>
                      </m:sup>
                    </m:sSup>
                    <m:r>
                      <a:rPr lang="en-US" b="0" i="1" smtClean="0">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𝑥</m:t>
                    </m:r>
                  </m:oMath>
                </a14:m>
                <a:r>
                  <a:rPr lang="en-US" dirty="0">
                    <a:solidFill>
                      <a:schemeClr val="tx2"/>
                    </a:solidFill>
                    <a:latin typeface="Cambria Math" panose="02040503050406030204" pitchFamily="18" charset="0"/>
                    <a:ea typeface="Cambria Math" panose="02040503050406030204" pitchFamily="18" charset="0"/>
                  </a:rPr>
                  <a:t> is decreased by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𝑧</m:t>
                    </m:r>
                    <m:d>
                      <m:dPr>
                        <m:ctrlPr>
                          <a:rPr lang="en-US" b="0" i="1" smtClean="0">
                            <a:solidFill>
                              <a:schemeClr val="tx2"/>
                            </a:solidFill>
                            <a:latin typeface="Cambria Math" panose="02040503050406030204" pitchFamily="18" charset="0"/>
                            <a:ea typeface="Cambria Math" panose="02040503050406030204" pitchFamily="18" charset="0"/>
                          </a:rPr>
                        </m:ctrlPr>
                      </m:dPr>
                      <m:e>
                        <m:r>
                          <a:rPr lang="en-US" b="0" i="1" smtClean="0">
                            <a:solidFill>
                              <a:schemeClr val="tx2"/>
                            </a:solidFill>
                            <a:latin typeface="Cambria Math" panose="02040503050406030204" pitchFamily="18" charset="0"/>
                            <a:ea typeface="Cambria Math" panose="02040503050406030204" pitchFamily="18" charset="0"/>
                          </a:rPr>
                          <m:t>𝑥</m:t>
                        </m:r>
                      </m:e>
                    </m:d>
                    <m:r>
                      <a:rPr lang="en-US" b="0" i="1" smtClean="0">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b="0" i="1" smtClean="0">
                        <a:solidFill>
                          <a:schemeClr val="tx2"/>
                        </a:solidFill>
                        <a:latin typeface="Cambria Math" panose="02040503050406030204" pitchFamily="18" charset="0"/>
                        <a:ea typeface="Cambria Math" panose="02040503050406030204" pitchFamily="18" charset="0"/>
                      </a:rPr>
                      <m:t>+2</m:t>
                    </m:r>
                  </m:oMath>
                </a14:m>
                <a:r>
                  <a:rPr lang="en-US" dirty="0">
                    <a:solidFill>
                      <a:schemeClr val="tx2"/>
                    </a:solidFill>
                    <a:latin typeface="Cambria Math" panose="02040503050406030204" pitchFamily="18" charset="0"/>
                    <a:ea typeface="Cambria Math" panose="02040503050406030204" pitchFamily="18" charset="0"/>
                  </a:rPr>
                  <a:t>. what value will the new function have for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=2</m:t>
                    </m:r>
                  </m:oMath>
                </a14:m>
                <a:r>
                  <a:rPr lang="en-US" dirty="0">
                    <a:solidFill>
                      <a:schemeClr val="tx2"/>
                    </a:solidFill>
                    <a:latin typeface="Cambria Math" panose="02040503050406030204" pitchFamily="18" charset="0"/>
                    <a:ea typeface="Cambria Math" panose="02040503050406030204" pitchFamily="18" charset="0"/>
                  </a:rPr>
                  <a:t>?</a:t>
                </a:r>
              </a:p>
              <a:p>
                <a:pPr marL="514350" indent="-514350">
                  <a:buAutoNum type="alphaUcPeriod"/>
                </a:pPr>
                <a14:m>
                  <m:oMath xmlns:m="http://schemas.openxmlformats.org/officeDocument/2006/math">
                    <m:r>
                      <a:rPr lang="en-US" i="1">
                        <a:solidFill>
                          <a:schemeClr val="tx2"/>
                        </a:solidFill>
                        <a:latin typeface="Cambria Math" panose="02040503050406030204" pitchFamily="18" charset="0"/>
                        <a:ea typeface="Cambria Math" panose="02040503050406030204" pitchFamily="18" charset="0"/>
                      </a:rPr>
                      <m:t>6</m:t>
                    </m:r>
                  </m:oMath>
                </a14:m>
                <a:endParaRPr lang="en-US" i="1"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r>
                  <a:rPr lang="en-US" dirty="0">
                    <a:solidFill>
                      <a:schemeClr val="tx2"/>
                    </a:solidFill>
                    <a:ea typeface="Cambria Math" panose="02040503050406030204" pitchFamily="18" charset="0"/>
                  </a:rPr>
                  <a:t>12</a:t>
                </a:r>
              </a:p>
              <a:p>
                <a:pPr marL="514350" indent="-514350">
                  <a:buAutoNum type="alphaUcPeriod"/>
                </a:pPr>
                <a14:m>
                  <m:oMath xmlns:m="http://schemas.openxmlformats.org/officeDocument/2006/math">
                    <m:r>
                      <a:rPr lang="en-US" i="1" smtClean="0">
                        <a:solidFill>
                          <a:schemeClr val="tx2"/>
                        </a:solidFill>
                        <a:latin typeface="Cambria Math" panose="02040503050406030204" pitchFamily="18" charset="0"/>
                        <a:ea typeface="Cambria Math" panose="02040503050406030204" pitchFamily="18" charset="0"/>
                      </a:rPr>
                      <m:t>1</m:t>
                    </m:r>
                    <m:r>
                      <a:rPr lang="en-US" b="0" i="1" smtClean="0">
                        <a:solidFill>
                          <a:schemeClr val="tx2"/>
                        </a:solidFill>
                        <a:latin typeface="Cambria Math" panose="02040503050406030204" pitchFamily="18" charset="0"/>
                        <a:ea typeface="Cambria Math" panose="02040503050406030204" pitchFamily="18" charset="0"/>
                      </a:rPr>
                      <m:t>6</m:t>
                    </m:r>
                  </m:oMath>
                </a14:m>
                <a:endParaRPr lang="en-US" b="0" i="1"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14:m>
                  <m:oMath xmlns:m="http://schemas.openxmlformats.org/officeDocument/2006/math">
                    <m:r>
                      <a:rPr lang="en-US" i="1" smtClean="0">
                        <a:solidFill>
                          <a:schemeClr val="tx2"/>
                        </a:solidFill>
                        <a:latin typeface="Cambria Math" panose="02040503050406030204" pitchFamily="18" charset="0"/>
                        <a:ea typeface="Cambria Math" panose="02040503050406030204" pitchFamily="18" charset="0"/>
                      </a:rPr>
                      <m:t>2</m:t>
                    </m:r>
                    <m:r>
                      <a:rPr lang="en-US" b="0" i="1" smtClean="0">
                        <a:solidFill>
                          <a:schemeClr val="tx2"/>
                        </a:solidFill>
                        <a:latin typeface="Cambria Math" panose="02040503050406030204" pitchFamily="18" charset="0"/>
                        <a:ea typeface="Cambria Math" panose="02040503050406030204" pitchFamily="18" charset="0"/>
                      </a:rPr>
                      <m:t>0</m:t>
                    </m:r>
                  </m:oMath>
                </a14:m>
                <a:endParaRPr lang="en-US" b="0" dirty="0">
                  <a:solidFill>
                    <a:schemeClr val="tx2"/>
                  </a:solidFill>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marL="514350" indent="-514350">
                  <a:buAutoNum type="alphaUcPeriod"/>
                </a:pPr>
                <a:endParaRPr lang="en-US"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9342C5-B942-9537-3BA8-FE97E187573B}"/>
                  </a:ext>
                </a:extLst>
              </p:cNvPr>
              <p:cNvSpPr>
                <a:spLocks noGrp="1" noRot="1" noChangeAspect="1" noMove="1" noResize="1" noEditPoints="1" noAdjustHandles="1" noChangeArrowheads="1" noChangeShapeType="1" noTextEdit="1"/>
              </p:cNvSpPr>
              <p:nvPr>
                <p:ph idx="1"/>
              </p:nvPr>
            </p:nvSpPr>
            <p:spPr>
              <a:blipFill>
                <a:blip r:embed="rId2"/>
                <a:stretch>
                  <a:fillRect l="-1433" t="-2400" r="-1121"/>
                </a:stretch>
              </a:blipFill>
            </p:spPr>
            <p:txBody>
              <a:bodyPr/>
              <a:lstStyle/>
              <a:p>
                <a:r>
                  <a:rPr lang="en-US">
                    <a:noFill/>
                  </a:rPr>
                  <a:t> </a:t>
                </a:r>
              </a:p>
            </p:txBody>
          </p:sp>
        </mc:Fallback>
      </mc:AlternateContent>
    </p:spTree>
    <p:extLst>
      <p:ext uri="{BB962C8B-B14F-4D97-AF65-F5344CB8AC3E}">
        <p14:creationId xmlns:p14="http://schemas.microsoft.com/office/powerpoint/2010/main" val="1491989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73B99-5FCD-97D1-ECEC-CED04ECBC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1C0BE-6DBD-49D5-6375-FB7B4FB90B95}"/>
              </a:ext>
            </a:extLst>
          </p:cNvPr>
          <p:cNvSpPr>
            <a:spLocks noGrp="1"/>
          </p:cNvSpPr>
          <p:nvPr>
            <p:ph type="title"/>
          </p:nvPr>
        </p:nvSpPr>
        <p:spPr/>
        <p:txBody>
          <a:bodyPr/>
          <a:lstStyle/>
          <a:p>
            <a:r>
              <a:rPr lang="en-US" dirty="0"/>
              <a:t>Problem #3 (Same Concepts, Different Terms)</a:t>
            </a:r>
          </a:p>
        </p:txBody>
      </p:sp>
      <p:sp>
        <p:nvSpPr>
          <p:cNvPr id="3" name="Content Placeholder 2">
            <a:extLst>
              <a:ext uri="{FF2B5EF4-FFF2-40B4-BE49-F238E27FC236}">
                <a16:creationId xmlns:a16="http://schemas.microsoft.com/office/drawing/2014/main" id="{1BE7935B-7107-C93C-D191-1020204277C2}"/>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Which strategy gives the x-intercept of any given function?</a:t>
            </a: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Solving for the value of x when y is zero.</a:t>
            </a:r>
          </a:p>
          <a:p>
            <a:pPr marL="514350" indent="-514350">
              <a:buAutoNum type="alphaUcPeriod"/>
            </a:pPr>
            <a:r>
              <a:rPr lang="en-US" b="0" dirty="0">
                <a:solidFill>
                  <a:schemeClr val="tx2"/>
                </a:solidFill>
                <a:latin typeface="Cambria Math" panose="02040503050406030204" pitchFamily="18" charset="0"/>
                <a:ea typeface="Cambria Math" panose="02040503050406030204" pitchFamily="18" charset="0"/>
              </a:rPr>
              <a:t>Solving for the value of y when x is zero.</a:t>
            </a: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Finding the value of x that will make the function undefined.</a:t>
            </a:r>
          </a:p>
          <a:p>
            <a:pPr marL="514350" indent="-514350">
              <a:buAutoNum type="alphaUcPeriod"/>
            </a:pPr>
            <a:r>
              <a:rPr lang="en-US" b="0" dirty="0">
                <a:solidFill>
                  <a:schemeClr val="tx2"/>
                </a:solidFill>
                <a:latin typeface="Cambria Math" panose="02040503050406030204" pitchFamily="18" charset="0"/>
                <a:ea typeface="Cambria Math" panose="02040503050406030204" pitchFamily="18" charset="0"/>
              </a:rPr>
              <a:t>Identifying the leading coeffi</a:t>
            </a:r>
            <a:r>
              <a:rPr lang="en-US" dirty="0">
                <a:solidFill>
                  <a:schemeClr val="tx2"/>
                </a:solidFill>
                <a:latin typeface="Cambria Math" panose="02040503050406030204" pitchFamily="18" charset="0"/>
                <a:ea typeface="Cambria Math" panose="02040503050406030204" pitchFamily="18" charset="0"/>
              </a:rPr>
              <a:t>cient of the numerator and denominator.</a:t>
            </a:r>
            <a:endParaRPr lang="en-US" b="0" dirty="0">
              <a:solidFill>
                <a:schemeClr val="tx2"/>
              </a:solidFill>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marL="514350" indent="-514350">
              <a:buAutoNum type="alphaUcPeriod"/>
            </a:pP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32708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E484A-C539-D2B1-9161-37BBB0222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BA115-AA16-C82B-7952-A44E1431972F}"/>
              </a:ext>
            </a:extLst>
          </p:cNvPr>
          <p:cNvSpPr>
            <a:spLocks noGrp="1"/>
          </p:cNvSpPr>
          <p:nvPr>
            <p:ph type="title"/>
          </p:nvPr>
        </p:nvSpPr>
        <p:spPr/>
        <p:txBody>
          <a:bodyPr/>
          <a:lstStyle/>
          <a:p>
            <a:r>
              <a:rPr lang="en-US" dirty="0"/>
              <a:t>Problem #4(Same Concepts, Different Terms, eliminate the obvious wrong option)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9C7EDA-E5BC-7255-2877-392DAF0994F6}"/>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Alyssa finds determining the zeroes of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𝑦</m:t>
                    </m:r>
                    <m:r>
                      <a:rPr lang="en-US" b="0" i="1" smtClean="0">
                        <a:solidFill>
                          <a:schemeClr val="tx2"/>
                        </a:solidFill>
                        <a:latin typeface="Cambria Math" panose="02040503050406030204" pitchFamily="18" charset="0"/>
                        <a:ea typeface="Cambria Math" panose="02040503050406030204" pitchFamily="18" charset="0"/>
                      </a:rPr>
                      <m:t>=</m:t>
                    </m:r>
                    <m:f>
                      <m:fPr>
                        <m:ctrlPr>
                          <a:rPr lang="en-US" b="0" i="1" smtClean="0">
                            <a:solidFill>
                              <a:schemeClr val="tx2"/>
                            </a:solidFill>
                            <a:latin typeface="Cambria Math" panose="02040503050406030204" pitchFamily="18" charset="0"/>
                            <a:ea typeface="Cambria Math" panose="02040503050406030204" pitchFamily="18" charset="0"/>
                          </a:rPr>
                        </m:ctrlPr>
                      </m:fPr>
                      <m:num>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b="0" i="1" smtClean="0">
                            <a:solidFill>
                              <a:schemeClr val="tx2"/>
                            </a:solidFill>
                            <a:latin typeface="Cambria Math" panose="02040503050406030204" pitchFamily="18" charset="0"/>
                            <a:ea typeface="Cambria Math" panose="02040503050406030204" pitchFamily="18" charset="0"/>
                          </a:rPr>
                          <m:t>−1</m:t>
                        </m:r>
                      </m:num>
                      <m:den>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b="0" i="1" smtClean="0">
                            <a:solidFill>
                              <a:schemeClr val="tx2"/>
                            </a:solidFill>
                            <a:latin typeface="Cambria Math" panose="02040503050406030204" pitchFamily="18" charset="0"/>
                            <a:ea typeface="Cambria Math" panose="02040503050406030204" pitchFamily="18" charset="0"/>
                          </a:rPr>
                          <m:t>−2</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−3</m:t>
                        </m:r>
                      </m:den>
                    </m:f>
                  </m:oMath>
                </a14:m>
                <a:r>
                  <a:rPr lang="en-US" b="0" dirty="0">
                    <a:solidFill>
                      <a:schemeClr val="tx2"/>
                    </a:solidFill>
                    <a:latin typeface="Cambria Math" panose="02040503050406030204" pitchFamily="18" charset="0"/>
                    <a:ea typeface="Cambria Math" panose="02040503050406030204" pitchFamily="18" charset="0"/>
                  </a:rPr>
                  <a:t> using the table of values is tedious. What is an alternative way of determining all the zeroes of the given function?</a:t>
                </a: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Let x = 0, then solve for y.</a:t>
                </a:r>
              </a:p>
              <a:p>
                <a:pPr marL="514350" indent="-514350">
                  <a:buAutoNum type="alphaUcPeriod"/>
                </a:pPr>
                <a:r>
                  <a:rPr lang="en-US" b="0" dirty="0">
                    <a:solidFill>
                      <a:schemeClr val="tx2"/>
                    </a:solidFill>
                    <a:latin typeface="Cambria Math" panose="02040503050406030204" pitchFamily="18" charset="0"/>
                    <a:ea typeface="Cambria Math" panose="02040503050406030204" pitchFamily="18" charset="0"/>
                  </a:rPr>
                  <a:t>Let y = 0, then solve for x.</a:t>
                </a: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Find the vertical asymptote.</a:t>
                </a:r>
              </a:p>
              <a:p>
                <a:pPr marL="514350" indent="-514350">
                  <a:buAutoNum type="alphaUcPeriod"/>
                </a:pPr>
                <a:r>
                  <a:rPr lang="en-US" b="0" dirty="0">
                    <a:solidFill>
                      <a:schemeClr val="tx2"/>
                    </a:solidFill>
                    <a:latin typeface="Cambria Math" panose="02040503050406030204" pitchFamily="18" charset="0"/>
                    <a:ea typeface="Cambria Math" panose="02040503050406030204" pitchFamily="18" charset="0"/>
                  </a:rPr>
                  <a:t>Find the horizontal asymptote.</a:t>
                </a:r>
              </a:p>
              <a:p>
                <a:pPr marL="0" indent="0">
                  <a:buNone/>
                </a:pPr>
                <a:endParaRPr lang="en-US" b="0" dirty="0">
                  <a:latin typeface="Cambria Math" panose="02040503050406030204" pitchFamily="18" charset="0"/>
                  <a:ea typeface="Cambria Math" panose="02040503050406030204" pitchFamily="18" charset="0"/>
                </a:endParaRPr>
              </a:p>
              <a:p>
                <a:pPr marL="514350" indent="-514350">
                  <a:buAutoNum type="alphaUcPeriod"/>
                </a:pPr>
                <a:endParaRPr lang="en-US"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819C7EDA-E5BC-7255-2877-392DAF0994F6}"/>
                  </a:ext>
                </a:extLst>
              </p:cNvPr>
              <p:cNvSpPr>
                <a:spLocks noGrp="1" noRot="1" noChangeAspect="1" noMove="1" noResize="1" noEditPoints="1" noAdjustHandles="1" noChangeArrowheads="1" noChangeShapeType="1" noTextEdit="1"/>
              </p:cNvSpPr>
              <p:nvPr>
                <p:ph idx="1"/>
              </p:nvPr>
            </p:nvSpPr>
            <p:spPr>
              <a:blipFill>
                <a:blip r:embed="rId2"/>
                <a:stretch>
                  <a:fillRect l="-1246"/>
                </a:stretch>
              </a:blipFill>
            </p:spPr>
            <p:txBody>
              <a:bodyPr/>
              <a:lstStyle/>
              <a:p>
                <a:r>
                  <a:rPr lang="en-US">
                    <a:noFill/>
                  </a:rPr>
                  <a:t> </a:t>
                </a:r>
              </a:p>
            </p:txBody>
          </p:sp>
        </mc:Fallback>
      </mc:AlternateContent>
    </p:spTree>
    <p:extLst>
      <p:ext uri="{BB962C8B-B14F-4D97-AF65-F5344CB8AC3E}">
        <p14:creationId xmlns:p14="http://schemas.microsoft.com/office/powerpoint/2010/main" val="19467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14E09-0CB4-C0C8-F618-F891A1211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C9B95-146A-CD24-D1B1-CBBBB23EEDA2}"/>
              </a:ext>
            </a:extLst>
          </p:cNvPr>
          <p:cNvSpPr>
            <a:spLocks noGrp="1"/>
          </p:cNvSpPr>
          <p:nvPr>
            <p:ph type="title"/>
          </p:nvPr>
        </p:nvSpPr>
        <p:spPr/>
        <p:txBody>
          <a:bodyPr/>
          <a:lstStyle/>
          <a:p>
            <a:r>
              <a:rPr lang="en-US" dirty="0"/>
              <a:t>Problem #5(Identifying patterns)</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429A53-E263-448E-7999-379F2E6C26D5}"/>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The solution to </a:t>
                </a:r>
                <a14:m>
                  <m:oMath xmlns:m="http://schemas.openxmlformats.org/officeDocument/2006/math">
                    <m:func>
                      <m:funcPr>
                        <m:ctrlPr>
                          <a:rPr lang="en-US" i="1" smtClean="0">
                            <a:solidFill>
                              <a:schemeClr val="tx2"/>
                            </a:solidFill>
                            <a:latin typeface="Cambria Math" panose="02040503050406030204" pitchFamily="18" charset="0"/>
                            <a:ea typeface="Cambria Math" panose="02040503050406030204" pitchFamily="18" charset="0"/>
                          </a:rPr>
                        </m:ctrlPr>
                      </m:funcPr>
                      <m:fName>
                        <m:sSub>
                          <m:sSubPr>
                            <m:ctrlPr>
                              <a:rPr lang="en-US" i="1" smtClean="0">
                                <a:solidFill>
                                  <a:schemeClr val="tx2"/>
                                </a:solidFill>
                                <a:latin typeface="Cambria Math" panose="02040503050406030204" pitchFamily="18" charset="0"/>
                                <a:ea typeface="Cambria Math" panose="02040503050406030204" pitchFamily="18" charset="0"/>
                              </a:rPr>
                            </m:ctrlPr>
                          </m:sSubPr>
                          <m:e>
                            <m:r>
                              <m:rPr>
                                <m:sty m:val="p"/>
                              </m:rPr>
                              <a:rPr lang="en-US"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4</m:t>
                            </m:r>
                          </m:sub>
                        </m:sSub>
                      </m:fName>
                      <m:e>
                        <m:r>
                          <a:rPr lang="en-US" b="0" i="1" smtClean="0">
                            <a:solidFill>
                              <a:schemeClr val="tx2"/>
                            </a:solidFill>
                            <a:latin typeface="Cambria Math" panose="02040503050406030204" pitchFamily="18" charset="0"/>
                            <a:ea typeface="Cambria Math" panose="02040503050406030204" pitchFamily="18" charset="0"/>
                          </a:rPr>
                          <m:t>4</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𝑥</m:t>
                            </m:r>
                          </m:e>
                          <m:sup>
                            <m:r>
                              <a:rPr lang="en-US" b="0" i="1" smtClean="0">
                                <a:solidFill>
                                  <a:schemeClr val="tx2"/>
                                </a:solidFill>
                                <a:latin typeface="Cambria Math" panose="02040503050406030204" pitchFamily="18" charset="0"/>
                                <a:ea typeface="Cambria Math" panose="02040503050406030204" pitchFamily="18" charset="0"/>
                              </a:rPr>
                              <m:t>2</m:t>
                            </m:r>
                          </m:sup>
                        </m:sSup>
                      </m:e>
                    </m:func>
                    <m:r>
                      <a:rPr lang="en-US" b="0" i="1" smtClean="0">
                        <a:solidFill>
                          <a:schemeClr val="tx2"/>
                        </a:solidFill>
                        <a:latin typeface="Cambria Math" panose="02040503050406030204" pitchFamily="18" charset="0"/>
                        <a:ea typeface="Cambria Math" panose="02040503050406030204" pitchFamily="18" charset="0"/>
                      </a:rPr>
                      <m:t>−</m:t>
                    </m:r>
                    <m:func>
                      <m:funcPr>
                        <m:ctrlPr>
                          <a:rPr lang="en-US" b="0" i="1" smtClean="0">
                            <a:solidFill>
                              <a:schemeClr val="tx2"/>
                            </a:solidFill>
                            <a:latin typeface="Cambria Math" panose="02040503050406030204" pitchFamily="18" charset="0"/>
                            <a:ea typeface="Cambria Math" panose="02040503050406030204" pitchFamily="18" charset="0"/>
                          </a:rPr>
                        </m:ctrlPr>
                      </m:funcPr>
                      <m:fName>
                        <m:sSub>
                          <m:sSubPr>
                            <m:ctrlPr>
                              <a:rPr lang="en-US" b="0" i="1" smtClean="0">
                                <a:solidFill>
                                  <a:schemeClr val="tx2"/>
                                </a:solidFill>
                                <a:latin typeface="Cambria Math" panose="02040503050406030204" pitchFamily="18" charset="0"/>
                                <a:ea typeface="Cambria Math" panose="02040503050406030204" pitchFamily="18" charset="0"/>
                              </a:rPr>
                            </m:ctrlPr>
                          </m:sSubPr>
                          <m:e>
                            <m:r>
                              <m:rPr>
                                <m:sty m:val="p"/>
                              </m:rPr>
                              <a:rPr lang="en-US" b="0"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4</m:t>
                            </m:r>
                          </m:sub>
                        </m:sSub>
                      </m:fName>
                      <m:e>
                        <m:r>
                          <a:rPr lang="en-US" b="0" i="1" smtClean="0">
                            <a:solidFill>
                              <a:schemeClr val="tx2"/>
                            </a:solidFill>
                            <a:latin typeface="Cambria Math" panose="02040503050406030204" pitchFamily="18" charset="0"/>
                            <a:ea typeface="Cambria Math" panose="02040503050406030204" pitchFamily="18" charset="0"/>
                          </a:rPr>
                          <m:t>2</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=2</m:t>
                        </m:r>
                      </m:e>
                    </m:func>
                  </m:oMath>
                </a14:m>
                <a:r>
                  <a:rPr lang="en-US" b="0" dirty="0">
                    <a:solidFill>
                      <a:schemeClr val="tx2"/>
                    </a:solidFill>
                    <a:latin typeface="Cambria Math" panose="02040503050406030204" pitchFamily="18" charset="0"/>
                    <a:ea typeface="Cambria Math" panose="02040503050406030204" pitchFamily="18" charset="0"/>
                  </a:rPr>
                  <a:t> is </a:t>
                </a:r>
                <a14:m>
                  <m:oMath xmlns:m="http://schemas.openxmlformats.org/officeDocument/2006/math">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=8</m:t>
                    </m:r>
                  </m:oMath>
                </a14:m>
                <a:r>
                  <a:rPr lang="en-US" b="0" dirty="0">
                    <a:solidFill>
                      <a:schemeClr val="tx2"/>
                    </a:solidFill>
                    <a:latin typeface="Cambria Math" panose="02040503050406030204" pitchFamily="18" charset="0"/>
                    <a:ea typeface="Cambria Math" panose="02040503050406030204" pitchFamily="18" charset="0"/>
                  </a:rPr>
                  <a:t>. Which law of logarithms was used to solve </a:t>
                </a:r>
                <a:r>
                  <a:rPr lang="en-US" dirty="0">
                    <a:solidFill>
                      <a:schemeClr val="tx2"/>
                    </a:solidFill>
                    <a:latin typeface="Cambria Math" panose="02040503050406030204" pitchFamily="18" charset="0"/>
                    <a:ea typeface="Cambria Math" panose="02040503050406030204" pitchFamily="18" charset="0"/>
                  </a:rPr>
                  <a:t>the given equation?</a:t>
                </a:r>
              </a:p>
              <a:p>
                <a:pPr marL="514350" indent="-514350">
                  <a:buAutoNum type="alphaUcPeriod"/>
                </a:pPr>
                <a:r>
                  <a:rPr lang="en-US" b="0" dirty="0">
                    <a:solidFill>
                      <a:schemeClr val="tx2"/>
                    </a:solidFill>
                    <a:latin typeface="Cambria Math" panose="02040503050406030204" pitchFamily="18" charset="0"/>
                    <a:ea typeface="Cambria Math" panose="02040503050406030204" pitchFamily="18" charset="0"/>
                  </a:rPr>
                  <a:t>Power Law</a:t>
                </a:r>
                <a:r>
                  <a:rPr lang="en-US" dirty="0">
                    <a:solidFill>
                      <a:schemeClr val="tx2"/>
                    </a:solidFill>
                    <a:latin typeface="Cambria Math" panose="02040503050406030204" pitchFamily="18" charset="0"/>
                    <a:ea typeface="Cambria Math" panose="02040503050406030204" pitchFamily="18" charset="0"/>
                  </a:rPr>
                  <a:t>/Rule of Logarithms (</a:t>
                </a:r>
                <a14:m>
                  <m:oMath xmlns:m="http://schemas.openxmlformats.org/officeDocument/2006/math">
                    <m:func>
                      <m:funcPr>
                        <m:ctrlPr>
                          <a:rPr lang="en-US" i="1" smtClean="0">
                            <a:solidFill>
                              <a:schemeClr val="tx2"/>
                            </a:solidFill>
                            <a:latin typeface="Cambria Math" panose="02040503050406030204" pitchFamily="18" charset="0"/>
                            <a:ea typeface="Cambria Math" panose="02040503050406030204" pitchFamily="18" charset="0"/>
                          </a:rPr>
                        </m:ctrlPr>
                      </m:funcPr>
                      <m:fName>
                        <m:sSub>
                          <m:sSubPr>
                            <m:ctrlPr>
                              <a:rPr lang="en-US" i="1" smtClean="0">
                                <a:solidFill>
                                  <a:schemeClr val="tx2"/>
                                </a:solidFill>
                                <a:latin typeface="Cambria Math" panose="02040503050406030204" pitchFamily="18" charset="0"/>
                                <a:ea typeface="Cambria Math" panose="02040503050406030204" pitchFamily="18" charset="0"/>
                              </a:rPr>
                            </m:ctrlPr>
                          </m:sSubPr>
                          <m:e>
                            <m:r>
                              <m:rPr>
                                <m:sty m:val="p"/>
                              </m:rPr>
                              <a:rPr lang="en-US"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𝑏</m:t>
                            </m:r>
                          </m:sub>
                        </m:sSub>
                      </m:fName>
                      <m:e>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𝑚</m:t>
                            </m:r>
                          </m:e>
                          <m:sup>
                            <m:r>
                              <a:rPr lang="en-US" b="0" i="1" smtClean="0">
                                <a:solidFill>
                                  <a:schemeClr val="tx2"/>
                                </a:solidFill>
                                <a:latin typeface="Cambria Math" panose="02040503050406030204" pitchFamily="18" charset="0"/>
                                <a:ea typeface="Cambria Math" panose="02040503050406030204" pitchFamily="18" charset="0"/>
                              </a:rPr>
                              <m:t>𝑛</m:t>
                            </m:r>
                          </m:sup>
                        </m:sSup>
                      </m:e>
                    </m:func>
                    <m:r>
                      <a:rPr lang="en-US" b="0" i="1" smtClean="0">
                        <a:solidFill>
                          <a:schemeClr val="tx2"/>
                        </a:solidFill>
                        <a:latin typeface="Cambria Math" panose="02040503050406030204" pitchFamily="18" charset="0"/>
                        <a:ea typeface="Cambria Math" panose="02040503050406030204" pitchFamily="18" charset="0"/>
                      </a:rPr>
                      <m:t>=</m:t>
                    </m:r>
                    <m:r>
                      <a:rPr lang="en-US" b="0" i="1" smtClean="0">
                        <a:solidFill>
                          <a:schemeClr val="tx2"/>
                        </a:solidFill>
                        <a:latin typeface="Cambria Math" panose="02040503050406030204" pitchFamily="18" charset="0"/>
                        <a:ea typeface="Cambria Math" panose="02040503050406030204" pitchFamily="18" charset="0"/>
                      </a:rPr>
                      <m:t>𝑛</m:t>
                    </m:r>
                    <m:func>
                      <m:funcPr>
                        <m:ctrlPr>
                          <a:rPr lang="en-US" b="0" i="1" smtClean="0">
                            <a:solidFill>
                              <a:schemeClr val="tx2"/>
                            </a:solidFill>
                            <a:latin typeface="Cambria Math" panose="02040503050406030204" pitchFamily="18" charset="0"/>
                            <a:ea typeface="Cambria Math" panose="02040503050406030204" pitchFamily="18" charset="0"/>
                          </a:rPr>
                        </m:ctrlPr>
                      </m:funcPr>
                      <m:fName>
                        <m:sSub>
                          <m:sSubPr>
                            <m:ctrlPr>
                              <a:rPr lang="en-US" b="0" i="1" smtClean="0">
                                <a:solidFill>
                                  <a:schemeClr val="tx2"/>
                                </a:solidFill>
                                <a:latin typeface="Cambria Math" panose="02040503050406030204" pitchFamily="18" charset="0"/>
                                <a:ea typeface="Cambria Math" panose="02040503050406030204" pitchFamily="18" charset="0"/>
                              </a:rPr>
                            </m:ctrlPr>
                          </m:sSubPr>
                          <m:e>
                            <m:r>
                              <m:rPr>
                                <m:sty m:val="p"/>
                              </m:rPr>
                              <a:rPr lang="en-US" b="0"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𝑏</m:t>
                            </m:r>
                          </m:sub>
                        </m:sSub>
                      </m:fName>
                      <m:e>
                        <m:r>
                          <a:rPr lang="en-US" b="0" i="1" smtClean="0">
                            <a:solidFill>
                              <a:schemeClr val="tx2"/>
                            </a:solidFill>
                            <a:latin typeface="Cambria Math" panose="02040503050406030204" pitchFamily="18" charset="0"/>
                            <a:ea typeface="Cambria Math" panose="02040503050406030204" pitchFamily="18" charset="0"/>
                          </a:rPr>
                          <m:t>𝑚</m:t>
                        </m:r>
                      </m:e>
                    </m:func>
                  </m:oMath>
                </a14:m>
                <a:r>
                  <a:rPr lang="en-US" b="0" dirty="0">
                    <a:solidFill>
                      <a:schemeClr val="tx2"/>
                    </a:solidFill>
                    <a:latin typeface="Cambria Math" panose="02040503050406030204" pitchFamily="18" charset="0"/>
                    <a:ea typeface="Cambria Math" panose="02040503050406030204" pitchFamily="18" charset="0"/>
                  </a:rPr>
                  <a:t>)</a:t>
                </a: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Product Law/Rule of Logarithms (</a:t>
                </a:r>
                <a14:m>
                  <m:oMath xmlns:m="http://schemas.openxmlformats.org/officeDocument/2006/math">
                    <m:func>
                      <m:funcPr>
                        <m:ctrlPr>
                          <a:rPr lang="en-US" i="1" smtClean="0">
                            <a:solidFill>
                              <a:schemeClr val="tx2"/>
                            </a:solidFill>
                            <a:latin typeface="Cambria Math" panose="02040503050406030204" pitchFamily="18" charset="0"/>
                            <a:ea typeface="Cambria Math" panose="02040503050406030204" pitchFamily="18" charset="0"/>
                          </a:rPr>
                        </m:ctrlPr>
                      </m:funcPr>
                      <m:fName>
                        <m:sSub>
                          <m:sSubPr>
                            <m:ctrlPr>
                              <a:rPr lang="en-US" i="1" smtClean="0">
                                <a:solidFill>
                                  <a:schemeClr val="tx2"/>
                                </a:solidFill>
                                <a:latin typeface="Cambria Math" panose="02040503050406030204" pitchFamily="18" charset="0"/>
                                <a:ea typeface="Cambria Math" panose="02040503050406030204" pitchFamily="18" charset="0"/>
                              </a:rPr>
                            </m:ctrlPr>
                          </m:sSubPr>
                          <m:e>
                            <m:func>
                              <m:funcPr>
                                <m:ctrlPr>
                                  <a:rPr lang="en-US" i="1" smtClean="0">
                                    <a:solidFill>
                                      <a:schemeClr val="tx2"/>
                                    </a:solidFill>
                                    <a:latin typeface="Cambria Math" panose="02040503050406030204" pitchFamily="18" charset="0"/>
                                    <a:ea typeface="Cambria Math" panose="02040503050406030204" pitchFamily="18" charset="0"/>
                                  </a:rPr>
                                </m:ctrlPr>
                              </m:funcPr>
                              <m:fName>
                                <m:sSub>
                                  <m:sSubPr>
                                    <m:ctrlPr>
                                      <a:rPr lang="en-US" i="1" smtClean="0">
                                        <a:solidFill>
                                          <a:schemeClr val="tx2"/>
                                        </a:solidFill>
                                        <a:latin typeface="Cambria Math" panose="02040503050406030204" pitchFamily="18" charset="0"/>
                                        <a:ea typeface="Cambria Math" panose="02040503050406030204" pitchFamily="18" charset="0"/>
                                      </a:rPr>
                                    </m:ctrlPr>
                                  </m:sSubPr>
                                  <m:e>
                                    <m:r>
                                      <m:rPr>
                                        <m:sty m:val="p"/>
                                      </m:rPr>
                                      <a:rPr lang="en-US"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𝑏</m:t>
                                    </m:r>
                                  </m:sub>
                                </m:sSub>
                              </m:fName>
                              <m:e>
                                <m:r>
                                  <a:rPr lang="en-US" b="0" i="1" smtClean="0">
                                    <a:solidFill>
                                      <a:schemeClr val="tx2"/>
                                    </a:solidFill>
                                    <a:latin typeface="Cambria Math" panose="02040503050406030204" pitchFamily="18" charset="0"/>
                                    <a:ea typeface="Cambria Math" panose="02040503050406030204" pitchFamily="18" charset="0"/>
                                  </a:rPr>
                                  <m:t>𝑀𝑁</m:t>
                                </m:r>
                                <m:r>
                                  <a:rPr lang="en-US" b="0" i="1" smtClean="0">
                                    <a:solidFill>
                                      <a:schemeClr val="tx2"/>
                                    </a:solidFill>
                                    <a:latin typeface="Cambria Math" panose="02040503050406030204" pitchFamily="18" charset="0"/>
                                    <a:ea typeface="Cambria Math" panose="02040503050406030204" pitchFamily="18" charset="0"/>
                                  </a:rPr>
                                  <m:t>=</m:t>
                                </m:r>
                              </m:e>
                            </m:func>
                            <m:r>
                              <m:rPr>
                                <m:sty m:val="p"/>
                              </m:rPr>
                              <a:rPr lang="en-US"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𝑏</m:t>
                            </m:r>
                          </m:sub>
                        </m:sSub>
                      </m:fName>
                      <m:e>
                        <m:r>
                          <a:rPr lang="en-US" b="0" i="1" smtClean="0">
                            <a:solidFill>
                              <a:schemeClr val="tx2"/>
                            </a:solidFill>
                            <a:latin typeface="Cambria Math" panose="02040503050406030204" pitchFamily="18" charset="0"/>
                            <a:ea typeface="Cambria Math" panose="02040503050406030204" pitchFamily="18" charset="0"/>
                          </a:rPr>
                          <m:t>𝑀</m:t>
                        </m:r>
                        <m:r>
                          <a:rPr lang="en-US" b="0" i="1" smtClean="0">
                            <a:solidFill>
                              <a:schemeClr val="tx2"/>
                            </a:solidFill>
                            <a:latin typeface="Cambria Math" panose="02040503050406030204" pitchFamily="18" charset="0"/>
                            <a:ea typeface="Cambria Math" panose="02040503050406030204" pitchFamily="18" charset="0"/>
                          </a:rPr>
                          <m:t>+</m:t>
                        </m:r>
                        <m:func>
                          <m:funcPr>
                            <m:ctrlPr>
                              <a:rPr lang="en-US" b="0" i="1" smtClean="0">
                                <a:solidFill>
                                  <a:schemeClr val="tx2"/>
                                </a:solidFill>
                                <a:latin typeface="Cambria Math" panose="02040503050406030204" pitchFamily="18" charset="0"/>
                                <a:ea typeface="Cambria Math" panose="02040503050406030204" pitchFamily="18" charset="0"/>
                              </a:rPr>
                            </m:ctrlPr>
                          </m:funcPr>
                          <m:fName>
                            <m:sSub>
                              <m:sSubPr>
                                <m:ctrlPr>
                                  <a:rPr lang="en-US" b="0" i="1" smtClean="0">
                                    <a:solidFill>
                                      <a:schemeClr val="tx2"/>
                                    </a:solidFill>
                                    <a:latin typeface="Cambria Math" panose="02040503050406030204" pitchFamily="18" charset="0"/>
                                    <a:ea typeface="Cambria Math" panose="02040503050406030204" pitchFamily="18" charset="0"/>
                                  </a:rPr>
                                </m:ctrlPr>
                              </m:sSubPr>
                              <m:e>
                                <m:r>
                                  <m:rPr>
                                    <m:sty m:val="p"/>
                                  </m:rPr>
                                  <a:rPr lang="en-US" b="0" i="0" smtClean="0">
                                    <a:solidFill>
                                      <a:schemeClr val="tx2"/>
                                    </a:solidFill>
                                    <a:latin typeface="Cambria Math" panose="02040503050406030204" pitchFamily="18" charset="0"/>
                                    <a:ea typeface="Cambria Math" panose="02040503050406030204" pitchFamily="18" charset="0"/>
                                  </a:rPr>
                                  <m:t>log</m:t>
                                </m:r>
                              </m:e>
                              <m:sub>
                                <m:r>
                                  <a:rPr lang="en-US" b="0" i="1" smtClean="0">
                                    <a:solidFill>
                                      <a:schemeClr val="tx2"/>
                                    </a:solidFill>
                                    <a:latin typeface="Cambria Math" panose="02040503050406030204" pitchFamily="18" charset="0"/>
                                    <a:ea typeface="Cambria Math" panose="02040503050406030204" pitchFamily="18" charset="0"/>
                                  </a:rPr>
                                  <m:t>𝑏</m:t>
                                </m:r>
                              </m:sub>
                            </m:sSub>
                          </m:fName>
                          <m:e>
                            <m:r>
                              <a:rPr lang="en-US" b="0" i="1" smtClean="0">
                                <a:solidFill>
                                  <a:schemeClr val="tx2"/>
                                </a:solidFill>
                                <a:latin typeface="Cambria Math" panose="02040503050406030204" pitchFamily="18" charset="0"/>
                                <a:ea typeface="Cambria Math" panose="02040503050406030204" pitchFamily="18" charset="0"/>
                              </a:rPr>
                              <m:t>𝑁</m:t>
                            </m:r>
                          </m:e>
                        </m:func>
                        <m:r>
                          <a:rPr lang="en-US" b="0" i="1" smtClean="0">
                            <a:solidFill>
                              <a:schemeClr val="tx2"/>
                            </a:solidFill>
                            <a:latin typeface="Cambria Math" panose="02040503050406030204" pitchFamily="18" charset="0"/>
                            <a:ea typeface="Cambria Math" panose="02040503050406030204" pitchFamily="18" charset="0"/>
                          </a:rPr>
                          <m:t>)</m:t>
                        </m:r>
                      </m:e>
                    </m:func>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r>
                  <a:rPr lang="en-US" dirty="0">
                    <a:solidFill>
                      <a:schemeClr val="tx2"/>
                    </a:solidFill>
                    <a:latin typeface="Cambria Math" panose="02040503050406030204" pitchFamily="18" charset="0"/>
                    <a:ea typeface="Cambria Math" panose="02040503050406030204" pitchFamily="18" charset="0"/>
                  </a:rPr>
                  <a:t>Quotient Law/Rule of Logarithms (</a:t>
                </a:r>
                <a14:m>
                  <m:oMath xmlns:m="http://schemas.openxmlformats.org/officeDocument/2006/math">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𝑀</m:t>
                                </m:r>
                                <m:r>
                                  <a:rPr lang="en-US" b="0" i="1" smtClean="0">
                                    <a:solidFill>
                                      <a:schemeClr val="tx2"/>
                                    </a:solidFill>
                                    <a:latin typeface="Cambria Math" panose="02040503050406030204" pitchFamily="18" charset="0"/>
                                    <a:ea typeface="Cambria Math" panose="02040503050406030204" pitchFamily="18" charset="0"/>
                                  </a:rPr>
                                  <m:t>/</m:t>
                                </m:r>
                                <m:r>
                                  <a:rPr lang="en-US" i="1">
                                    <a:solidFill>
                                      <a:schemeClr val="tx2"/>
                                    </a:solidFill>
                                    <a:latin typeface="Cambria Math" panose="02040503050406030204" pitchFamily="18" charset="0"/>
                                    <a:ea typeface="Cambria Math" panose="02040503050406030204" pitchFamily="18" charset="0"/>
                                  </a:rPr>
                                  <m:t>𝑁</m:t>
                                </m:r>
                                <m:r>
                                  <a:rPr lang="en-US" i="1">
                                    <a:solidFill>
                                      <a:schemeClr val="tx2"/>
                                    </a:solidFill>
                                    <a:latin typeface="Cambria Math" panose="02040503050406030204" pitchFamily="18" charset="0"/>
                                    <a:ea typeface="Cambria Math" panose="02040503050406030204" pitchFamily="18" charset="0"/>
                                  </a:rPr>
                                  <m:t>=</m:t>
                                </m:r>
                              </m:e>
                            </m:func>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𝑀</m:t>
                        </m:r>
                        <m:r>
                          <a:rPr lang="en-US" b="0" i="1" smtClean="0">
                            <a:solidFill>
                              <a:schemeClr val="tx2"/>
                            </a:solidFill>
                            <a:latin typeface="Cambria Math" panose="02040503050406030204" pitchFamily="18" charset="0"/>
                            <a:ea typeface="Cambria Math" panose="02040503050406030204" pitchFamily="18" charset="0"/>
                          </a:rPr>
                          <m:t>−</m:t>
                        </m:r>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𝑁</m:t>
                            </m:r>
                          </m:e>
                        </m:func>
                        <m:r>
                          <a:rPr lang="en-US" i="1">
                            <a:solidFill>
                              <a:schemeClr val="tx2"/>
                            </a:solidFill>
                            <a:latin typeface="Cambria Math" panose="02040503050406030204" pitchFamily="18" charset="0"/>
                            <a:ea typeface="Cambria Math" panose="02040503050406030204" pitchFamily="18" charset="0"/>
                          </a:rPr>
                          <m:t>)</m:t>
                        </m:r>
                      </m:e>
                    </m:func>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Font typeface="Euphemia" pitchFamily="34" charset="0"/>
                  <a:buAutoNum type="alphaUcPeriod"/>
                </a:pPr>
                <a:r>
                  <a:rPr lang="en-US" dirty="0">
                    <a:solidFill>
                      <a:schemeClr val="tx2"/>
                    </a:solidFill>
                    <a:latin typeface="Cambria Math" panose="02040503050406030204" pitchFamily="18" charset="0"/>
                    <a:ea typeface="Cambria Math" panose="02040503050406030204" pitchFamily="18" charset="0"/>
                  </a:rPr>
                  <a:t>Quotient Law/Rule of Logarithms (</a:t>
                </a:r>
                <a14:m>
                  <m:oMath xmlns:m="http://schemas.openxmlformats.org/officeDocument/2006/math">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𝑀</m:t>
                                </m:r>
                                <m:r>
                                  <a:rPr lang="en-US" i="1" smtClean="0">
                                    <a:solidFill>
                                      <a:schemeClr val="tx2"/>
                                    </a:solidFill>
                                    <a:latin typeface="Cambria Math" panose="02040503050406030204" pitchFamily="18" charset="0"/>
                                    <a:ea typeface="Cambria Math" panose="02040503050406030204" pitchFamily="18" charset="0"/>
                                  </a:rPr>
                                  <m:t>√</m:t>
                                </m:r>
                                <m:r>
                                  <a:rPr lang="en-US" i="1">
                                    <a:solidFill>
                                      <a:schemeClr val="tx2"/>
                                    </a:solidFill>
                                    <a:latin typeface="Cambria Math" panose="02040503050406030204" pitchFamily="18" charset="0"/>
                                    <a:ea typeface="Cambria Math" panose="02040503050406030204" pitchFamily="18" charset="0"/>
                                  </a:rPr>
                                  <m:t>𝑁</m:t>
                                </m:r>
                                <m:r>
                                  <a:rPr lang="en-US" i="1">
                                    <a:solidFill>
                                      <a:schemeClr val="tx2"/>
                                    </a:solidFill>
                                    <a:latin typeface="Cambria Math" panose="02040503050406030204" pitchFamily="18" charset="0"/>
                                    <a:ea typeface="Cambria Math" panose="02040503050406030204" pitchFamily="18" charset="0"/>
                                  </a:rPr>
                                  <m:t>=</m:t>
                                </m:r>
                              </m:e>
                            </m:func>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𝑀</m:t>
                        </m:r>
                        <m:r>
                          <a:rPr lang="en-US" i="1">
                            <a:solidFill>
                              <a:schemeClr val="tx2"/>
                            </a:solidFill>
                            <a:latin typeface="Cambria Math" panose="02040503050406030204" pitchFamily="18" charset="0"/>
                            <a:ea typeface="Cambria Math" panose="02040503050406030204" pitchFamily="18" charset="0"/>
                          </a:rPr>
                          <m:t>−</m:t>
                        </m:r>
                        <m:func>
                          <m:funcPr>
                            <m:ctrlPr>
                              <a:rPr lang="en-US" i="1">
                                <a:solidFill>
                                  <a:schemeClr val="tx2"/>
                                </a:solidFill>
                                <a:latin typeface="Cambria Math" panose="02040503050406030204" pitchFamily="18" charset="0"/>
                                <a:ea typeface="Cambria Math" panose="02040503050406030204" pitchFamily="18" charset="0"/>
                              </a:rPr>
                            </m:ctrlPr>
                          </m:funcPr>
                          <m:fName>
                            <m:sSub>
                              <m:sSubPr>
                                <m:ctrlPr>
                                  <a:rPr lang="en-US" i="1">
                                    <a:solidFill>
                                      <a:schemeClr val="tx2"/>
                                    </a:solidFill>
                                    <a:latin typeface="Cambria Math" panose="02040503050406030204" pitchFamily="18" charset="0"/>
                                    <a:ea typeface="Cambria Math" panose="02040503050406030204" pitchFamily="18" charset="0"/>
                                  </a:rPr>
                                </m:ctrlPr>
                              </m:sSubPr>
                              <m:e>
                                <m:r>
                                  <m:rPr>
                                    <m:sty m:val="p"/>
                                  </m:rPr>
                                  <a:rPr lang="en-US">
                                    <a:solidFill>
                                      <a:schemeClr val="tx2"/>
                                    </a:solidFill>
                                    <a:latin typeface="Cambria Math" panose="02040503050406030204" pitchFamily="18" charset="0"/>
                                    <a:ea typeface="Cambria Math" panose="02040503050406030204" pitchFamily="18" charset="0"/>
                                  </a:rPr>
                                  <m:t>log</m:t>
                                </m:r>
                              </m:e>
                              <m:sub>
                                <m:r>
                                  <a:rPr lang="en-US" i="1">
                                    <a:solidFill>
                                      <a:schemeClr val="tx2"/>
                                    </a:solidFill>
                                    <a:latin typeface="Cambria Math" panose="02040503050406030204" pitchFamily="18" charset="0"/>
                                    <a:ea typeface="Cambria Math" panose="02040503050406030204" pitchFamily="18" charset="0"/>
                                  </a:rPr>
                                  <m:t>𝑏</m:t>
                                </m:r>
                              </m:sub>
                            </m:sSub>
                          </m:fName>
                          <m:e>
                            <m:r>
                              <a:rPr lang="en-US" i="1">
                                <a:solidFill>
                                  <a:schemeClr val="tx2"/>
                                </a:solidFill>
                                <a:latin typeface="Cambria Math" panose="02040503050406030204" pitchFamily="18" charset="0"/>
                                <a:ea typeface="Cambria Math" panose="02040503050406030204" pitchFamily="18" charset="0"/>
                              </a:rPr>
                              <m:t>𝑁</m:t>
                            </m:r>
                          </m:e>
                        </m:func>
                        <m:r>
                          <a:rPr lang="en-US" i="1">
                            <a:solidFill>
                              <a:schemeClr val="tx2"/>
                            </a:solidFill>
                            <a:latin typeface="Cambria Math" panose="02040503050406030204" pitchFamily="18" charset="0"/>
                            <a:ea typeface="Cambria Math" panose="02040503050406030204" pitchFamily="18" charset="0"/>
                          </a:rPr>
                          <m:t>)</m:t>
                        </m:r>
                      </m:e>
                    </m:func>
                  </m:oMath>
                </a14:m>
                <a:endParaRPr lang="en-US" dirty="0">
                  <a:latin typeface="Cambria Math" panose="02040503050406030204" pitchFamily="18" charset="0"/>
                  <a:ea typeface="Cambria Math" panose="02040503050406030204" pitchFamily="18" charset="0"/>
                </a:endParaRPr>
              </a:p>
              <a:p>
                <a:pPr marL="514350" indent="-514350">
                  <a:buAutoNum type="alphaUcPeriod"/>
                </a:pPr>
                <a:endParaRPr lang="en-US" b="0" dirty="0">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marL="514350" indent="-514350">
                  <a:buAutoNum type="alphaUcPeriod"/>
                </a:pPr>
                <a:endParaRPr lang="en-US"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0E429A53-E263-448E-7999-379F2E6C26D5}"/>
                  </a:ext>
                </a:extLst>
              </p:cNvPr>
              <p:cNvSpPr>
                <a:spLocks noGrp="1" noRot="1" noChangeAspect="1" noMove="1" noResize="1" noEditPoints="1" noAdjustHandles="1" noChangeArrowheads="1" noChangeShapeType="1" noTextEdit="1"/>
              </p:cNvSpPr>
              <p:nvPr>
                <p:ph idx="1"/>
              </p:nvPr>
            </p:nvSpPr>
            <p:spPr>
              <a:blipFill>
                <a:blip r:embed="rId2"/>
                <a:stretch>
                  <a:fillRect l="-1246" t="-2400"/>
                </a:stretch>
              </a:blipFill>
            </p:spPr>
            <p:txBody>
              <a:bodyPr/>
              <a:lstStyle/>
              <a:p>
                <a:r>
                  <a:rPr lang="en-US">
                    <a:noFill/>
                  </a:rPr>
                  <a:t> </a:t>
                </a:r>
              </a:p>
            </p:txBody>
          </p:sp>
        </mc:Fallback>
      </mc:AlternateContent>
    </p:spTree>
    <p:extLst>
      <p:ext uri="{BB962C8B-B14F-4D97-AF65-F5344CB8AC3E}">
        <p14:creationId xmlns:p14="http://schemas.microsoft.com/office/powerpoint/2010/main" val="121689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9520-AE47-47A4-E44E-47F4F76B6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B09ED-AEE7-4748-9D5F-051B67E4068F}"/>
              </a:ext>
            </a:extLst>
          </p:cNvPr>
          <p:cNvSpPr>
            <a:spLocks noGrp="1"/>
          </p:cNvSpPr>
          <p:nvPr>
            <p:ph type="title"/>
          </p:nvPr>
        </p:nvSpPr>
        <p:spPr/>
        <p:txBody>
          <a:bodyPr/>
          <a:lstStyle/>
          <a:p>
            <a:r>
              <a:rPr lang="en-US" dirty="0"/>
              <a:t>Problem #6(Identifying patterns)</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1CBB5A-6F46-611E-3DAF-CBAF22EB3FB5}"/>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ea typeface="Cambria Math" panose="02040503050406030204" pitchFamily="18" charset="0"/>
                  </a:rPr>
                  <a:t>Which of the following will result in the equation in the box?</a:t>
                </a:r>
              </a:p>
              <a:p>
                <a:pPr marL="0" indent="0">
                  <a:buNone/>
                </a:pPr>
                <a:endParaRPr lang="en-US"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endParaRPr lang="en-US" b="0" dirty="0">
                  <a:solidFill>
                    <a:schemeClr val="tx2"/>
                  </a:solidFill>
                  <a:latin typeface="Cambria Math" panose="02040503050406030204" pitchFamily="18" charset="0"/>
                  <a:ea typeface="Cambria Math" panose="02040503050406030204" pitchFamily="18" charset="0"/>
                </a:endParaRPr>
              </a:p>
              <a:p>
                <a:pPr marL="0" indent="0">
                  <a:buNone/>
                </a:pPr>
                <a:endParaRPr lang="en-US" b="0"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14:m>
                  <m:oMath xmlns:m="http://schemas.openxmlformats.org/officeDocument/2006/math">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32</m:t>
                        </m:r>
                      </m:e>
                      <m:sup>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+1</m:t>
                        </m:r>
                      </m:sup>
                    </m:sSup>
                    <m:r>
                      <a:rPr lang="en-US" b="0" i="1" smtClean="0">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2</m:t>
                        </m:r>
                      </m:e>
                      <m:sup>
                        <m:r>
                          <a:rPr lang="en-US" b="0" i="1" smtClean="0">
                            <a:solidFill>
                              <a:schemeClr val="tx2"/>
                            </a:solidFill>
                            <a:latin typeface="Cambria Math" panose="02040503050406030204" pitchFamily="18" charset="0"/>
                            <a:ea typeface="Cambria Math" panose="02040503050406030204" pitchFamily="18" charset="0"/>
                          </a:rPr>
                          <m:t>2</m:t>
                        </m:r>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+4</m:t>
                        </m:r>
                      </m:sup>
                    </m:sSup>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14:m>
                  <m:oMath xmlns:m="http://schemas.openxmlformats.org/officeDocument/2006/math">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32</m:t>
                        </m:r>
                      </m:e>
                      <m:sup>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+1</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4</m:t>
                        </m:r>
                      </m:e>
                      <m:sup>
                        <m:r>
                          <a:rPr lang="en-US" b="0" i="1" smtClean="0">
                            <a:solidFill>
                              <a:schemeClr val="tx2"/>
                            </a:solidFill>
                            <a:latin typeface="Cambria Math" panose="02040503050406030204" pitchFamily="18" charset="0"/>
                            <a:ea typeface="Cambria Math" panose="02040503050406030204" pitchFamily="18" charset="0"/>
                          </a:rPr>
                          <m:t>𝑥</m:t>
                        </m:r>
                        <m:r>
                          <a:rPr lang="en-US" b="0" i="1" smtClean="0">
                            <a:solidFill>
                              <a:schemeClr val="tx2"/>
                            </a:solidFill>
                            <a:latin typeface="Cambria Math" panose="02040503050406030204" pitchFamily="18" charset="0"/>
                            <a:ea typeface="Cambria Math" panose="02040503050406030204" pitchFamily="18" charset="0"/>
                          </a:rPr>
                          <m:t>+2</m:t>
                        </m:r>
                      </m:sup>
                    </m:sSup>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14:m>
                  <m:oMath xmlns:m="http://schemas.openxmlformats.org/officeDocument/2006/math">
                    <m:sSup>
                      <m:sSupPr>
                        <m:ctrlPr>
                          <a:rPr lang="en-US" i="1">
                            <a:solidFill>
                              <a:schemeClr val="tx2"/>
                            </a:solidFill>
                            <a:latin typeface="Cambria Math" panose="02040503050406030204" pitchFamily="18" charset="0"/>
                          </a:rPr>
                        </m:ctrlPr>
                      </m:sSupPr>
                      <m:e>
                        <m:r>
                          <a:rPr lang="en-US" i="1">
                            <a:solidFill>
                              <a:schemeClr val="tx2"/>
                            </a:solidFill>
                            <a:latin typeface="Cambria Math" panose="02040503050406030204" pitchFamily="18" charset="0"/>
                          </a:rPr>
                          <m:t>4</m:t>
                        </m:r>
                      </m:e>
                      <m:sup>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+1</m:t>
                        </m:r>
                      </m:sup>
                    </m:sSup>
                    <m:r>
                      <a:rPr lang="en-US" i="1">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4</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4</m:t>
                        </m:r>
                      </m:e>
                      <m:sup>
                        <m:r>
                          <a:rPr lang="en-US" i="1">
                            <a:solidFill>
                              <a:schemeClr val="tx2"/>
                            </a:solidFill>
                            <a:latin typeface="Cambria Math" panose="02040503050406030204" pitchFamily="18" charset="0"/>
                            <a:ea typeface="Cambria Math" panose="02040503050406030204" pitchFamily="18" charset="0"/>
                          </a:rPr>
                          <m:t>2</m:t>
                        </m:r>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+1</m:t>
                        </m:r>
                      </m:sup>
                    </m:sSup>
                  </m:oMath>
                </a14:m>
                <a:endParaRPr lang="en-US" b="0"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14:m>
                  <m:oMath xmlns:m="http://schemas.openxmlformats.org/officeDocument/2006/math">
                    <m:sSup>
                      <m:sSupPr>
                        <m:ctrlPr>
                          <a:rPr lang="en-US" i="1">
                            <a:solidFill>
                              <a:schemeClr val="tx2"/>
                            </a:solidFill>
                            <a:latin typeface="Cambria Math" panose="02040503050406030204" pitchFamily="18" charset="0"/>
                          </a:rPr>
                        </m:ctrlPr>
                      </m:sSupPr>
                      <m:e>
                        <m:r>
                          <a:rPr lang="en-US" b="0" i="1" smtClean="0">
                            <a:solidFill>
                              <a:schemeClr val="tx2"/>
                            </a:solidFill>
                            <a:latin typeface="Cambria Math" panose="02040503050406030204" pitchFamily="18" charset="0"/>
                          </a:rPr>
                          <m:t>2</m:t>
                        </m:r>
                      </m:e>
                      <m:sup>
                        <m:r>
                          <a:rPr lang="en-US" b="0" i="1" smtClean="0">
                            <a:solidFill>
                              <a:schemeClr val="tx2"/>
                            </a:solidFill>
                            <a:latin typeface="Cambria Math" panose="02040503050406030204" pitchFamily="18" charset="0"/>
                          </a:rPr>
                          <m:t>2</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b="0" i="1" smtClean="0">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2</m:t>
                        </m:r>
                      </m:e>
                      <m:sup>
                        <m:r>
                          <a:rPr lang="en-US" b="0" i="1" smtClean="0">
                            <a:solidFill>
                              <a:schemeClr val="tx2"/>
                            </a:solidFill>
                            <a:latin typeface="Cambria Math" panose="02040503050406030204" pitchFamily="18" charset="0"/>
                            <a:ea typeface="Cambria Math" panose="02040503050406030204" pitchFamily="18" charset="0"/>
                          </a:rPr>
                          <m:t>3</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2</m:t>
                        </m:r>
                      </m:e>
                      <m:sup>
                        <m:r>
                          <a:rPr lang="en-US" i="1">
                            <a:solidFill>
                              <a:schemeClr val="tx2"/>
                            </a:solidFill>
                            <a:latin typeface="Cambria Math" panose="02040503050406030204" pitchFamily="18" charset="0"/>
                            <a:ea typeface="Cambria Math" panose="02040503050406030204" pitchFamily="18" charset="0"/>
                          </a:rPr>
                          <m:t>2</m:t>
                        </m:r>
                        <m:r>
                          <a:rPr lang="en-US" i="1">
                            <a:solidFill>
                              <a:schemeClr val="tx2"/>
                            </a:solidFill>
                            <a:latin typeface="Cambria Math" panose="02040503050406030204" pitchFamily="18" charset="0"/>
                            <a:ea typeface="Cambria Math" panose="02040503050406030204" pitchFamily="18" charset="0"/>
                          </a:rPr>
                          <m:t>𝑥</m:t>
                        </m:r>
                        <m:r>
                          <a:rPr lang="en-US" i="1">
                            <a:solidFill>
                              <a:schemeClr val="tx2"/>
                            </a:solidFill>
                            <a:latin typeface="Cambria Math" panose="02040503050406030204" pitchFamily="18" charset="0"/>
                            <a:ea typeface="Cambria Math" panose="02040503050406030204" pitchFamily="18" charset="0"/>
                          </a:rPr>
                          <m:t>+4</m:t>
                        </m:r>
                      </m:sup>
                    </m:sSup>
                  </m:oMath>
                </a14:m>
                <a:endParaRPr lang="en-US" dirty="0">
                  <a:solidFill>
                    <a:schemeClr val="tx2"/>
                  </a:solidFill>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5B1CBB5A-6F46-611E-3DAF-CBAF22EB3FB5}"/>
                  </a:ext>
                </a:extLst>
              </p:cNvPr>
              <p:cNvSpPr>
                <a:spLocks noGrp="1" noRot="1" noChangeAspect="1" noMove="1" noResize="1" noEditPoints="1" noAdjustHandles="1" noChangeArrowheads="1" noChangeShapeType="1" noTextEdit="1"/>
              </p:cNvSpPr>
              <p:nvPr>
                <p:ph idx="1"/>
              </p:nvPr>
            </p:nvSpPr>
            <p:spPr>
              <a:blipFill>
                <a:blip r:embed="rId2"/>
                <a:stretch>
                  <a:fillRect l="-1246" t="-24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BB56B61-983D-C6F1-19BD-BEC5B7485431}"/>
                  </a:ext>
                </a:extLst>
              </p:cNvPr>
              <p:cNvSpPr/>
              <p:nvPr/>
            </p:nvSpPr>
            <p:spPr>
              <a:xfrm>
                <a:off x="4922736" y="2286000"/>
                <a:ext cx="3124200" cy="685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panose="02040503050406030204" pitchFamily="18" charset="0"/>
                            </a:rPr>
                            <m:t>4</m:t>
                          </m:r>
                        </m:e>
                        <m:sup>
                          <m:r>
                            <a:rPr lang="en-US" sz="2800" b="0" i="1" smtClean="0">
                              <a:solidFill>
                                <a:schemeClr val="tx2"/>
                              </a:solidFill>
                              <a:latin typeface="Cambria Math" panose="02040503050406030204" pitchFamily="18" charset="0"/>
                            </a:rPr>
                            <m:t>𝑥</m:t>
                          </m:r>
                          <m:r>
                            <a:rPr lang="en-US" sz="2800" b="0" i="1" smtClean="0">
                              <a:solidFill>
                                <a:schemeClr val="tx2"/>
                              </a:solidFill>
                              <a:latin typeface="Cambria Math" panose="02040503050406030204" pitchFamily="18" charset="0"/>
                            </a:rPr>
                            <m:t>+1</m:t>
                          </m:r>
                        </m:sup>
                      </m:sSup>
                      <m:r>
                        <a:rPr lang="en-US" sz="2800" b="0" i="1" smtClean="0">
                          <a:solidFill>
                            <a:schemeClr val="tx2"/>
                          </a:solidFill>
                          <a:latin typeface="Cambria Math" panose="02040503050406030204" pitchFamily="18" charset="0"/>
                          <a:ea typeface="Cambria Math" panose="02040503050406030204" pitchFamily="18" charset="0"/>
                        </a:rPr>
                        <m:t>∙8=</m:t>
                      </m:r>
                      <m:sSup>
                        <m:sSupPr>
                          <m:ctrlPr>
                            <a:rPr lang="en-US" sz="2800" b="0" i="1" smtClean="0">
                              <a:solidFill>
                                <a:schemeClr val="tx2"/>
                              </a:solidFill>
                              <a:latin typeface="Cambria Math" panose="02040503050406030204" pitchFamily="18" charset="0"/>
                              <a:ea typeface="Cambria Math" panose="02040503050406030204" pitchFamily="18" charset="0"/>
                            </a:rPr>
                          </m:ctrlPr>
                        </m:sSupPr>
                        <m:e>
                          <m:r>
                            <a:rPr lang="en-US" sz="2800" b="0" i="1" smtClean="0">
                              <a:solidFill>
                                <a:schemeClr val="tx2"/>
                              </a:solidFill>
                              <a:latin typeface="Cambria Math" panose="02040503050406030204" pitchFamily="18" charset="0"/>
                              <a:ea typeface="Cambria Math" panose="02040503050406030204" pitchFamily="18" charset="0"/>
                            </a:rPr>
                            <m:t>2</m:t>
                          </m:r>
                        </m:e>
                        <m:sup>
                          <m:r>
                            <a:rPr lang="en-US" sz="2800" b="0" i="1" smtClean="0">
                              <a:solidFill>
                                <a:schemeClr val="tx2"/>
                              </a:solidFill>
                              <a:latin typeface="Cambria Math" panose="02040503050406030204" pitchFamily="18" charset="0"/>
                              <a:ea typeface="Cambria Math" panose="02040503050406030204" pitchFamily="18" charset="0"/>
                            </a:rPr>
                            <m:t>2</m:t>
                          </m:r>
                          <m:r>
                            <a:rPr lang="en-US" sz="2800" b="0" i="1" smtClean="0">
                              <a:solidFill>
                                <a:schemeClr val="tx2"/>
                              </a:solidFill>
                              <a:latin typeface="Cambria Math" panose="02040503050406030204" pitchFamily="18" charset="0"/>
                              <a:ea typeface="Cambria Math" panose="02040503050406030204" pitchFamily="18" charset="0"/>
                            </a:rPr>
                            <m:t>𝑥</m:t>
                          </m:r>
                          <m:r>
                            <a:rPr lang="en-US" sz="2800" b="0" i="1" smtClean="0">
                              <a:solidFill>
                                <a:schemeClr val="tx2"/>
                              </a:solidFill>
                              <a:latin typeface="Cambria Math" panose="02040503050406030204" pitchFamily="18" charset="0"/>
                              <a:ea typeface="Cambria Math" panose="02040503050406030204" pitchFamily="18" charset="0"/>
                            </a:rPr>
                            <m:t>+4</m:t>
                          </m:r>
                        </m:sup>
                      </m:sSup>
                    </m:oMath>
                  </m:oMathPara>
                </a14:m>
                <a:endParaRPr lang="en-US" dirty="0"/>
              </a:p>
            </p:txBody>
          </p:sp>
        </mc:Choice>
        <mc:Fallback xmlns="">
          <p:sp>
            <p:nvSpPr>
              <p:cNvPr id="4" name="Rectangle 3">
                <a:extLst>
                  <a:ext uri="{FF2B5EF4-FFF2-40B4-BE49-F238E27FC236}">
                    <a16:creationId xmlns:a16="http://schemas.microsoft.com/office/drawing/2014/main" id="{0BB56B61-983D-C6F1-19BD-BEC5B7485431}"/>
                  </a:ext>
                </a:extLst>
              </p:cNvPr>
              <p:cNvSpPr>
                <a:spLocks noRot="1" noChangeAspect="1" noMove="1" noResize="1" noEditPoints="1" noAdjustHandles="1" noChangeArrowheads="1" noChangeShapeType="1" noTextEdit="1"/>
              </p:cNvSpPr>
              <p:nvPr/>
            </p:nvSpPr>
            <p:spPr>
              <a:xfrm>
                <a:off x="4922736" y="2286000"/>
                <a:ext cx="31242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6315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B017A-80E8-0EF2-F127-08A6C91CE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3C6F-1A36-3FB6-5FCC-C91CC71DE2A4}"/>
              </a:ext>
            </a:extLst>
          </p:cNvPr>
          <p:cNvSpPr>
            <a:spLocks noGrp="1"/>
          </p:cNvSpPr>
          <p:nvPr>
            <p:ph type="title"/>
          </p:nvPr>
        </p:nvSpPr>
        <p:spPr/>
        <p:txBody>
          <a:bodyPr/>
          <a:lstStyle/>
          <a:p>
            <a:r>
              <a:rPr lang="en-US" dirty="0"/>
              <a:t>Problem #6(Identifying patterns)</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197BA8-B1A0-232E-EE1B-B11230A21ADB}"/>
                  </a:ext>
                </a:extLst>
              </p:cNvPr>
              <p:cNvSpPr>
                <a:spLocks noGrp="1"/>
              </p:cNvSpPr>
              <p:nvPr>
                <p:ph idx="1"/>
              </p:nvPr>
            </p:nvSpPr>
            <p:spPr/>
            <p:txBody>
              <a:bodyPr>
                <a:normAutofit lnSpcReduction="10000"/>
              </a:bodyPr>
              <a:lstStyle/>
              <a:p>
                <a:pPr marL="0" indent="0">
                  <a:buNone/>
                </a:pPr>
                <a:r>
                  <a:rPr lang="en-US" dirty="0">
                    <a:solidFill>
                      <a:schemeClr val="tx2"/>
                    </a:solidFill>
                    <a:latin typeface="Cambria Math" panose="02040503050406030204" pitchFamily="18" charset="0"/>
                    <a:ea typeface="Cambria Math" panose="02040503050406030204" pitchFamily="18" charset="0"/>
                  </a:rPr>
                  <a:t>Which two alternative solutions will solve the equation in the box?</a:t>
                </a:r>
              </a:p>
              <a:p>
                <a:pPr marL="0" indent="0">
                  <a:buNone/>
                </a:pPr>
                <a:endParaRPr lang="en-US" dirty="0">
                  <a:solidFill>
                    <a:schemeClr val="tx2"/>
                  </a:solidFill>
                  <a:latin typeface="Cambria Math" panose="02040503050406030204" pitchFamily="18" charset="0"/>
                  <a:ea typeface="Cambria Math" panose="02040503050406030204" pitchFamily="18" charset="0"/>
                </a:endParaRPr>
              </a:p>
              <a:p>
                <a:pPr marL="514350" indent="-514350">
                  <a:buAutoNum type="alphaUcPeriod"/>
                </a:pPr>
                <a:endParaRPr lang="en-US" b="0" dirty="0">
                  <a:solidFill>
                    <a:schemeClr val="tx2"/>
                  </a:solidFill>
                  <a:latin typeface="Cambria Math" panose="02040503050406030204" pitchFamily="18" charset="0"/>
                  <a:ea typeface="Cambria Math" panose="02040503050406030204" pitchFamily="18" charset="0"/>
                </a:endParaRPr>
              </a:p>
              <a:p>
                <a:pPr marL="0" indent="0">
                  <a:buNone/>
                </a:pPr>
                <a:endParaRPr lang="en-US" b="0" dirty="0">
                  <a:solidFill>
                    <a:schemeClr val="tx2"/>
                  </a:solidFill>
                  <a:latin typeface="Cambria Math" panose="02040503050406030204" pitchFamily="18" charset="0"/>
                  <a:ea typeface="Cambria Math" panose="02040503050406030204" pitchFamily="18" charset="0"/>
                </a:endParaRPr>
              </a:p>
              <a:p>
                <a:pPr marL="571500" indent="-571500">
                  <a:buAutoNum type="romanUcPeriod"/>
                </a:pPr>
                <a14:m>
                  <m:oMath xmlns:m="http://schemas.openxmlformats.org/officeDocument/2006/math">
                    <m:sSup>
                      <m:sSupPr>
                        <m:ctrlPr>
                          <a:rPr lang="en-US" i="1">
                            <a:solidFill>
                              <a:schemeClr val="tx2"/>
                            </a:solidFill>
                            <a:latin typeface="Cambria Math" panose="02040503050406030204" pitchFamily="18" charset="0"/>
                          </a:rPr>
                        </m:ctrlPr>
                      </m:sSupPr>
                      <m:e>
                        <m:r>
                          <a:rPr lang="en-US" b="0" i="1" smtClean="0">
                            <a:solidFill>
                              <a:schemeClr val="tx2"/>
                            </a:solidFill>
                            <a:latin typeface="Cambria Math" panose="02040503050406030204" pitchFamily="18" charset="0"/>
                          </a:rPr>
                          <m:t>9</m:t>
                        </m:r>
                      </m:e>
                      <m:sup>
                        <m:r>
                          <a:rPr lang="en-US" b="0" i="1" smtClean="0">
                            <a:solidFill>
                              <a:schemeClr val="tx2"/>
                            </a:solidFill>
                            <a:latin typeface="Cambria Math" panose="02040503050406030204" pitchFamily="18" charset="0"/>
                          </a:rPr>
                          <m:t>2</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3</m:t>
                        </m:r>
                      </m:e>
                      <m:sup>
                        <m:r>
                          <a:rPr lang="en-US" b="0" i="1" smtClean="0">
                            <a:solidFill>
                              <a:schemeClr val="tx2"/>
                            </a:solidFill>
                            <a:latin typeface="Cambria Math" panose="02040503050406030204" pitchFamily="18" charset="0"/>
                            <a:ea typeface="Cambria Math" panose="02040503050406030204" pitchFamily="18" charset="0"/>
                          </a:rPr>
                          <m:t>4</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9</m:t>
                        </m:r>
                      </m:e>
                      <m:sup>
                        <m:r>
                          <a:rPr lang="en-US" i="1">
                            <a:solidFill>
                              <a:schemeClr val="tx2"/>
                            </a:solidFill>
                            <a:latin typeface="Cambria Math" panose="02040503050406030204" pitchFamily="18" charset="0"/>
                            <a:ea typeface="Cambria Math" panose="02040503050406030204" pitchFamily="18" charset="0"/>
                          </a:rPr>
                          <m:t>𝑥</m:t>
                        </m:r>
                      </m:sup>
                    </m:sSup>
                  </m:oMath>
                </a14:m>
                <a:r>
                  <a:rPr lang="en-US" i="1" dirty="0">
                    <a:solidFill>
                      <a:schemeClr val="tx2"/>
                    </a:solidFill>
                    <a:latin typeface="Cambria Math" panose="02040503050406030204" pitchFamily="18" charset="0"/>
                    <a:ea typeface="Cambria Math" panose="02040503050406030204" pitchFamily="18" charset="0"/>
                  </a:rPr>
                  <a:t>			A. I and III</a:t>
                </a:r>
              </a:p>
              <a:p>
                <a:pPr marL="571500" indent="-571500">
                  <a:buAutoNum type="romanUcPeriod"/>
                </a:pPr>
                <a14:m>
                  <m:oMath xmlns:m="http://schemas.openxmlformats.org/officeDocument/2006/math">
                    <m:sSup>
                      <m:sSupPr>
                        <m:ctrlPr>
                          <a:rPr lang="en-US" i="1">
                            <a:solidFill>
                              <a:schemeClr val="tx2"/>
                            </a:solidFill>
                            <a:latin typeface="Cambria Math" panose="02040503050406030204" pitchFamily="18" charset="0"/>
                          </a:rPr>
                        </m:ctrlPr>
                      </m:sSupPr>
                      <m:e>
                        <m:r>
                          <a:rPr lang="en-US" i="1">
                            <a:solidFill>
                              <a:schemeClr val="tx2"/>
                            </a:solidFill>
                            <a:latin typeface="Cambria Math" panose="02040503050406030204" pitchFamily="18" charset="0"/>
                          </a:rPr>
                          <m:t>9</m:t>
                        </m:r>
                      </m:e>
                      <m:sup>
                        <m:r>
                          <a:rPr lang="en-US" i="1">
                            <a:solidFill>
                              <a:schemeClr val="tx2"/>
                            </a:solidFill>
                            <a:latin typeface="Cambria Math" panose="02040503050406030204" pitchFamily="18" charset="0"/>
                          </a:rPr>
                          <m:t>2</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+1</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3</m:t>
                        </m:r>
                      </m:e>
                      <m:sup>
                        <m:r>
                          <a:rPr lang="en-US" i="1">
                            <a:solidFill>
                              <a:schemeClr val="tx2"/>
                            </a:solidFill>
                            <a:latin typeface="Cambria Math" panose="02040503050406030204" pitchFamily="18" charset="0"/>
                            <a:ea typeface="Cambria Math" panose="02040503050406030204" pitchFamily="18" charset="0"/>
                          </a:rPr>
                          <m:t>4</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9</m:t>
                        </m:r>
                      </m:e>
                      <m:sup>
                        <m:r>
                          <a:rPr lang="en-US" i="1">
                            <a:solidFill>
                              <a:schemeClr val="tx2"/>
                            </a:solidFill>
                            <a:latin typeface="Cambria Math" panose="02040503050406030204" pitchFamily="18" charset="0"/>
                            <a:ea typeface="Cambria Math" panose="02040503050406030204" pitchFamily="18" charset="0"/>
                          </a:rPr>
                          <m:t>𝑥</m:t>
                        </m:r>
                      </m:sup>
                    </m:sSup>
                  </m:oMath>
                </a14:m>
                <a:r>
                  <a:rPr lang="en-US" i="1" dirty="0">
                    <a:solidFill>
                      <a:schemeClr val="tx2"/>
                    </a:solidFill>
                    <a:latin typeface="Cambria Math" panose="02040503050406030204" pitchFamily="18" charset="0"/>
                    <a:ea typeface="Cambria Math" panose="02040503050406030204" pitchFamily="18" charset="0"/>
                  </a:rPr>
                  <a:t>			B. I and IV</a:t>
                </a:r>
              </a:p>
              <a:p>
                <a:pPr marL="571500" indent="-571500">
                  <a:buAutoNum type="romanUcPeriod"/>
                </a:pPr>
                <a14:m>
                  <m:oMath xmlns:m="http://schemas.openxmlformats.org/officeDocument/2006/math">
                    <m:sSup>
                      <m:sSupPr>
                        <m:ctrlPr>
                          <a:rPr lang="en-US" i="1">
                            <a:solidFill>
                              <a:schemeClr val="tx2"/>
                            </a:solidFill>
                            <a:latin typeface="Cambria Math" panose="02040503050406030204" pitchFamily="18" charset="0"/>
                          </a:rPr>
                        </m:ctrlPr>
                      </m:sSupPr>
                      <m:e>
                        <m:r>
                          <a:rPr lang="en-US" i="1">
                            <a:solidFill>
                              <a:schemeClr val="tx2"/>
                            </a:solidFill>
                            <a:latin typeface="Cambria Math" panose="02040503050406030204" pitchFamily="18" charset="0"/>
                          </a:rPr>
                          <m:t>9</m:t>
                        </m:r>
                      </m:e>
                      <m:sup>
                        <m:r>
                          <a:rPr lang="en-US" i="1">
                            <a:solidFill>
                              <a:schemeClr val="tx2"/>
                            </a:solidFill>
                            <a:latin typeface="Cambria Math" panose="02040503050406030204" pitchFamily="18" charset="0"/>
                          </a:rPr>
                          <m:t>2</m:t>
                        </m:r>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9</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9</m:t>
                        </m:r>
                      </m:e>
                      <m:sup>
                        <m:r>
                          <a:rPr lang="en-US" i="1">
                            <a:solidFill>
                              <a:schemeClr val="tx2"/>
                            </a:solidFill>
                            <a:latin typeface="Cambria Math" panose="02040503050406030204" pitchFamily="18" charset="0"/>
                            <a:ea typeface="Cambria Math" panose="02040503050406030204" pitchFamily="18" charset="0"/>
                          </a:rPr>
                          <m:t>𝑥</m:t>
                        </m:r>
                      </m:sup>
                    </m:sSup>
                  </m:oMath>
                </a14:m>
                <a:r>
                  <a:rPr lang="en-US" i="1" dirty="0">
                    <a:solidFill>
                      <a:schemeClr val="tx2"/>
                    </a:solidFill>
                    <a:latin typeface="Cambria Math" panose="02040503050406030204" pitchFamily="18" charset="0"/>
                    <a:ea typeface="Cambria Math" panose="02040503050406030204" pitchFamily="18" charset="0"/>
                  </a:rPr>
                  <a:t>			C. II and III</a:t>
                </a:r>
              </a:p>
              <a:p>
                <a:pPr marL="571500" indent="-571500">
                  <a:buAutoNum type="romanUcPeriod"/>
                </a:pPr>
                <a14:m>
                  <m:oMath xmlns:m="http://schemas.openxmlformats.org/officeDocument/2006/math">
                    <m:sSup>
                      <m:sSupPr>
                        <m:ctrlPr>
                          <a:rPr lang="en-US" i="1" smtClean="0">
                            <a:solidFill>
                              <a:schemeClr val="tx2"/>
                            </a:solidFill>
                            <a:latin typeface="Cambria Math" panose="02040503050406030204" pitchFamily="18" charset="0"/>
                          </a:rPr>
                        </m:ctrlPr>
                      </m:sSupPr>
                      <m:e>
                        <m:r>
                          <a:rPr lang="en-US" i="1">
                            <a:solidFill>
                              <a:schemeClr val="tx2"/>
                            </a:solidFill>
                            <a:latin typeface="Cambria Math" panose="02040503050406030204" pitchFamily="18" charset="0"/>
                          </a:rPr>
                          <m:t>9</m:t>
                        </m:r>
                      </m:e>
                      <m:sup>
                        <m:r>
                          <a:rPr lang="en-US" i="1">
                            <a:solidFill>
                              <a:schemeClr val="tx2"/>
                            </a:solidFill>
                            <a:latin typeface="Cambria Math" panose="02040503050406030204" pitchFamily="18" charset="0"/>
                          </a:rPr>
                          <m:t>𝑥</m:t>
                        </m:r>
                        <m:r>
                          <a:rPr lang="en-US" i="1">
                            <a:solidFill>
                              <a:schemeClr val="tx2"/>
                            </a:solidFill>
                            <a:latin typeface="Cambria Math" panose="02040503050406030204" pitchFamily="18" charset="0"/>
                          </a:rPr>
                          <m:t>+1</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b="0" i="1" smtClean="0">
                            <a:solidFill>
                              <a:schemeClr val="tx2"/>
                            </a:solidFill>
                            <a:latin typeface="Cambria Math" panose="02040503050406030204" pitchFamily="18" charset="0"/>
                            <a:ea typeface="Cambria Math" panose="02040503050406030204" pitchFamily="18" charset="0"/>
                          </a:rPr>
                          <m:t>9</m:t>
                        </m:r>
                      </m:e>
                      <m:sup>
                        <m:r>
                          <a:rPr lang="en-US" b="0" i="1" smtClean="0">
                            <a:solidFill>
                              <a:schemeClr val="tx2"/>
                            </a:solidFill>
                            <a:latin typeface="Cambria Math" panose="02040503050406030204" pitchFamily="18" charset="0"/>
                            <a:ea typeface="Cambria Math" panose="02040503050406030204" pitchFamily="18" charset="0"/>
                          </a:rPr>
                          <m:t>2</m:t>
                        </m:r>
                      </m:sup>
                    </m:sSup>
                    <m:r>
                      <a:rPr lang="en-US" i="1">
                        <a:solidFill>
                          <a:schemeClr val="tx2"/>
                        </a:solidFill>
                        <a:latin typeface="Cambria Math" panose="02040503050406030204" pitchFamily="18" charset="0"/>
                        <a:ea typeface="Cambria Math" panose="02040503050406030204" pitchFamily="18" charset="0"/>
                      </a:rPr>
                      <m:t>=</m:t>
                    </m:r>
                    <m:sSup>
                      <m:sSupPr>
                        <m:ctrlPr>
                          <a:rPr lang="en-US" i="1">
                            <a:solidFill>
                              <a:schemeClr val="tx2"/>
                            </a:solidFill>
                            <a:latin typeface="Cambria Math" panose="02040503050406030204" pitchFamily="18" charset="0"/>
                            <a:ea typeface="Cambria Math" panose="02040503050406030204" pitchFamily="18" charset="0"/>
                          </a:rPr>
                        </m:ctrlPr>
                      </m:sSupPr>
                      <m:e>
                        <m:r>
                          <a:rPr lang="en-US" i="1">
                            <a:solidFill>
                              <a:schemeClr val="tx2"/>
                            </a:solidFill>
                            <a:latin typeface="Cambria Math" panose="02040503050406030204" pitchFamily="18" charset="0"/>
                            <a:ea typeface="Cambria Math" panose="02040503050406030204" pitchFamily="18" charset="0"/>
                          </a:rPr>
                          <m:t>9</m:t>
                        </m:r>
                      </m:e>
                      <m:sup>
                        <m:r>
                          <a:rPr lang="en-US" i="1">
                            <a:solidFill>
                              <a:schemeClr val="tx2"/>
                            </a:solidFill>
                            <a:latin typeface="Cambria Math" panose="02040503050406030204" pitchFamily="18" charset="0"/>
                            <a:ea typeface="Cambria Math" panose="02040503050406030204" pitchFamily="18" charset="0"/>
                          </a:rPr>
                          <m:t>𝑥</m:t>
                        </m:r>
                      </m:sup>
                    </m:sSup>
                  </m:oMath>
                </a14:m>
                <a:r>
                  <a:rPr lang="en-US" dirty="0">
                    <a:solidFill>
                      <a:schemeClr val="tx2"/>
                    </a:solidFill>
                    <a:latin typeface="Cambria Math" panose="02040503050406030204" pitchFamily="18" charset="0"/>
                    <a:ea typeface="Cambria Math" panose="02040503050406030204" pitchFamily="18" charset="0"/>
                  </a:rPr>
                  <a:t>			D. II and IV</a:t>
                </a:r>
              </a:p>
            </p:txBody>
          </p:sp>
        </mc:Choice>
        <mc:Fallback xmlns="">
          <p:sp>
            <p:nvSpPr>
              <p:cNvPr id="3" name="Content Placeholder 2">
                <a:extLst>
                  <a:ext uri="{FF2B5EF4-FFF2-40B4-BE49-F238E27FC236}">
                    <a16:creationId xmlns:a16="http://schemas.microsoft.com/office/drawing/2014/main" id="{F9197BA8-B1A0-232E-EE1B-B11230A21ADB}"/>
                  </a:ext>
                </a:extLst>
              </p:cNvPr>
              <p:cNvSpPr>
                <a:spLocks noGrp="1" noRot="1" noChangeAspect="1" noMove="1" noResize="1" noEditPoints="1" noAdjustHandles="1" noChangeArrowheads="1" noChangeShapeType="1" noTextEdit="1"/>
              </p:cNvSpPr>
              <p:nvPr>
                <p:ph idx="1"/>
              </p:nvPr>
            </p:nvSpPr>
            <p:spPr>
              <a:blipFill>
                <a:blip r:embed="rId2"/>
                <a:stretch>
                  <a:fillRect l="-1246" t="-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FA0449A-8C8D-BD6C-DA69-329AAE27D345}"/>
                  </a:ext>
                </a:extLst>
              </p:cNvPr>
              <p:cNvSpPr/>
              <p:nvPr/>
            </p:nvSpPr>
            <p:spPr>
              <a:xfrm>
                <a:off x="4922736" y="2286000"/>
                <a:ext cx="3124200" cy="685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b="0" i="1" smtClean="0">
                              <a:solidFill>
                                <a:schemeClr val="tx2"/>
                              </a:solidFill>
                              <a:latin typeface="Cambria Math" panose="02040503050406030204" pitchFamily="18" charset="0"/>
                            </a:rPr>
                          </m:ctrlPr>
                        </m:sSupPr>
                        <m:e>
                          <m:r>
                            <a:rPr lang="en-US" sz="2800" b="0" i="1" smtClean="0">
                              <a:solidFill>
                                <a:schemeClr val="tx2"/>
                              </a:solidFill>
                              <a:latin typeface="Cambria Math" panose="02040503050406030204" pitchFamily="18" charset="0"/>
                            </a:rPr>
                            <m:t>81</m:t>
                          </m:r>
                        </m:e>
                        <m:sup>
                          <m:r>
                            <a:rPr lang="en-US" sz="2800" b="0" i="1" smtClean="0">
                              <a:solidFill>
                                <a:schemeClr val="tx2"/>
                              </a:solidFill>
                              <a:latin typeface="Cambria Math" panose="02040503050406030204" pitchFamily="18" charset="0"/>
                            </a:rPr>
                            <m:t>𝑥</m:t>
                          </m:r>
                          <m:r>
                            <a:rPr lang="en-US" sz="2800" b="0" i="1" smtClean="0">
                              <a:solidFill>
                                <a:schemeClr val="tx2"/>
                              </a:solidFill>
                              <a:latin typeface="Cambria Math" panose="02040503050406030204" pitchFamily="18" charset="0"/>
                            </a:rPr>
                            <m:t>+1</m:t>
                          </m:r>
                        </m:sup>
                      </m:sSup>
                      <m:r>
                        <a:rPr lang="en-US" sz="2800" b="0" i="1" smtClean="0">
                          <a:solidFill>
                            <a:schemeClr val="tx2"/>
                          </a:solidFill>
                          <a:latin typeface="Cambria Math" panose="02040503050406030204" pitchFamily="18" charset="0"/>
                          <a:ea typeface="Cambria Math" panose="02040503050406030204" pitchFamily="18" charset="0"/>
                        </a:rPr>
                        <m:t>∙</m:t>
                      </m:r>
                      <m:sSup>
                        <m:sSupPr>
                          <m:ctrlPr>
                            <a:rPr lang="en-US" sz="2800" b="0" i="1" smtClean="0">
                              <a:solidFill>
                                <a:schemeClr val="tx2"/>
                              </a:solidFill>
                              <a:latin typeface="Cambria Math" panose="02040503050406030204" pitchFamily="18" charset="0"/>
                              <a:ea typeface="Cambria Math" panose="02040503050406030204" pitchFamily="18" charset="0"/>
                            </a:rPr>
                          </m:ctrlPr>
                        </m:sSupPr>
                        <m:e>
                          <m:r>
                            <a:rPr lang="en-US" sz="2800" b="0" i="1" smtClean="0">
                              <a:solidFill>
                                <a:schemeClr val="tx2"/>
                              </a:solidFill>
                              <a:latin typeface="Cambria Math" panose="02040503050406030204" pitchFamily="18" charset="0"/>
                              <a:ea typeface="Cambria Math" panose="02040503050406030204" pitchFamily="18" charset="0"/>
                            </a:rPr>
                            <m:t>9</m:t>
                          </m:r>
                        </m:e>
                        <m:sup>
                          <m:r>
                            <a:rPr lang="en-US" sz="2800" b="0" i="1" smtClean="0">
                              <a:solidFill>
                                <a:schemeClr val="tx2"/>
                              </a:solidFill>
                              <a:latin typeface="Cambria Math" panose="02040503050406030204" pitchFamily="18" charset="0"/>
                              <a:ea typeface="Cambria Math" panose="02040503050406030204" pitchFamily="18" charset="0"/>
                            </a:rPr>
                            <m:t>2</m:t>
                          </m:r>
                        </m:sup>
                      </m:sSup>
                      <m:r>
                        <a:rPr lang="en-US" sz="2800" b="0" i="1" smtClean="0">
                          <a:solidFill>
                            <a:schemeClr val="tx2"/>
                          </a:solidFill>
                          <a:latin typeface="Cambria Math" panose="02040503050406030204" pitchFamily="18" charset="0"/>
                          <a:ea typeface="Cambria Math" panose="02040503050406030204" pitchFamily="18" charset="0"/>
                        </a:rPr>
                        <m:t>=</m:t>
                      </m:r>
                      <m:sSup>
                        <m:sSupPr>
                          <m:ctrlPr>
                            <a:rPr lang="en-US" sz="2800" b="0" i="1" smtClean="0">
                              <a:solidFill>
                                <a:schemeClr val="tx2"/>
                              </a:solidFill>
                              <a:latin typeface="Cambria Math" panose="02040503050406030204" pitchFamily="18" charset="0"/>
                              <a:ea typeface="Cambria Math" panose="02040503050406030204" pitchFamily="18" charset="0"/>
                            </a:rPr>
                          </m:ctrlPr>
                        </m:sSupPr>
                        <m:e>
                          <m:r>
                            <a:rPr lang="en-US" sz="2800" b="0" i="1" smtClean="0">
                              <a:solidFill>
                                <a:schemeClr val="tx2"/>
                              </a:solidFill>
                              <a:latin typeface="Cambria Math" panose="02040503050406030204" pitchFamily="18" charset="0"/>
                              <a:ea typeface="Cambria Math" panose="02040503050406030204" pitchFamily="18" charset="0"/>
                            </a:rPr>
                            <m:t>3</m:t>
                          </m:r>
                        </m:e>
                        <m:sup>
                          <m:r>
                            <a:rPr lang="en-US" sz="2800" b="0" i="1" smtClean="0">
                              <a:solidFill>
                                <a:schemeClr val="tx2"/>
                              </a:solidFill>
                              <a:latin typeface="Cambria Math" panose="02040503050406030204" pitchFamily="18" charset="0"/>
                              <a:ea typeface="Cambria Math" panose="02040503050406030204" pitchFamily="18" charset="0"/>
                            </a:rPr>
                            <m:t>2</m:t>
                          </m:r>
                          <m:r>
                            <a:rPr lang="en-US" sz="2800" b="0" i="1" smtClean="0">
                              <a:solidFill>
                                <a:schemeClr val="tx2"/>
                              </a:solidFill>
                              <a:latin typeface="Cambria Math" panose="02040503050406030204" pitchFamily="18" charset="0"/>
                              <a:ea typeface="Cambria Math" panose="02040503050406030204" pitchFamily="18" charset="0"/>
                            </a:rPr>
                            <m:t>𝑥</m:t>
                          </m:r>
                        </m:sup>
                      </m:sSup>
                    </m:oMath>
                  </m:oMathPara>
                </a14:m>
                <a:endParaRPr lang="en-US" dirty="0"/>
              </a:p>
            </p:txBody>
          </p:sp>
        </mc:Choice>
        <mc:Fallback xmlns="">
          <p:sp>
            <p:nvSpPr>
              <p:cNvPr id="4" name="Rectangle 3">
                <a:extLst>
                  <a:ext uri="{FF2B5EF4-FFF2-40B4-BE49-F238E27FC236}">
                    <a16:creationId xmlns:a16="http://schemas.microsoft.com/office/drawing/2014/main" id="{CFA0449A-8C8D-BD6C-DA69-329AAE27D345}"/>
                  </a:ext>
                </a:extLst>
              </p:cNvPr>
              <p:cNvSpPr>
                <a:spLocks noRot="1" noChangeAspect="1" noMove="1" noResize="1" noEditPoints="1" noAdjustHandles="1" noChangeArrowheads="1" noChangeShapeType="1" noTextEdit="1"/>
              </p:cNvSpPr>
              <p:nvPr/>
            </p:nvSpPr>
            <p:spPr>
              <a:xfrm>
                <a:off x="4922736" y="2286000"/>
                <a:ext cx="3124200"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1BCE786-9326-F3C4-2476-F997E778D581}"/>
                  </a:ext>
                </a:extLst>
              </p:cNvPr>
              <p:cNvSpPr/>
              <p:nvPr/>
            </p:nvSpPr>
            <p:spPr>
              <a:xfrm>
                <a:off x="8304212" y="6223000"/>
                <a:ext cx="3381476" cy="457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3200" i="1" smtClean="0">
                              <a:solidFill>
                                <a:schemeClr val="tx2"/>
                              </a:solidFill>
                              <a:latin typeface="Cambria Math" panose="02040503050406030204" pitchFamily="18" charset="0"/>
                            </a:rPr>
                          </m:ctrlPr>
                        </m:sSupPr>
                        <m:e>
                          <m:r>
                            <a:rPr lang="en-US" sz="3200" b="0" i="1" smtClean="0">
                              <a:solidFill>
                                <a:schemeClr val="tx2"/>
                              </a:solidFill>
                              <a:latin typeface="Cambria Math" panose="02040503050406030204" pitchFamily="18" charset="0"/>
                            </a:rPr>
                            <m:t>3</m:t>
                          </m:r>
                        </m:e>
                        <m:sup>
                          <m:r>
                            <a:rPr lang="en-US" sz="3200" b="0" i="1" smtClean="0">
                              <a:solidFill>
                                <a:schemeClr val="tx2"/>
                              </a:solidFill>
                              <a:latin typeface="Cambria Math" panose="02040503050406030204" pitchFamily="18" charset="0"/>
                            </a:rPr>
                            <m:t>4</m:t>
                          </m:r>
                          <m:r>
                            <a:rPr lang="en-US" sz="3200" i="1">
                              <a:solidFill>
                                <a:schemeClr val="tx2"/>
                              </a:solidFill>
                              <a:latin typeface="Cambria Math" panose="02040503050406030204" pitchFamily="18" charset="0"/>
                            </a:rPr>
                            <m:t>𝑥</m:t>
                          </m:r>
                          <m:r>
                            <a:rPr lang="en-US" sz="3200" i="1">
                              <a:solidFill>
                                <a:schemeClr val="tx2"/>
                              </a:solidFill>
                              <a:latin typeface="Cambria Math" panose="02040503050406030204" pitchFamily="18" charset="0"/>
                            </a:rPr>
                            <m:t>+4</m:t>
                          </m:r>
                        </m:sup>
                      </m:sSup>
                      <m:r>
                        <a:rPr lang="en-US" sz="3200" i="1">
                          <a:solidFill>
                            <a:schemeClr val="tx2"/>
                          </a:solidFill>
                          <a:latin typeface="Cambria Math" panose="02040503050406030204" pitchFamily="18" charset="0"/>
                          <a:ea typeface="Cambria Math" panose="02040503050406030204" pitchFamily="18" charset="0"/>
                        </a:rPr>
                        <m:t>∙</m:t>
                      </m:r>
                      <m:sSup>
                        <m:sSupPr>
                          <m:ctrlPr>
                            <a:rPr lang="en-US" sz="3200" i="1">
                              <a:solidFill>
                                <a:schemeClr val="tx2"/>
                              </a:solidFill>
                              <a:latin typeface="Cambria Math" panose="02040503050406030204" pitchFamily="18" charset="0"/>
                              <a:ea typeface="Cambria Math" panose="02040503050406030204" pitchFamily="18" charset="0"/>
                            </a:rPr>
                          </m:ctrlPr>
                        </m:sSupPr>
                        <m:e>
                          <m:r>
                            <a:rPr lang="en-US" sz="3200" i="1">
                              <a:solidFill>
                                <a:schemeClr val="tx2"/>
                              </a:solidFill>
                              <a:latin typeface="Cambria Math" panose="02040503050406030204" pitchFamily="18" charset="0"/>
                              <a:ea typeface="Cambria Math" panose="02040503050406030204" pitchFamily="18" charset="0"/>
                            </a:rPr>
                            <m:t>3</m:t>
                          </m:r>
                        </m:e>
                        <m:sup>
                          <m:r>
                            <a:rPr lang="en-US" sz="3200" i="1">
                              <a:solidFill>
                                <a:schemeClr val="tx2"/>
                              </a:solidFill>
                              <a:latin typeface="Cambria Math" panose="02040503050406030204" pitchFamily="18" charset="0"/>
                              <a:ea typeface="Cambria Math" panose="02040503050406030204" pitchFamily="18" charset="0"/>
                            </a:rPr>
                            <m:t>4</m:t>
                          </m:r>
                        </m:sup>
                      </m:sSup>
                      <m:r>
                        <a:rPr lang="en-US" sz="3200" i="1">
                          <a:solidFill>
                            <a:schemeClr val="tx2"/>
                          </a:solidFill>
                          <a:latin typeface="Cambria Math" panose="02040503050406030204" pitchFamily="18" charset="0"/>
                          <a:ea typeface="Cambria Math" panose="02040503050406030204" pitchFamily="18" charset="0"/>
                        </a:rPr>
                        <m:t>=</m:t>
                      </m:r>
                      <m:sSup>
                        <m:sSupPr>
                          <m:ctrlPr>
                            <a:rPr lang="en-US" sz="3200" i="1">
                              <a:solidFill>
                                <a:schemeClr val="tx2"/>
                              </a:solidFill>
                              <a:latin typeface="Cambria Math" panose="02040503050406030204" pitchFamily="18" charset="0"/>
                              <a:ea typeface="Cambria Math" panose="02040503050406030204" pitchFamily="18" charset="0"/>
                            </a:rPr>
                          </m:ctrlPr>
                        </m:sSupPr>
                        <m:e>
                          <m:r>
                            <a:rPr lang="en-US" sz="3200" b="0" i="1" smtClean="0">
                              <a:solidFill>
                                <a:schemeClr val="tx2"/>
                              </a:solidFill>
                              <a:latin typeface="Cambria Math" panose="02040503050406030204" pitchFamily="18" charset="0"/>
                              <a:ea typeface="Cambria Math" panose="02040503050406030204" pitchFamily="18" charset="0"/>
                            </a:rPr>
                            <m:t>3</m:t>
                          </m:r>
                        </m:e>
                        <m:sup>
                          <m:r>
                            <a:rPr lang="en-US" sz="3200" b="0" i="1" smtClean="0">
                              <a:solidFill>
                                <a:schemeClr val="tx2"/>
                              </a:solidFill>
                              <a:latin typeface="Cambria Math" panose="02040503050406030204" pitchFamily="18" charset="0"/>
                              <a:ea typeface="Cambria Math" panose="02040503050406030204" pitchFamily="18" charset="0"/>
                            </a:rPr>
                            <m:t>2</m:t>
                          </m:r>
                          <m:r>
                            <a:rPr lang="en-US" sz="3200" i="1">
                              <a:solidFill>
                                <a:schemeClr val="tx2"/>
                              </a:solidFill>
                              <a:latin typeface="Cambria Math" panose="02040503050406030204" pitchFamily="18" charset="0"/>
                              <a:ea typeface="Cambria Math" panose="02040503050406030204" pitchFamily="18" charset="0"/>
                            </a:rPr>
                            <m:t>𝑥</m:t>
                          </m:r>
                        </m:sup>
                      </m:sSup>
                    </m:oMath>
                  </m:oMathPara>
                </a14:m>
                <a:endParaRPr lang="en-US" sz="2400" dirty="0"/>
              </a:p>
            </p:txBody>
          </p:sp>
        </mc:Choice>
        <mc:Fallback xmlns="">
          <p:sp>
            <p:nvSpPr>
              <p:cNvPr id="5" name="Rectangle 4">
                <a:extLst>
                  <a:ext uri="{FF2B5EF4-FFF2-40B4-BE49-F238E27FC236}">
                    <a16:creationId xmlns:a16="http://schemas.microsoft.com/office/drawing/2014/main" id="{E1BCE786-9326-F3C4-2476-F997E778D581}"/>
                  </a:ext>
                </a:extLst>
              </p:cNvPr>
              <p:cNvSpPr>
                <a:spLocks noRot="1" noChangeAspect="1" noMove="1" noResize="1" noEditPoints="1" noAdjustHandles="1" noChangeArrowheads="1" noChangeShapeType="1" noTextEdit="1"/>
              </p:cNvSpPr>
              <p:nvPr/>
            </p:nvSpPr>
            <p:spPr>
              <a:xfrm>
                <a:off x="8304212" y="6223000"/>
                <a:ext cx="3381476" cy="45720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6242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52090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1570A-5806-D45F-907A-7623E0D0B46C}"/>
              </a:ext>
            </a:extLst>
          </p:cNvPr>
          <p:cNvSpPr>
            <a:spLocks noGrp="1"/>
          </p:cNvSpPr>
          <p:nvPr>
            <p:ph type="title"/>
          </p:nvPr>
        </p:nvSpPr>
        <p:spPr/>
        <p:txBody>
          <a:bodyPr/>
          <a:lstStyle/>
          <a:p>
            <a:r>
              <a:rPr lang="en-US" dirty="0"/>
              <a:t>Type I and Type II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B02BB0-24EA-C56E-168C-17300FF17EAB}"/>
                  </a:ext>
                </a:extLst>
              </p:cNvPr>
              <p:cNvSpPr>
                <a:spLocks noGrp="1"/>
              </p:cNvSpPr>
              <p:nvPr>
                <p:ph idx="1"/>
              </p:nvPr>
            </p:nvSpPr>
            <p:spPr/>
            <p:txBody>
              <a:bodyPr/>
              <a:lstStyle/>
              <a:p>
                <a:pPr marL="0" indent="0">
                  <a:buNone/>
                </a:pPr>
                <a:r>
                  <a:rPr lang="en-US" dirty="0">
                    <a:solidFill>
                      <a:schemeClr val="tx2"/>
                    </a:solidFill>
                    <a:latin typeface="Cambria Math" panose="02040503050406030204" pitchFamily="18" charset="0"/>
                  </a:rPr>
                  <a:t>Mac </a:t>
                </a:r>
                <a:r>
                  <a:rPr lang="en-US" dirty="0" err="1">
                    <a:solidFill>
                      <a:schemeClr val="tx2"/>
                    </a:solidFill>
                    <a:latin typeface="Cambria Math" panose="02040503050406030204" pitchFamily="18" charset="0"/>
                  </a:rPr>
                  <a:t>Cupad</a:t>
                </a:r>
                <a:r>
                  <a:rPr lang="en-US" dirty="0">
                    <a:solidFill>
                      <a:schemeClr val="tx2"/>
                    </a:solidFill>
                    <a:latin typeface="Cambria Math" panose="02040503050406030204" pitchFamily="18" charset="0"/>
                  </a:rPr>
                  <a:t> and Dina Macuja had been friends for a quite a while, he realize that he likes the girl, and he plans to make a move.</a:t>
                </a:r>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chemeClr val="tx2"/>
                              </a:solidFill>
                              <a:latin typeface="Cambria Math" panose="02040503050406030204" pitchFamily="18" charset="0"/>
                            </a:rPr>
                          </m:ctrlPr>
                        </m:sSubPr>
                        <m:e>
                          <m:r>
                            <m:rPr>
                              <m:sty m:val="p"/>
                            </m:rPr>
                            <a:rPr lang="en-US" b="0" i="0" smtClean="0">
                              <a:solidFill>
                                <a:schemeClr val="tx2"/>
                              </a:solidFill>
                              <a:latin typeface="Cambria Math" panose="02040503050406030204" pitchFamily="18" charset="0"/>
                            </a:rPr>
                            <m:t>H</m:t>
                          </m:r>
                        </m:e>
                        <m:sub>
                          <m:r>
                            <a:rPr lang="en-US" b="0" i="0" smtClean="0">
                              <a:solidFill>
                                <a:schemeClr val="tx2"/>
                              </a:solidFill>
                              <a:latin typeface="Cambria Math" panose="02040503050406030204" pitchFamily="18" charset="0"/>
                            </a:rPr>
                            <m:t>0</m:t>
                          </m:r>
                        </m:sub>
                      </m:sSub>
                      <m:r>
                        <a:rPr lang="en-US" b="0" i="0" smtClean="0">
                          <a:solidFill>
                            <a:schemeClr val="tx2"/>
                          </a:solidFill>
                          <a:latin typeface="Cambria Math" panose="02040503050406030204" pitchFamily="18" charset="0"/>
                        </a:rPr>
                        <m:t>:</m:t>
                      </m:r>
                      <m:r>
                        <m:rPr>
                          <m:sty m:val="p"/>
                        </m:rPr>
                        <a:rPr lang="en-US" b="0" i="0" smtClean="0">
                          <a:solidFill>
                            <a:schemeClr val="tx2"/>
                          </a:solidFill>
                          <a:latin typeface="Cambria Math" panose="02040503050406030204" pitchFamily="18" charset="0"/>
                        </a:rPr>
                        <m:t>The</m:t>
                      </m:r>
                      <m:r>
                        <a:rPr lang="en-US" b="0" i="0" smtClean="0">
                          <a:solidFill>
                            <a:schemeClr val="tx2"/>
                          </a:solidFill>
                          <a:latin typeface="Cambria Math" panose="02040503050406030204" pitchFamily="18" charset="0"/>
                        </a:rPr>
                        <m:t> </m:t>
                      </m:r>
                      <m:r>
                        <m:rPr>
                          <m:sty m:val="p"/>
                        </m:rPr>
                        <a:rPr lang="en-US" b="0" i="0" smtClean="0">
                          <a:solidFill>
                            <a:schemeClr val="tx2"/>
                          </a:solidFill>
                          <a:latin typeface="Cambria Math" panose="02040503050406030204" pitchFamily="18" charset="0"/>
                        </a:rPr>
                        <m:t>Girl</m:t>
                      </m:r>
                      <m:r>
                        <a:rPr lang="en-US" b="0" i="0" smtClean="0">
                          <a:solidFill>
                            <a:schemeClr val="tx2"/>
                          </a:solidFill>
                          <a:latin typeface="Cambria Math" panose="02040503050406030204" pitchFamily="18" charset="0"/>
                        </a:rPr>
                        <m:t> </m:t>
                      </m:r>
                      <m:r>
                        <m:rPr>
                          <m:sty m:val="p"/>
                        </m:rPr>
                        <a:rPr lang="en-US" b="0" i="0" smtClean="0">
                          <a:solidFill>
                            <a:schemeClr val="tx2"/>
                          </a:solidFill>
                          <a:latin typeface="Cambria Math" panose="02040503050406030204" pitchFamily="18" charset="0"/>
                        </a:rPr>
                        <m:t>likes</m:t>
                      </m:r>
                      <m:r>
                        <a:rPr lang="en-US" b="0" i="0" smtClean="0">
                          <a:solidFill>
                            <a:schemeClr val="tx2"/>
                          </a:solidFill>
                          <a:latin typeface="Cambria Math" panose="02040503050406030204" pitchFamily="18" charset="0"/>
                        </a:rPr>
                        <m:t> </m:t>
                      </m:r>
                      <m:r>
                        <m:rPr>
                          <m:sty m:val="p"/>
                        </m:rPr>
                        <a:rPr lang="en-US" b="0" i="0" smtClean="0">
                          <a:solidFill>
                            <a:schemeClr val="tx2"/>
                          </a:solidFill>
                          <a:latin typeface="Cambria Math" panose="02040503050406030204" pitchFamily="18" charset="0"/>
                        </a:rPr>
                        <m:t>him</m:t>
                      </m:r>
                      <m:r>
                        <a:rPr lang="en-US" b="0" i="0" smtClean="0">
                          <a:solidFill>
                            <a:schemeClr val="tx2"/>
                          </a:solidFill>
                          <a:latin typeface="Cambria Math" panose="02040503050406030204" pitchFamily="18" charset="0"/>
                        </a:rPr>
                        <m:t> </m:t>
                      </m:r>
                      <m:r>
                        <m:rPr>
                          <m:sty m:val="p"/>
                        </m:rPr>
                        <a:rPr lang="en-US" b="0" i="0" smtClean="0">
                          <a:solidFill>
                            <a:schemeClr val="tx2"/>
                          </a:solidFill>
                          <a:latin typeface="Cambria Math" panose="02040503050406030204" pitchFamily="18" charset="0"/>
                        </a:rPr>
                        <m:t>back</m:t>
                      </m:r>
                    </m:oMath>
                  </m:oMathPara>
                </a14:m>
                <a:endParaRPr lang="en-US" dirty="0">
                  <a:solidFill>
                    <a:schemeClr val="tx2"/>
                  </a:solidFill>
                </a:endParaRPr>
              </a:p>
              <a:p>
                <a:pPr marL="0" indent="0">
                  <a:buNone/>
                </a:pPr>
                <a:endParaRPr lang="en-US" dirty="0">
                  <a:solidFill>
                    <a:schemeClr val="tx2"/>
                  </a:solidFill>
                </a:endParaRPr>
              </a:p>
            </p:txBody>
          </p:sp>
        </mc:Choice>
        <mc:Fallback xmlns="">
          <p:sp>
            <p:nvSpPr>
              <p:cNvPr id="3" name="Content Placeholder 2">
                <a:extLst>
                  <a:ext uri="{FF2B5EF4-FFF2-40B4-BE49-F238E27FC236}">
                    <a16:creationId xmlns:a16="http://schemas.microsoft.com/office/drawing/2014/main" id="{BDB02BB0-24EA-C56E-168C-17300FF17EAB}"/>
                  </a:ext>
                </a:extLst>
              </p:cNvPr>
              <p:cNvSpPr>
                <a:spLocks noGrp="1" noRot="1" noChangeAspect="1" noMove="1" noResize="1" noEditPoints="1" noAdjustHandles="1" noChangeArrowheads="1" noChangeShapeType="1" noTextEdit="1"/>
              </p:cNvSpPr>
              <p:nvPr>
                <p:ph idx="1"/>
              </p:nvPr>
            </p:nvSpPr>
            <p:spPr>
              <a:blipFill>
                <a:blip r:embed="rId2"/>
                <a:stretch>
                  <a:fillRect l="-1246" t="-2400"/>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A6038E70-A079-D39B-6332-3B5E362F6480}"/>
              </a:ext>
            </a:extLst>
          </p:cNvPr>
          <p:cNvGraphicFramePr>
            <a:graphicFrameLocks noGrp="1"/>
          </p:cNvGraphicFramePr>
          <p:nvPr>
            <p:extLst>
              <p:ext uri="{D42A27DB-BD31-4B8C-83A1-F6EECF244321}">
                <p14:modId xmlns:p14="http://schemas.microsoft.com/office/powerpoint/2010/main" val="3514110369"/>
              </p:ext>
            </p:extLst>
          </p:nvPr>
        </p:nvGraphicFramePr>
        <p:xfrm>
          <a:off x="2665412" y="3200400"/>
          <a:ext cx="8125884" cy="2915920"/>
        </p:xfrm>
        <a:graphic>
          <a:graphicData uri="http://schemas.openxmlformats.org/drawingml/2006/table">
            <a:tbl>
              <a:tblPr firstRow="1" bandRow="1">
                <a:tableStyleId>{073A0DAA-6AF3-43AB-8588-CEC1D06C72B9}</a:tableStyleId>
              </a:tblPr>
              <a:tblGrid>
                <a:gridCol w="2708628">
                  <a:extLst>
                    <a:ext uri="{9D8B030D-6E8A-4147-A177-3AD203B41FA5}">
                      <a16:colId xmlns:a16="http://schemas.microsoft.com/office/drawing/2014/main" val="3152164334"/>
                    </a:ext>
                  </a:extLst>
                </a:gridCol>
                <a:gridCol w="2708628">
                  <a:extLst>
                    <a:ext uri="{9D8B030D-6E8A-4147-A177-3AD203B41FA5}">
                      <a16:colId xmlns:a16="http://schemas.microsoft.com/office/drawing/2014/main" val="1313630207"/>
                    </a:ext>
                  </a:extLst>
                </a:gridCol>
                <a:gridCol w="2708628">
                  <a:extLst>
                    <a:ext uri="{9D8B030D-6E8A-4147-A177-3AD203B41FA5}">
                      <a16:colId xmlns:a16="http://schemas.microsoft.com/office/drawing/2014/main" val="3481781032"/>
                    </a:ext>
                  </a:extLst>
                </a:gridCol>
              </a:tblGrid>
              <a:tr h="863600">
                <a:tc>
                  <a:txBody>
                    <a:bodyPr/>
                    <a:lstStyle/>
                    <a:p>
                      <a:endParaRPr lang="en-US"/>
                    </a:p>
                  </a:txBody>
                  <a:tcPr/>
                </a:tc>
                <a:tc>
                  <a:txBody>
                    <a:bodyPr/>
                    <a:lstStyle/>
                    <a:p>
                      <a:r>
                        <a:rPr lang="en-US" dirty="0"/>
                        <a:t>The null hypothesis is TRUE</a:t>
                      </a:r>
                    </a:p>
                  </a:txBody>
                  <a:tcPr/>
                </a:tc>
                <a:tc>
                  <a:txBody>
                    <a:bodyPr/>
                    <a:lstStyle/>
                    <a:p>
                      <a:r>
                        <a:rPr lang="en-US" dirty="0"/>
                        <a:t>The null hypothesis is FALSE</a:t>
                      </a:r>
                    </a:p>
                  </a:txBody>
                  <a:tcPr/>
                </a:tc>
                <a:extLst>
                  <a:ext uri="{0D108BD9-81ED-4DB2-BD59-A6C34878D82A}">
                    <a16:rowId xmlns:a16="http://schemas.microsoft.com/office/drawing/2014/main" val="369124131"/>
                  </a:ext>
                </a:extLst>
              </a:tr>
              <a:tr h="863600">
                <a:tc>
                  <a:txBody>
                    <a:bodyPr/>
                    <a:lstStyle/>
                    <a:p>
                      <a:r>
                        <a:rPr lang="en-US" dirty="0"/>
                        <a:t>Reject the Null Hypothesis</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70053345"/>
                  </a:ext>
                </a:extLst>
              </a:tr>
              <a:tr h="863600">
                <a:tc>
                  <a:txBody>
                    <a:bodyPr/>
                    <a:lstStyle/>
                    <a:p>
                      <a:r>
                        <a:rPr lang="en-US" dirty="0"/>
                        <a:t>Do not Reject the null hypothesis </a:t>
                      </a:r>
                    </a:p>
                    <a:p>
                      <a:r>
                        <a:rPr lang="en-US" dirty="0"/>
                        <a:t>(Accept Null Hypothesis)</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81766752"/>
                  </a:ext>
                </a:extLst>
              </a:tr>
            </a:tbl>
          </a:graphicData>
        </a:graphic>
      </p:graphicFrame>
      <p:sp>
        <p:nvSpPr>
          <p:cNvPr id="5" name="Rectangle 4">
            <a:extLst>
              <a:ext uri="{FF2B5EF4-FFF2-40B4-BE49-F238E27FC236}">
                <a16:creationId xmlns:a16="http://schemas.microsoft.com/office/drawing/2014/main" id="{B52725D4-1A21-73DF-F43B-955D2A1BA3BC}"/>
              </a:ext>
            </a:extLst>
          </p:cNvPr>
          <p:cNvSpPr/>
          <p:nvPr/>
        </p:nvSpPr>
        <p:spPr>
          <a:xfrm>
            <a:off x="5332412" y="4038600"/>
            <a:ext cx="27432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a:p>
            <a:pPr algn="ctr"/>
            <a:r>
              <a:rPr lang="en-US" sz="1600" dirty="0"/>
              <a:t>He did not make a move; the girl is labeled “the one that got away”.</a:t>
            </a:r>
          </a:p>
          <a:p>
            <a:pPr algn="ctr"/>
            <a:endParaRPr lang="en-US" dirty="0"/>
          </a:p>
        </p:txBody>
      </p:sp>
      <p:sp>
        <p:nvSpPr>
          <p:cNvPr id="6" name="Rectangle 5">
            <a:extLst>
              <a:ext uri="{FF2B5EF4-FFF2-40B4-BE49-F238E27FC236}">
                <a16:creationId xmlns:a16="http://schemas.microsoft.com/office/drawing/2014/main" id="{8F5C1A37-857E-A500-8B62-A9385C7D54FB}"/>
              </a:ext>
            </a:extLst>
          </p:cNvPr>
          <p:cNvSpPr/>
          <p:nvPr/>
        </p:nvSpPr>
        <p:spPr>
          <a:xfrm>
            <a:off x="5332412" y="5029200"/>
            <a:ext cx="27432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a:p>
            <a:r>
              <a:rPr lang="en-US" sz="1600" dirty="0"/>
              <a:t>He make a move, and they live happily ever after.</a:t>
            </a:r>
          </a:p>
          <a:p>
            <a:pPr algn="ctr"/>
            <a:endParaRPr lang="en-US" dirty="0"/>
          </a:p>
        </p:txBody>
      </p:sp>
      <p:sp>
        <p:nvSpPr>
          <p:cNvPr id="7" name="Rectangle 6">
            <a:extLst>
              <a:ext uri="{FF2B5EF4-FFF2-40B4-BE49-F238E27FC236}">
                <a16:creationId xmlns:a16="http://schemas.microsoft.com/office/drawing/2014/main" id="{D6562012-9A10-D14E-84E2-1EC066A292BA}"/>
              </a:ext>
            </a:extLst>
          </p:cNvPr>
          <p:cNvSpPr/>
          <p:nvPr/>
        </p:nvSpPr>
        <p:spPr>
          <a:xfrm>
            <a:off x="8151812" y="4038599"/>
            <a:ext cx="2614612" cy="8993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dirty="0"/>
          </a:p>
          <a:p>
            <a:r>
              <a:rPr lang="en-US" sz="1600" dirty="0"/>
              <a:t>He did not make a move, nothing happened Good Job!</a:t>
            </a:r>
          </a:p>
          <a:p>
            <a:pPr algn="ctr"/>
            <a:endParaRPr lang="en-US" dirty="0"/>
          </a:p>
        </p:txBody>
      </p:sp>
      <p:sp>
        <p:nvSpPr>
          <p:cNvPr id="8" name="Rectangle 7">
            <a:extLst>
              <a:ext uri="{FF2B5EF4-FFF2-40B4-BE49-F238E27FC236}">
                <a16:creationId xmlns:a16="http://schemas.microsoft.com/office/drawing/2014/main" id="{27511DB6-3315-C497-5624-9A96248D6E4B}"/>
              </a:ext>
            </a:extLst>
          </p:cNvPr>
          <p:cNvSpPr/>
          <p:nvPr/>
        </p:nvSpPr>
        <p:spPr>
          <a:xfrm>
            <a:off x="8175624" y="5029199"/>
            <a:ext cx="2614612"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a:p>
            <a:endParaRPr lang="en-US" sz="1600" dirty="0"/>
          </a:p>
          <a:p>
            <a:r>
              <a:rPr lang="en-US" sz="1600" dirty="0"/>
              <a:t>He was told that he should focus himself on someone else, it’s the awkward moment! Man down!</a:t>
            </a:r>
          </a:p>
          <a:p>
            <a:pPr algn="ctr"/>
            <a:endParaRPr lang="en-US" dirty="0"/>
          </a:p>
        </p:txBody>
      </p:sp>
    </p:spTree>
    <p:extLst>
      <p:ext uri="{BB962C8B-B14F-4D97-AF65-F5344CB8AC3E}">
        <p14:creationId xmlns:p14="http://schemas.microsoft.com/office/powerpoint/2010/main" val="3871570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77B9F-495B-529B-7C08-9B8036D4BA32}"/>
              </a:ext>
            </a:extLst>
          </p:cNvPr>
          <p:cNvSpPr>
            <a:spLocks noGrp="1"/>
          </p:cNvSpPr>
          <p:nvPr>
            <p:ph type="title"/>
          </p:nvPr>
        </p:nvSpPr>
        <p:spPr>
          <a:xfrm>
            <a:off x="1593436" y="177801"/>
            <a:ext cx="9782801" cy="736600"/>
          </a:xfrm>
        </p:spPr>
        <p:txBody>
          <a:bodyPr/>
          <a:lstStyle/>
          <a:p>
            <a:r>
              <a:rPr lang="en-US" dirty="0"/>
              <a:t>Type I and Type II error </a:t>
            </a:r>
          </a:p>
        </p:txBody>
      </p:sp>
      <p:pic>
        <p:nvPicPr>
          <p:cNvPr id="5122" name="Picture 2" descr="Type I Error and Type II Error: 10 Differences, Examples">
            <a:extLst>
              <a:ext uri="{FF2B5EF4-FFF2-40B4-BE49-F238E27FC236}">
                <a16:creationId xmlns:a16="http://schemas.microsoft.com/office/drawing/2014/main" id="{700BF637-1EF4-4D89-F4AB-9F4ABF0649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7212" y="1371600"/>
            <a:ext cx="9258162" cy="4961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335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5BDA-646A-20BD-4F5A-19BBF306798A}"/>
              </a:ext>
            </a:extLst>
          </p:cNvPr>
          <p:cNvSpPr>
            <a:spLocks noGrp="1"/>
          </p:cNvSpPr>
          <p:nvPr>
            <p:ph type="title"/>
          </p:nvPr>
        </p:nvSpPr>
        <p:spPr/>
        <p:txBody>
          <a:bodyPr/>
          <a:lstStyle/>
          <a:p>
            <a:r>
              <a:rPr lang="en-US" dirty="0"/>
              <a:t>Court Hearing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F80508-B64C-E400-0471-1B53F0F23C2A}"/>
                  </a:ext>
                </a:extLst>
              </p:cNvPr>
              <p:cNvSpPr>
                <a:spLocks noGrp="1"/>
              </p:cNvSpPr>
              <p:nvPr>
                <p:ph idx="1"/>
              </p:nvPr>
            </p:nvSpPr>
            <p:spPr/>
            <p:txBody>
              <a:bodyPr>
                <a:normAutofit lnSpcReduction="10000"/>
              </a:bodyPr>
              <a:lstStyle/>
              <a:p>
                <a:pPr marL="0" indent="0">
                  <a:buNone/>
                </a:pPr>
                <a:r>
                  <a:rPr lang="en-US" sz="4000" dirty="0">
                    <a:solidFill>
                      <a:schemeClr val="tx2"/>
                    </a:solidFill>
                  </a:rPr>
                  <a:t>In a court trial, there are four possible outcomes, the defendant is either guilty or innocent, and he/he will be convicted or acquitted. The hypothesis are presented below:</a:t>
                </a:r>
              </a:p>
              <a:p>
                <a:pPr marL="0" indent="0">
                  <a:buNone/>
                </a:pPr>
                <a:endParaRPr lang="en-US" sz="4000" i="1" dirty="0">
                  <a:solidFill>
                    <a:schemeClr val="tx2"/>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4000" i="1" smtClean="0">
                              <a:solidFill>
                                <a:schemeClr val="tx2"/>
                              </a:solidFill>
                              <a:latin typeface="Cambria Math" panose="02040503050406030204" pitchFamily="18" charset="0"/>
                            </a:rPr>
                          </m:ctrlPr>
                        </m:sSubPr>
                        <m:e>
                          <m:r>
                            <m:rPr>
                              <m:sty m:val="p"/>
                            </m:rPr>
                            <a:rPr lang="en-US" sz="4000" b="0" i="0" smtClean="0">
                              <a:solidFill>
                                <a:schemeClr val="tx2"/>
                              </a:solidFill>
                              <a:latin typeface="Cambria Math" panose="02040503050406030204" pitchFamily="18" charset="0"/>
                            </a:rPr>
                            <m:t>H</m:t>
                          </m:r>
                        </m:e>
                        <m:sub>
                          <m:r>
                            <a:rPr lang="en-US" sz="4000" b="0" i="0" smtClean="0">
                              <a:solidFill>
                                <a:schemeClr val="tx2"/>
                              </a:solidFill>
                              <a:latin typeface="Cambria Math" panose="02040503050406030204" pitchFamily="18" charset="0"/>
                            </a:rPr>
                            <m:t>0</m:t>
                          </m:r>
                        </m:sub>
                      </m:sSub>
                      <m:r>
                        <a:rPr lang="en-US" sz="4000" b="0" i="0" smtClean="0">
                          <a:solidFill>
                            <a:schemeClr val="tx2"/>
                          </a:solidFill>
                          <a:latin typeface="Cambria Math" panose="02040503050406030204" pitchFamily="18" charset="0"/>
                        </a:rPr>
                        <m:t>:</m:t>
                      </m:r>
                      <m:r>
                        <m:rPr>
                          <m:sty m:val="p"/>
                        </m:rPr>
                        <a:rPr lang="en-US" sz="4000" b="0" i="0" smtClean="0">
                          <a:solidFill>
                            <a:schemeClr val="tx2"/>
                          </a:solidFill>
                          <a:latin typeface="Cambria Math" panose="02040503050406030204" pitchFamily="18" charset="0"/>
                        </a:rPr>
                        <m:t>The</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defendant</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is</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innocent</m:t>
                      </m:r>
                    </m:oMath>
                  </m:oMathPara>
                </a14:m>
                <a:endParaRPr lang="en-US" sz="4000" b="0" dirty="0">
                  <a:solidFill>
                    <a:schemeClr val="tx2"/>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4000" i="1" smtClean="0">
                              <a:solidFill>
                                <a:schemeClr val="tx2"/>
                              </a:solidFill>
                              <a:latin typeface="Cambria Math" panose="02040503050406030204" pitchFamily="18" charset="0"/>
                            </a:rPr>
                          </m:ctrlPr>
                        </m:sSubPr>
                        <m:e>
                          <m:r>
                            <m:rPr>
                              <m:sty m:val="p"/>
                            </m:rPr>
                            <a:rPr lang="en-US" sz="4000" b="0" i="0" smtClean="0">
                              <a:solidFill>
                                <a:schemeClr val="tx2"/>
                              </a:solidFill>
                              <a:latin typeface="Cambria Math" panose="02040503050406030204" pitchFamily="18" charset="0"/>
                            </a:rPr>
                            <m:t>H</m:t>
                          </m:r>
                        </m:e>
                        <m:sub>
                          <m:r>
                            <m:rPr>
                              <m:sty m:val="p"/>
                            </m:rPr>
                            <a:rPr lang="en-US" sz="4000" b="0" i="0" smtClean="0">
                              <a:solidFill>
                                <a:schemeClr val="tx2"/>
                              </a:solidFill>
                              <a:latin typeface="Cambria Math" panose="02040503050406030204" pitchFamily="18" charset="0"/>
                            </a:rPr>
                            <m:t>a</m:t>
                          </m:r>
                        </m:sub>
                      </m:sSub>
                      <m:r>
                        <a:rPr lang="en-US" sz="4000" b="0" i="0" smtClean="0">
                          <a:solidFill>
                            <a:schemeClr val="tx2"/>
                          </a:solidFill>
                          <a:latin typeface="Cambria Math" panose="02040503050406030204" pitchFamily="18" charset="0"/>
                        </a:rPr>
                        <m:t>:</m:t>
                      </m:r>
                      <m:r>
                        <m:rPr>
                          <m:sty m:val="p"/>
                        </m:rPr>
                        <a:rPr lang="en-US" sz="4000" b="0" i="0" smtClean="0">
                          <a:solidFill>
                            <a:schemeClr val="tx2"/>
                          </a:solidFill>
                          <a:latin typeface="Cambria Math" panose="02040503050406030204" pitchFamily="18" charset="0"/>
                        </a:rPr>
                        <m:t>The</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defendant</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is</m:t>
                      </m:r>
                      <m:r>
                        <a:rPr lang="en-US" sz="4000" b="0" i="0" smtClean="0">
                          <a:solidFill>
                            <a:schemeClr val="tx2"/>
                          </a:solidFill>
                          <a:latin typeface="Cambria Math" panose="02040503050406030204" pitchFamily="18" charset="0"/>
                        </a:rPr>
                        <m:t> </m:t>
                      </m:r>
                      <m:r>
                        <m:rPr>
                          <m:sty m:val="p"/>
                        </m:rPr>
                        <a:rPr lang="en-US" sz="4000" b="0" i="0" smtClean="0">
                          <a:solidFill>
                            <a:schemeClr val="tx2"/>
                          </a:solidFill>
                          <a:latin typeface="Cambria Math" panose="02040503050406030204" pitchFamily="18" charset="0"/>
                        </a:rPr>
                        <m:t>guilty</m:t>
                      </m:r>
                    </m:oMath>
                  </m:oMathPara>
                </a14:m>
                <a:endParaRPr lang="en-US" sz="4000" dirty="0">
                  <a:solidFill>
                    <a:schemeClr val="tx2"/>
                  </a:solidFill>
                </a:endParaRPr>
              </a:p>
            </p:txBody>
          </p:sp>
        </mc:Choice>
        <mc:Fallback xmlns="">
          <p:sp>
            <p:nvSpPr>
              <p:cNvPr id="3" name="Content Placeholder 2">
                <a:extLst>
                  <a:ext uri="{FF2B5EF4-FFF2-40B4-BE49-F238E27FC236}">
                    <a16:creationId xmlns:a16="http://schemas.microsoft.com/office/drawing/2014/main" id="{41F80508-B64C-E400-0471-1B53F0F23C2A}"/>
                  </a:ext>
                </a:extLst>
              </p:cNvPr>
              <p:cNvSpPr>
                <a:spLocks noGrp="1" noRot="1" noChangeAspect="1" noMove="1" noResize="1" noEditPoints="1" noAdjustHandles="1" noChangeArrowheads="1" noChangeShapeType="1" noTextEdit="1"/>
              </p:cNvSpPr>
              <p:nvPr>
                <p:ph idx="1"/>
              </p:nvPr>
            </p:nvSpPr>
            <p:spPr>
              <a:blipFill>
                <a:blip r:embed="rId2"/>
                <a:stretch>
                  <a:fillRect l="-2181" t="-5067" r="-1807"/>
                </a:stretch>
              </a:blipFill>
            </p:spPr>
            <p:txBody>
              <a:bodyPr/>
              <a:lstStyle/>
              <a:p>
                <a:r>
                  <a:rPr lang="en-US">
                    <a:noFill/>
                  </a:rPr>
                  <a:t> </a:t>
                </a:r>
              </a:p>
            </p:txBody>
          </p:sp>
        </mc:Fallback>
      </mc:AlternateContent>
    </p:spTree>
    <p:extLst>
      <p:ext uri="{BB962C8B-B14F-4D97-AF65-F5344CB8AC3E}">
        <p14:creationId xmlns:p14="http://schemas.microsoft.com/office/powerpoint/2010/main" val="296076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A895-85A9-2E9F-067F-7AB9B811E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5EAA4-1E49-6787-552A-56192A440980}"/>
              </a:ext>
            </a:extLst>
          </p:cNvPr>
          <p:cNvSpPr>
            <a:spLocks noGrp="1"/>
          </p:cNvSpPr>
          <p:nvPr>
            <p:ph type="title"/>
          </p:nvPr>
        </p:nvSpPr>
        <p:spPr/>
        <p:txBody>
          <a:bodyPr/>
          <a:lstStyle/>
          <a:p>
            <a:r>
              <a:rPr lang="en-US" dirty="0"/>
              <a:t>Court Hearing </a:t>
            </a:r>
          </a:p>
        </p:txBody>
      </p:sp>
      <p:sp>
        <p:nvSpPr>
          <p:cNvPr id="3" name="Content Placeholder 2">
            <a:extLst>
              <a:ext uri="{FF2B5EF4-FFF2-40B4-BE49-F238E27FC236}">
                <a16:creationId xmlns:a16="http://schemas.microsoft.com/office/drawing/2014/main" id="{D41E7A2F-D7B6-B7AF-5141-FFA92D8F6FDE}"/>
              </a:ext>
            </a:extLst>
          </p:cNvPr>
          <p:cNvSpPr>
            <a:spLocks noGrp="1"/>
          </p:cNvSpPr>
          <p:nvPr>
            <p:ph idx="1"/>
          </p:nvPr>
        </p:nvSpPr>
        <p:spPr/>
        <p:txBody>
          <a:bodyPr>
            <a:normAutofit/>
          </a:bodyPr>
          <a:lstStyle/>
          <a:p>
            <a:pPr marL="0" indent="0">
              <a:buNone/>
            </a:pPr>
            <a:r>
              <a:rPr lang="en-US" sz="3200" dirty="0">
                <a:solidFill>
                  <a:schemeClr val="tx2"/>
                </a:solidFill>
              </a:rPr>
              <a:t>The judge may commit Type I Error by employing which of the following propositions?</a:t>
            </a:r>
          </a:p>
          <a:p>
            <a:pPr marL="0" indent="0">
              <a:buNone/>
            </a:pPr>
            <a:endParaRPr lang="en-US" sz="3200" dirty="0">
              <a:solidFill>
                <a:schemeClr val="tx2"/>
              </a:solidFill>
            </a:endParaRPr>
          </a:p>
          <a:p>
            <a:pPr marL="742950" indent="-742950">
              <a:buAutoNum type="alphaUcPeriod"/>
            </a:pPr>
            <a:r>
              <a:rPr lang="en-US" sz="3200" i="1" dirty="0">
                <a:solidFill>
                  <a:schemeClr val="tx2"/>
                </a:solidFill>
                <a:latin typeface="Cambria Math" panose="02040503050406030204" pitchFamily="18" charset="0"/>
              </a:rPr>
              <a:t>The defendant is acquitted but he is guilty.</a:t>
            </a:r>
          </a:p>
          <a:p>
            <a:pPr marL="742950" indent="-742950">
              <a:buAutoNum type="alphaUcPeriod"/>
            </a:pPr>
            <a:r>
              <a:rPr lang="en-US" sz="3200" i="1" dirty="0">
                <a:solidFill>
                  <a:schemeClr val="tx2"/>
                </a:solidFill>
                <a:latin typeface="Cambria Math" panose="02040503050406030204" pitchFamily="18" charset="0"/>
              </a:rPr>
              <a:t>The defendant is convicted since he is guilty.</a:t>
            </a:r>
          </a:p>
          <a:p>
            <a:pPr marL="742950" indent="-742950">
              <a:buAutoNum type="alphaUcPeriod"/>
            </a:pPr>
            <a:r>
              <a:rPr lang="en-US" sz="3200" i="1" dirty="0">
                <a:solidFill>
                  <a:schemeClr val="tx2"/>
                </a:solidFill>
                <a:latin typeface="Cambria Math" panose="02040503050406030204" pitchFamily="18" charset="0"/>
              </a:rPr>
              <a:t>The defendant is convicted but he is innocent.</a:t>
            </a:r>
          </a:p>
          <a:p>
            <a:pPr marL="742950" indent="-742950">
              <a:buAutoNum type="alphaUcPeriod"/>
            </a:pPr>
            <a:r>
              <a:rPr lang="en-US" sz="3200" i="1" dirty="0">
                <a:solidFill>
                  <a:schemeClr val="tx2"/>
                </a:solidFill>
                <a:latin typeface="Cambria Math" panose="02040503050406030204" pitchFamily="18" charset="0"/>
              </a:rPr>
              <a:t>The defendant is acquitted since he is innocent.</a:t>
            </a:r>
          </a:p>
          <a:p>
            <a:pPr marL="742950" indent="-742950">
              <a:buAutoNum type="alphaUcPeriod"/>
            </a:pPr>
            <a:endParaRPr lang="en-US" sz="4000" i="1" dirty="0">
              <a:solidFill>
                <a:schemeClr val="tx2"/>
              </a:solidFill>
              <a:latin typeface="Cambria Math" panose="02040503050406030204" pitchFamily="18" charset="0"/>
            </a:endParaRPr>
          </a:p>
        </p:txBody>
      </p:sp>
    </p:spTree>
    <p:extLst>
      <p:ext uri="{BB962C8B-B14F-4D97-AF65-F5344CB8AC3E}">
        <p14:creationId xmlns:p14="http://schemas.microsoft.com/office/powerpoint/2010/main" val="232329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7B5E-2CCD-E25F-930D-38855FDA6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96128-AD87-3799-7B36-C30C7564DA20}"/>
              </a:ext>
            </a:extLst>
          </p:cNvPr>
          <p:cNvSpPr>
            <a:spLocks noGrp="1"/>
          </p:cNvSpPr>
          <p:nvPr>
            <p:ph type="title"/>
          </p:nvPr>
        </p:nvSpPr>
        <p:spPr/>
        <p:txBody>
          <a:bodyPr/>
          <a:lstStyle/>
          <a:p>
            <a:r>
              <a:rPr lang="en-US" dirty="0"/>
              <a:t>Court Hearing </a:t>
            </a:r>
          </a:p>
        </p:txBody>
      </p:sp>
      <p:sp>
        <p:nvSpPr>
          <p:cNvPr id="3" name="Content Placeholder 2">
            <a:extLst>
              <a:ext uri="{FF2B5EF4-FFF2-40B4-BE49-F238E27FC236}">
                <a16:creationId xmlns:a16="http://schemas.microsoft.com/office/drawing/2014/main" id="{5857E997-2E55-E8F2-DFEC-7B0C446373D0}"/>
              </a:ext>
            </a:extLst>
          </p:cNvPr>
          <p:cNvSpPr>
            <a:spLocks noGrp="1"/>
          </p:cNvSpPr>
          <p:nvPr>
            <p:ph idx="1"/>
          </p:nvPr>
        </p:nvSpPr>
        <p:spPr/>
        <p:txBody>
          <a:bodyPr>
            <a:normAutofit fontScale="92500" lnSpcReduction="20000"/>
          </a:bodyPr>
          <a:lstStyle/>
          <a:p>
            <a:pPr marL="0" indent="0">
              <a:buNone/>
            </a:pPr>
            <a:r>
              <a:rPr lang="en-US" sz="3200" dirty="0">
                <a:solidFill>
                  <a:schemeClr val="tx2"/>
                </a:solidFill>
              </a:rPr>
              <a:t>Which of the following propositions may illustrate a correct action if the null hypothesis is true?</a:t>
            </a:r>
          </a:p>
          <a:p>
            <a:pPr marL="0" indent="0">
              <a:buNone/>
            </a:pPr>
            <a:endParaRPr lang="en-US" sz="3200" dirty="0">
              <a:solidFill>
                <a:schemeClr val="tx2"/>
              </a:solidFill>
            </a:endParaRPr>
          </a:p>
          <a:p>
            <a:pPr marL="742950" indent="-742950">
              <a:buAutoNum type="alphaUcPeriod"/>
            </a:pPr>
            <a:r>
              <a:rPr lang="en-US" sz="3200" i="1" dirty="0">
                <a:solidFill>
                  <a:schemeClr val="tx2"/>
                </a:solidFill>
                <a:latin typeface="Cambria Math" panose="02040503050406030204" pitchFamily="18" charset="0"/>
              </a:rPr>
              <a:t>The defendant is acquitted but he committed the crime.</a:t>
            </a:r>
          </a:p>
          <a:p>
            <a:pPr marL="742950" indent="-742950">
              <a:buAutoNum type="alphaUcPeriod"/>
            </a:pPr>
            <a:r>
              <a:rPr lang="en-US" sz="3200" i="1" dirty="0">
                <a:solidFill>
                  <a:schemeClr val="tx2"/>
                </a:solidFill>
                <a:latin typeface="Cambria Math" panose="02040503050406030204" pitchFamily="18" charset="0"/>
              </a:rPr>
              <a:t>The defendant is convicted since he committed the crime.</a:t>
            </a:r>
          </a:p>
          <a:p>
            <a:pPr marL="742950" indent="-742950">
              <a:buAutoNum type="alphaUcPeriod"/>
            </a:pPr>
            <a:r>
              <a:rPr lang="en-US" sz="3200" i="1" dirty="0">
                <a:solidFill>
                  <a:schemeClr val="tx2"/>
                </a:solidFill>
                <a:latin typeface="Cambria Math" panose="02040503050406030204" pitchFamily="18" charset="0"/>
              </a:rPr>
              <a:t>The defendant is convicted but he did not commit the crime.</a:t>
            </a:r>
          </a:p>
          <a:p>
            <a:pPr marL="742950" indent="-742950">
              <a:buAutoNum type="alphaUcPeriod"/>
            </a:pPr>
            <a:r>
              <a:rPr lang="en-US" sz="3200" i="1" dirty="0">
                <a:solidFill>
                  <a:schemeClr val="tx2"/>
                </a:solidFill>
                <a:latin typeface="Cambria Math" panose="02040503050406030204" pitchFamily="18" charset="0"/>
              </a:rPr>
              <a:t>The defendant is acquitted since he did not commit the crime</a:t>
            </a:r>
          </a:p>
          <a:p>
            <a:pPr marL="742950" indent="-742950">
              <a:buAutoNum type="alphaUcPeriod"/>
            </a:pPr>
            <a:endParaRPr lang="en-US" sz="4000" i="1" dirty="0">
              <a:solidFill>
                <a:schemeClr val="tx2"/>
              </a:solidFill>
              <a:latin typeface="Cambria Math" panose="02040503050406030204" pitchFamily="18" charset="0"/>
            </a:endParaRPr>
          </a:p>
        </p:txBody>
      </p:sp>
    </p:spTree>
    <p:extLst>
      <p:ext uri="{BB962C8B-B14F-4D97-AF65-F5344CB8AC3E}">
        <p14:creationId xmlns:p14="http://schemas.microsoft.com/office/powerpoint/2010/main" val="2757955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7B56-1D36-DC16-B89C-D957A60AD958}"/>
              </a:ext>
            </a:extLst>
          </p:cNvPr>
          <p:cNvSpPr>
            <a:spLocks noGrp="1"/>
          </p:cNvSpPr>
          <p:nvPr>
            <p:ph type="title"/>
          </p:nvPr>
        </p:nvSpPr>
        <p:spPr/>
        <p:txBody>
          <a:bodyPr/>
          <a:lstStyle/>
          <a:p>
            <a:r>
              <a:rPr lang="en-US" dirty="0"/>
              <a:t>Null and Alternative Hypothesis </a:t>
            </a:r>
          </a:p>
        </p:txBody>
      </p:sp>
      <p:sp>
        <p:nvSpPr>
          <p:cNvPr id="3" name="Content Placeholder 2">
            <a:extLst>
              <a:ext uri="{FF2B5EF4-FFF2-40B4-BE49-F238E27FC236}">
                <a16:creationId xmlns:a16="http://schemas.microsoft.com/office/drawing/2014/main" id="{A2388FDE-CD60-7551-6CCC-82CF2D3A48AF}"/>
              </a:ext>
            </a:extLst>
          </p:cNvPr>
          <p:cNvSpPr>
            <a:spLocks noGrp="1"/>
          </p:cNvSpPr>
          <p:nvPr>
            <p:ph idx="1"/>
          </p:nvPr>
        </p:nvSpPr>
        <p:spPr/>
        <p:txBody>
          <a:bodyPr>
            <a:normAutofit lnSpcReduction="10000"/>
          </a:bodyPr>
          <a:lstStyle/>
          <a:p>
            <a:pPr marL="0" indent="0">
              <a:buNone/>
            </a:pPr>
            <a:r>
              <a:rPr lang="en-US" dirty="0"/>
              <a:t>Which decisions generalize a correct action regarding a given null hypothesis?</a:t>
            </a:r>
          </a:p>
          <a:p>
            <a:pPr marL="0" indent="0">
              <a:buNone/>
            </a:pPr>
            <a:r>
              <a:rPr lang="en-US" dirty="0"/>
              <a:t>	I. The null hypothesis is rejected when it is true. </a:t>
            </a:r>
          </a:p>
          <a:p>
            <a:pPr marL="0" indent="0">
              <a:buNone/>
            </a:pPr>
            <a:r>
              <a:rPr lang="en-US" dirty="0"/>
              <a:t>	II. The null hypothesis is rejected when it is false. </a:t>
            </a:r>
          </a:p>
          <a:p>
            <a:pPr marL="0" indent="0">
              <a:buNone/>
            </a:pPr>
            <a:r>
              <a:rPr lang="en-US" dirty="0"/>
              <a:t>	III. The null hypothesis is accepted when it is true. </a:t>
            </a:r>
          </a:p>
          <a:p>
            <a:pPr marL="514350" indent="-514350">
              <a:buAutoNum type="alphaLcPeriod"/>
            </a:pPr>
            <a:r>
              <a:rPr lang="en-US" dirty="0"/>
              <a:t>I and II</a:t>
            </a:r>
          </a:p>
          <a:p>
            <a:pPr marL="514350" indent="-514350">
              <a:buAutoNum type="alphaLcPeriod"/>
            </a:pPr>
            <a:r>
              <a:rPr lang="en-US" dirty="0"/>
              <a:t>I and III</a:t>
            </a:r>
          </a:p>
          <a:p>
            <a:pPr marL="514350" indent="-514350">
              <a:buAutoNum type="alphaLcPeriod"/>
            </a:pPr>
            <a:r>
              <a:rPr lang="en-US" dirty="0"/>
              <a:t>II and III</a:t>
            </a:r>
          </a:p>
          <a:p>
            <a:pPr marL="514350" indent="-514350">
              <a:buAutoNum type="alphaLcPeriod"/>
            </a:pPr>
            <a:r>
              <a:rPr lang="en-US" dirty="0"/>
              <a:t>I, II and III</a:t>
            </a:r>
          </a:p>
        </p:txBody>
      </p:sp>
    </p:spTree>
    <p:extLst>
      <p:ext uri="{BB962C8B-B14F-4D97-AF65-F5344CB8AC3E}">
        <p14:creationId xmlns:p14="http://schemas.microsoft.com/office/powerpoint/2010/main" val="521725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75852-4492-574C-71F6-D7795F910D26}"/>
              </a:ext>
            </a:extLst>
          </p:cNvPr>
          <p:cNvSpPr>
            <a:spLocks noGrp="1"/>
          </p:cNvSpPr>
          <p:nvPr>
            <p:ph idx="1"/>
          </p:nvPr>
        </p:nvSpPr>
        <p:spPr>
          <a:xfrm>
            <a:off x="1522412" y="685800"/>
            <a:ext cx="9782801" cy="4572000"/>
          </a:xfrm>
        </p:spPr>
        <p:txBody>
          <a:bodyPr>
            <a:normAutofit fontScale="92500"/>
          </a:bodyPr>
          <a:lstStyle/>
          <a:p>
            <a:pPr marL="0" indent="0">
              <a:buNone/>
            </a:pPr>
            <a:r>
              <a:rPr lang="en-US" sz="4000" dirty="0"/>
              <a:t>What does the saying “To see is to believe” mean? </a:t>
            </a:r>
          </a:p>
          <a:p>
            <a:pPr marL="514350" indent="-514350">
              <a:buAutoNum type="alphaLcPeriod"/>
            </a:pPr>
            <a:r>
              <a:rPr lang="en-US" sz="4000" dirty="0"/>
              <a:t>A person only believes if he sees.</a:t>
            </a:r>
          </a:p>
          <a:p>
            <a:pPr marL="514350" indent="-514350">
              <a:buAutoNum type="alphaLcPeriod"/>
            </a:pPr>
            <a:r>
              <a:rPr lang="en-US" sz="4000" dirty="0"/>
              <a:t>A person only sees if he believes.</a:t>
            </a:r>
          </a:p>
          <a:p>
            <a:pPr marL="514350" indent="-514350">
              <a:buAutoNum type="alphaLcPeriod"/>
            </a:pPr>
            <a:r>
              <a:rPr lang="en-US" sz="4000" dirty="0"/>
              <a:t>A person does not believe even if he sees. </a:t>
            </a:r>
          </a:p>
          <a:p>
            <a:pPr marL="514350" indent="-514350">
              <a:buAutoNum type="alphaLcPeriod"/>
            </a:pPr>
            <a:r>
              <a:rPr lang="en-US" sz="4000" dirty="0"/>
              <a:t>A person does not see even if he believes.  </a:t>
            </a:r>
          </a:p>
        </p:txBody>
      </p:sp>
    </p:spTree>
    <p:extLst>
      <p:ext uri="{BB962C8B-B14F-4D97-AF65-F5344CB8AC3E}">
        <p14:creationId xmlns:p14="http://schemas.microsoft.com/office/powerpoint/2010/main" val="2589239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6B982-CDFF-2E59-455E-B3DCE4D4E6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91A605-BB80-1564-8519-954953375E08}"/>
              </a:ext>
            </a:extLst>
          </p:cNvPr>
          <p:cNvSpPr>
            <a:spLocks noGrp="1"/>
          </p:cNvSpPr>
          <p:nvPr>
            <p:ph idx="1"/>
          </p:nvPr>
        </p:nvSpPr>
        <p:spPr>
          <a:xfrm>
            <a:off x="1522412" y="685800"/>
            <a:ext cx="9782801" cy="4572000"/>
          </a:xfrm>
        </p:spPr>
        <p:txBody>
          <a:bodyPr>
            <a:normAutofit fontScale="92500"/>
          </a:bodyPr>
          <a:lstStyle/>
          <a:p>
            <a:pPr marL="0" indent="0">
              <a:buNone/>
            </a:pPr>
            <a:r>
              <a:rPr lang="en-US" sz="4000" dirty="0"/>
              <a:t>Which statement conveys the same message as the saying “To see is to believe”? </a:t>
            </a:r>
          </a:p>
          <a:p>
            <a:pPr marL="742950" indent="-742950">
              <a:buAutoNum type="alphaLcPeriod"/>
            </a:pPr>
            <a:r>
              <a:rPr lang="en-US" sz="4000" dirty="0"/>
              <a:t>If one believes, One sees.</a:t>
            </a:r>
          </a:p>
          <a:p>
            <a:pPr marL="742950" indent="-742950">
              <a:buAutoNum type="alphaLcPeriod"/>
            </a:pPr>
            <a:r>
              <a:rPr lang="en-US" sz="4000" dirty="0"/>
              <a:t>If one sees, One may not believe. </a:t>
            </a:r>
          </a:p>
          <a:p>
            <a:pPr marL="742950" indent="-742950">
              <a:buAutoNum type="alphaLcPeriod"/>
            </a:pPr>
            <a:r>
              <a:rPr lang="en-US" sz="4000" dirty="0"/>
              <a:t>If one does not see, One may believe. </a:t>
            </a:r>
          </a:p>
          <a:p>
            <a:pPr marL="742950" indent="-742950">
              <a:buAutoNum type="alphaLcPeriod"/>
            </a:pPr>
            <a:r>
              <a:rPr lang="en-US" sz="4000" dirty="0"/>
              <a:t>If one does not believe, One does not see. </a:t>
            </a:r>
          </a:p>
        </p:txBody>
      </p:sp>
    </p:spTree>
    <p:extLst>
      <p:ext uri="{BB962C8B-B14F-4D97-AF65-F5344CB8AC3E}">
        <p14:creationId xmlns:p14="http://schemas.microsoft.com/office/powerpoint/2010/main" val="34756328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B0D8-5D30-6F98-415B-73E54F63BC1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BB46D64-511D-4FC1-CD4B-00844D525306}"/>
                  </a:ext>
                </a:extLst>
              </p:cNvPr>
              <p:cNvSpPr>
                <a:spLocks noGrp="1"/>
              </p:cNvSpPr>
              <p:nvPr>
                <p:ph idx="1"/>
              </p:nvPr>
            </p:nvSpPr>
            <p:spPr>
              <a:xfrm>
                <a:off x="1522412" y="685800"/>
                <a:ext cx="9782801" cy="6019800"/>
              </a:xfrm>
            </p:spPr>
            <p:txBody>
              <a:bodyPr>
                <a:normAutofit fontScale="92500"/>
              </a:bodyPr>
              <a:lstStyle/>
              <a:p>
                <a:pPr marL="0" indent="0">
                  <a:buNone/>
                </a:pPr>
                <a:r>
                  <a:rPr lang="en-US" sz="4000" dirty="0"/>
                  <a:t>According to the Department of Energy, oil product demand in the Philippines is estimated at 479,433 barrels per day in 2019. It was claimed that the demand will grow in year 2020. What is the appropriate null </a:t>
                </a:r>
                <a14:m>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𝐻</m:t>
                        </m:r>
                      </m:e>
                      <m:sub>
                        <m:r>
                          <a:rPr lang="en-US" sz="4000" b="0" i="1" smtClean="0">
                            <a:latin typeface="Cambria Math" panose="02040503050406030204" pitchFamily="18" charset="0"/>
                          </a:rPr>
                          <m:t>0</m:t>
                        </m:r>
                      </m:sub>
                    </m:sSub>
                  </m:oMath>
                </a14:m>
                <a:r>
                  <a:rPr lang="en-US" sz="4000" dirty="0"/>
                  <a:t> hypothesis to test the claim? </a:t>
                </a:r>
              </a:p>
              <a:p>
                <a:pPr marL="742950" indent="-742950">
                  <a:buAutoNum type="alphaLcPeriod"/>
                </a:pPr>
                <a14:m>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𝐻</m:t>
                        </m:r>
                      </m:e>
                      <m:sub>
                        <m:r>
                          <a:rPr lang="en-US" sz="4000" b="0" i="1" smtClean="0">
                            <a:latin typeface="Cambria Math" panose="02040503050406030204" pitchFamily="18" charset="0"/>
                          </a:rPr>
                          <m:t>0 </m:t>
                        </m:r>
                      </m:sub>
                    </m:sSub>
                    <m:r>
                      <a:rPr lang="en-US" sz="4000" b="0" i="1" smtClean="0">
                        <a:latin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=479,433</m:t>
                    </m:r>
                  </m:oMath>
                </a14:m>
                <a:endParaRPr lang="en-US" sz="4000" b="0" dirty="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i="1">
                            <a:latin typeface="Cambria Math" panose="02040503050406030204" pitchFamily="18" charset="0"/>
                          </a:rPr>
                          <m:t>0 </m:t>
                        </m:r>
                      </m:sub>
                    </m:sSub>
                    <m:r>
                      <a:rPr lang="en-US" sz="4000" i="1">
                        <a:latin typeface="Cambria Math" panose="02040503050406030204" pitchFamily="18" charset="0"/>
                      </a:rPr>
                      <m:t>:</m:t>
                    </m:r>
                    <m:r>
                      <a:rPr lang="en-US" sz="4000" i="1">
                        <a:latin typeface="Cambria Math" panose="02040503050406030204" pitchFamily="18" charset="0"/>
                        <a:ea typeface="Cambria Math" panose="02040503050406030204" pitchFamily="18" charset="0"/>
                      </a:rPr>
                      <m:t>𝜇</m:t>
                    </m:r>
                    <m:r>
                      <a:rPr lang="en-US" sz="4000" i="1" smtClean="0">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479,433</m:t>
                    </m:r>
                  </m:oMath>
                </a14:m>
                <a:endParaRPr lang="en-US" sz="4000" dirty="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i="1">
                            <a:latin typeface="Cambria Math" panose="02040503050406030204" pitchFamily="18" charset="0"/>
                          </a:rPr>
                          <m:t>0 </m:t>
                        </m:r>
                      </m:sub>
                    </m:sSub>
                    <m:r>
                      <a:rPr lang="en-US" sz="4000" i="1">
                        <a:latin typeface="Cambria Math" panose="02040503050406030204" pitchFamily="18" charset="0"/>
                      </a:rPr>
                      <m:t>:</m:t>
                    </m:r>
                    <m:r>
                      <a:rPr lang="en-US" sz="4000" i="1">
                        <a:latin typeface="Cambria Math" panose="02040503050406030204" pitchFamily="18" charset="0"/>
                        <a:ea typeface="Cambria Math" panose="02040503050406030204" pitchFamily="18" charset="0"/>
                      </a:rPr>
                      <m:t>𝜇</m:t>
                    </m:r>
                    <m:r>
                      <a:rPr lang="en-US" sz="4000" i="1" smtClean="0">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479,433</m:t>
                    </m:r>
                  </m:oMath>
                </a14:m>
                <a:endParaRPr lang="en-US" sz="4000" dirty="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i="1">
                            <a:latin typeface="Cambria Math" panose="02040503050406030204" pitchFamily="18" charset="0"/>
                          </a:rPr>
                          <m:t>0 </m:t>
                        </m:r>
                      </m:sub>
                    </m:sSub>
                    <m:r>
                      <a:rPr lang="en-US" sz="4000" i="1">
                        <a:latin typeface="Cambria Math" panose="02040503050406030204" pitchFamily="18" charset="0"/>
                      </a:rPr>
                      <m:t>:</m:t>
                    </m:r>
                    <m:r>
                      <a:rPr lang="en-US" sz="4000" i="1">
                        <a:latin typeface="Cambria Math" panose="02040503050406030204" pitchFamily="18" charset="0"/>
                        <a:ea typeface="Cambria Math" panose="02040503050406030204" pitchFamily="18" charset="0"/>
                      </a:rPr>
                      <m:t>𝜇</m:t>
                    </m:r>
                    <m:r>
                      <a:rPr lang="en-US" sz="4000" i="1" smtClean="0">
                        <a:latin typeface="Cambria Math" panose="02040503050406030204" pitchFamily="18" charset="0"/>
                        <a:ea typeface="Cambria Math" panose="02040503050406030204" pitchFamily="18" charset="0"/>
                      </a:rPr>
                      <m:t>≤</m:t>
                    </m:r>
                    <m:r>
                      <a:rPr lang="en-US" sz="4000" i="1">
                        <a:latin typeface="Cambria Math" panose="02040503050406030204" pitchFamily="18" charset="0"/>
                        <a:ea typeface="Cambria Math" panose="02040503050406030204" pitchFamily="18" charset="0"/>
                      </a:rPr>
                      <m:t>479,433</m:t>
                    </m:r>
                  </m:oMath>
                </a14:m>
                <a:endParaRPr lang="en-US" sz="4000" dirty="0">
                  <a:ea typeface="Cambria Math" panose="02040503050406030204" pitchFamily="18" charset="0"/>
                </a:endParaRPr>
              </a:p>
              <a:p>
                <a:pPr marL="742950" indent="-742950">
                  <a:buFont typeface="Euphemia" pitchFamily="34" charset="0"/>
                  <a:buAutoNum type="alphaLcPeriod"/>
                </a:pPr>
                <a:endParaRPr lang="en-US" sz="4000" b="0" dirty="0">
                  <a:ea typeface="Cambria Math" panose="02040503050406030204" pitchFamily="18" charset="0"/>
                </a:endParaRPr>
              </a:p>
              <a:p>
                <a:pPr marL="742950" indent="-742950">
                  <a:buAutoNum type="alphaLcPeriod"/>
                </a:pPr>
                <a:endParaRPr lang="en-US" sz="4000" dirty="0"/>
              </a:p>
            </p:txBody>
          </p:sp>
        </mc:Choice>
        <mc:Fallback>
          <p:sp>
            <p:nvSpPr>
              <p:cNvPr id="3" name="Content Placeholder 2">
                <a:extLst>
                  <a:ext uri="{FF2B5EF4-FFF2-40B4-BE49-F238E27FC236}">
                    <a16:creationId xmlns:a16="http://schemas.microsoft.com/office/drawing/2014/main" id="{3BB46D64-511D-4FC1-CD4B-00844D525306}"/>
                  </a:ext>
                </a:extLst>
              </p:cNvPr>
              <p:cNvSpPr>
                <a:spLocks noGrp="1" noRot="1" noChangeAspect="1" noMove="1" noResize="1" noEditPoints="1" noAdjustHandles="1" noChangeArrowheads="1" noChangeShapeType="1" noTextEdit="1"/>
              </p:cNvSpPr>
              <p:nvPr>
                <p:ph idx="1"/>
              </p:nvPr>
            </p:nvSpPr>
            <p:spPr>
              <a:xfrm>
                <a:off x="1522412" y="685800"/>
                <a:ext cx="9782801" cy="6019800"/>
              </a:xfrm>
              <a:blipFill>
                <a:blip r:embed="rId2"/>
                <a:stretch>
                  <a:fillRect l="-1994" t="-2533"/>
                </a:stretch>
              </a:blipFill>
            </p:spPr>
            <p:txBody>
              <a:bodyPr/>
              <a:lstStyle/>
              <a:p>
                <a:r>
                  <a:rPr lang="en-US">
                    <a:noFill/>
                  </a:rPr>
                  <a:t> </a:t>
                </a:r>
              </a:p>
            </p:txBody>
          </p:sp>
        </mc:Fallback>
      </mc:AlternateContent>
    </p:spTree>
    <p:extLst>
      <p:ext uri="{BB962C8B-B14F-4D97-AF65-F5344CB8AC3E}">
        <p14:creationId xmlns:p14="http://schemas.microsoft.com/office/powerpoint/2010/main" val="23466213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3BA7B-9289-0993-DC28-C437E91F378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E39B5B-03AB-99BA-FBF0-5AB30AAD2CA3}"/>
                  </a:ext>
                </a:extLst>
              </p:cNvPr>
              <p:cNvSpPr>
                <a:spLocks noGrp="1"/>
              </p:cNvSpPr>
              <p:nvPr>
                <p:ph idx="1"/>
              </p:nvPr>
            </p:nvSpPr>
            <p:spPr>
              <a:xfrm>
                <a:off x="1522412" y="685800"/>
                <a:ext cx="9782801" cy="6019800"/>
              </a:xfrm>
            </p:spPr>
            <p:txBody>
              <a:bodyPr>
                <a:normAutofit fontScale="92500"/>
              </a:bodyPr>
              <a:lstStyle/>
              <a:p>
                <a:pPr marL="0" indent="0">
                  <a:buNone/>
                </a:pPr>
                <a:r>
                  <a:rPr lang="en-US" sz="4000" dirty="0"/>
                  <a:t>Suppose that in 2021, the Department of Health plans to increase the coverage for Sabayon Patak Contra polio by 2% from the 2019 by 96% proportion. What should be the appropriate alternative </a:t>
                </a:r>
                <a14:m>
                  <m:oMath xmlns:m="http://schemas.openxmlformats.org/officeDocument/2006/math">
                    <m:d>
                      <m:dPr>
                        <m:ctrlPr>
                          <a:rPr lang="en-US" sz="4000" i="1" smtClean="0">
                            <a:latin typeface="Cambria Math" panose="02040503050406030204" pitchFamily="18" charset="0"/>
                          </a:rPr>
                        </m:ctrlPr>
                      </m:dPr>
                      <m:e>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i="1">
                                <a:latin typeface="Cambria Math" panose="02040503050406030204" pitchFamily="18" charset="0"/>
                              </a:rPr>
                              <m:t>𝑎</m:t>
                            </m:r>
                            <m:r>
                              <a:rPr lang="en-US" sz="4000" i="1">
                                <a:latin typeface="Cambria Math" panose="02040503050406030204" pitchFamily="18" charset="0"/>
                              </a:rPr>
                              <m:t> </m:t>
                            </m:r>
                          </m:sub>
                        </m:sSub>
                      </m:e>
                    </m:d>
                    <m:r>
                      <a:rPr lang="en-US" sz="4000" i="1">
                        <a:latin typeface="Cambria Math" panose="02040503050406030204" pitchFamily="18" charset="0"/>
                      </a:rPr>
                      <m:t> </m:t>
                    </m:r>
                  </m:oMath>
                </a14:m>
                <a:r>
                  <a:rPr lang="en-US" sz="4000" dirty="0"/>
                  <a:t>hypothesis </a:t>
                </a:r>
                <a:r>
                  <a:rPr lang="en-US" sz="4000" dirty="0" err="1"/>
                  <a:t>forr</a:t>
                </a:r>
                <a:r>
                  <a:rPr lang="en-US" sz="4000" dirty="0"/>
                  <a:t> the significance test of 2021 plan. </a:t>
                </a:r>
              </a:p>
              <a:p>
                <a:pPr marL="742950" indent="-742950">
                  <a:buAutoNum type="alphaLcPeriod"/>
                </a:pPr>
                <a14:m>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𝐻</m:t>
                        </m:r>
                      </m:e>
                      <m:sub>
                        <m:r>
                          <a:rPr lang="en-US" sz="4000" b="0" i="1" smtClean="0">
                            <a:latin typeface="Cambria Math" panose="02040503050406030204" pitchFamily="18" charset="0"/>
                          </a:rPr>
                          <m:t>𝑎</m:t>
                        </m:r>
                        <m:r>
                          <a:rPr lang="en-US" sz="4000" b="0" i="1" smtClean="0">
                            <a:latin typeface="Cambria Math" panose="02040503050406030204" pitchFamily="18" charset="0"/>
                          </a:rPr>
                          <m:t> </m:t>
                        </m:r>
                      </m:sub>
                    </m:sSub>
                    <m:r>
                      <a:rPr lang="en-US" sz="4000" b="0" i="1" smtClean="0">
                        <a:latin typeface="Cambria Math" panose="02040503050406030204" pitchFamily="18" charset="0"/>
                      </a:rPr>
                      <m:t>:</m:t>
                    </m:r>
                    <m:r>
                      <a:rPr lang="en-US" sz="4000" b="0" i="1" smtClean="0">
                        <a:latin typeface="Cambria Math" panose="02040503050406030204" pitchFamily="18" charset="0"/>
                      </a:rPr>
                      <m:t>𝑃</m:t>
                    </m:r>
                    <m:r>
                      <a:rPr lang="en-US" sz="4000" b="0" i="1" smtClean="0">
                        <a:latin typeface="Cambria Math" panose="02040503050406030204" pitchFamily="18" charset="0"/>
                        <a:ea typeface="Cambria Math" panose="02040503050406030204" pitchFamily="18" charset="0"/>
                      </a:rPr>
                      <m:t>=98%</m:t>
                    </m:r>
                  </m:oMath>
                </a14:m>
                <a:endParaRPr lang="en-US" sz="4000" b="0" dirty="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b="0" i="1" smtClean="0">
                            <a:latin typeface="Cambria Math" panose="02040503050406030204" pitchFamily="18" charset="0"/>
                          </a:rPr>
                          <m:t>𝑎</m:t>
                        </m:r>
                        <m:r>
                          <a:rPr lang="en-US" sz="4000" i="1">
                            <a:latin typeface="Cambria Math" panose="02040503050406030204" pitchFamily="18" charset="0"/>
                          </a:rPr>
                          <m:t> </m:t>
                        </m:r>
                      </m:sub>
                    </m:sSub>
                    <m:r>
                      <a:rPr lang="en-US" sz="4000" i="1">
                        <a:latin typeface="Cambria Math" panose="02040503050406030204" pitchFamily="18" charset="0"/>
                      </a:rPr>
                      <m:t>:</m:t>
                    </m:r>
                    <m:r>
                      <a:rPr lang="en-US" sz="4000" b="0" i="1" smtClean="0">
                        <a:latin typeface="Cambria Math" panose="02040503050406030204" pitchFamily="18" charset="0"/>
                      </a:rPr>
                      <m:t>𝑃</m:t>
                    </m:r>
                    <m:r>
                      <a:rPr lang="en-US" sz="400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98%</m:t>
                    </m:r>
                  </m:oMath>
                </a14:m>
                <a:endParaRPr lang="en-US" sz="4000" dirty="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b="0" i="1" smtClean="0">
                            <a:latin typeface="Cambria Math" panose="02040503050406030204" pitchFamily="18" charset="0"/>
                          </a:rPr>
                          <m:t>𝑎</m:t>
                        </m:r>
                        <m:r>
                          <a:rPr lang="en-US" sz="4000" i="1">
                            <a:latin typeface="Cambria Math" panose="02040503050406030204" pitchFamily="18" charset="0"/>
                          </a:rPr>
                          <m:t> </m:t>
                        </m:r>
                      </m:sub>
                    </m:sSub>
                    <m:r>
                      <a:rPr lang="en-US" sz="4000" i="1">
                        <a:latin typeface="Cambria Math" panose="02040503050406030204" pitchFamily="18" charset="0"/>
                      </a:rPr>
                      <m:t>:</m:t>
                    </m:r>
                    <m:r>
                      <a:rPr lang="en-US" sz="4000" b="0" i="1" smtClean="0">
                        <a:latin typeface="Cambria Math" panose="02040503050406030204" pitchFamily="18" charset="0"/>
                      </a:rPr>
                      <m:t>𝑃</m:t>
                    </m:r>
                    <m:r>
                      <a:rPr lang="en-US" sz="4000" i="1">
                        <a:latin typeface="Cambria Math" panose="02040503050406030204" pitchFamily="18" charset="0"/>
                        <a:ea typeface="Cambria Math" panose="02040503050406030204" pitchFamily="18" charset="0"/>
                      </a:rPr>
                      <m:t>&lt;</m:t>
                    </m:r>
                    <m:r>
                      <a:rPr lang="en-US" sz="4000" b="0" i="1" smtClean="0">
                        <a:latin typeface="Cambria Math" panose="02040503050406030204" pitchFamily="18" charset="0"/>
                        <a:ea typeface="Cambria Math" panose="02040503050406030204" pitchFamily="18" charset="0"/>
                      </a:rPr>
                      <m:t>98%</m:t>
                    </m:r>
                  </m:oMath>
                </a14:m>
                <a:endParaRPr lang="en-US" sz="4000" b="0" i="1" dirty="0">
                  <a:latin typeface="Cambria Math" panose="02040503050406030204" pitchFamily="18" charset="0"/>
                  <a:ea typeface="Cambria Math" panose="02040503050406030204" pitchFamily="18" charset="0"/>
                </a:endParaRPr>
              </a:p>
              <a:p>
                <a:pPr marL="742950" indent="-742950">
                  <a:buFont typeface="Euphemia" pitchFamily="34" charset="0"/>
                  <a:buAutoNum type="alphaLcPeriod"/>
                </a:pPr>
                <a14:m>
                  <m:oMath xmlns:m="http://schemas.openxmlformats.org/officeDocument/2006/math">
                    <m:sSub>
                      <m:sSubPr>
                        <m:ctrlPr>
                          <a:rPr lang="en-US" sz="4000" i="1">
                            <a:latin typeface="Cambria Math" panose="02040503050406030204" pitchFamily="18" charset="0"/>
                          </a:rPr>
                        </m:ctrlPr>
                      </m:sSubPr>
                      <m:e>
                        <m:r>
                          <a:rPr lang="en-US" sz="4000" i="1">
                            <a:latin typeface="Cambria Math" panose="02040503050406030204" pitchFamily="18" charset="0"/>
                          </a:rPr>
                          <m:t>𝐻</m:t>
                        </m:r>
                      </m:e>
                      <m:sub>
                        <m:r>
                          <a:rPr lang="en-US" sz="4000" b="0" i="1" smtClean="0">
                            <a:latin typeface="Cambria Math" panose="02040503050406030204" pitchFamily="18" charset="0"/>
                          </a:rPr>
                          <m:t>𝑎</m:t>
                        </m:r>
                        <m:r>
                          <a:rPr lang="en-US" sz="4000" i="1">
                            <a:latin typeface="Cambria Math" panose="02040503050406030204" pitchFamily="18" charset="0"/>
                          </a:rPr>
                          <m:t> </m:t>
                        </m:r>
                      </m:sub>
                    </m:sSub>
                    <m:r>
                      <a:rPr lang="en-US" sz="4000" i="1">
                        <a:latin typeface="Cambria Math" panose="02040503050406030204" pitchFamily="18" charset="0"/>
                      </a:rPr>
                      <m:t>:</m:t>
                    </m:r>
                    <m:r>
                      <a:rPr lang="en-US" sz="4000" b="0" i="1" smtClean="0">
                        <a:latin typeface="Cambria Math" panose="02040503050406030204" pitchFamily="18" charset="0"/>
                      </a:rPr>
                      <m:t>𝑃</m:t>
                    </m:r>
                    <m:r>
                      <a:rPr lang="en-US" sz="4000" i="1">
                        <a:latin typeface="Cambria Math" panose="02040503050406030204" pitchFamily="18" charset="0"/>
                        <a:ea typeface="Cambria Math" panose="02040503050406030204" pitchFamily="18" charset="0"/>
                      </a:rPr>
                      <m:t>&gt;</m:t>
                    </m:r>
                    <m:r>
                      <a:rPr lang="en-US" sz="4000" b="0" i="1" smtClean="0">
                        <a:latin typeface="Cambria Math" panose="02040503050406030204" pitchFamily="18" charset="0"/>
                        <a:ea typeface="Cambria Math" panose="02040503050406030204" pitchFamily="18" charset="0"/>
                      </a:rPr>
                      <m:t>98%</m:t>
                    </m:r>
                  </m:oMath>
                </a14:m>
                <a:endParaRPr lang="en-US" sz="4000" b="0" dirty="0">
                  <a:ea typeface="Cambria Math" panose="02040503050406030204" pitchFamily="18" charset="0"/>
                </a:endParaRPr>
              </a:p>
              <a:p>
                <a:pPr marL="742950" indent="-742950">
                  <a:buAutoNum type="alphaLcPeriod"/>
                </a:pPr>
                <a:endParaRPr lang="en-US" sz="4000" dirty="0"/>
              </a:p>
            </p:txBody>
          </p:sp>
        </mc:Choice>
        <mc:Fallback>
          <p:sp>
            <p:nvSpPr>
              <p:cNvPr id="3" name="Content Placeholder 2">
                <a:extLst>
                  <a:ext uri="{FF2B5EF4-FFF2-40B4-BE49-F238E27FC236}">
                    <a16:creationId xmlns:a16="http://schemas.microsoft.com/office/drawing/2014/main" id="{F8E39B5B-03AB-99BA-FBF0-5AB30AAD2CA3}"/>
                  </a:ext>
                </a:extLst>
              </p:cNvPr>
              <p:cNvSpPr>
                <a:spLocks noGrp="1" noRot="1" noChangeAspect="1" noMove="1" noResize="1" noEditPoints="1" noAdjustHandles="1" noChangeArrowheads="1" noChangeShapeType="1" noTextEdit="1"/>
              </p:cNvSpPr>
              <p:nvPr>
                <p:ph idx="1"/>
              </p:nvPr>
            </p:nvSpPr>
            <p:spPr>
              <a:xfrm>
                <a:off x="1522412" y="685800"/>
                <a:ext cx="9782801" cy="6019800"/>
              </a:xfrm>
              <a:blipFill>
                <a:blip r:embed="rId2"/>
                <a:stretch>
                  <a:fillRect l="-1994" t="-2533" r="-1433"/>
                </a:stretch>
              </a:blipFill>
            </p:spPr>
            <p:txBody>
              <a:bodyPr/>
              <a:lstStyle/>
              <a:p>
                <a:r>
                  <a:rPr lang="en-US">
                    <a:noFill/>
                  </a:rPr>
                  <a:t> </a:t>
                </a:r>
              </a:p>
            </p:txBody>
          </p:sp>
        </mc:Fallback>
      </mc:AlternateContent>
    </p:spTree>
    <p:extLst>
      <p:ext uri="{BB962C8B-B14F-4D97-AF65-F5344CB8AC3E}">
        <p14:creationId xmlns:p14="http://schemas.microsoft.com/office/powerpoint/2010/main" val="32039130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8C264-C1A7-8ECC-EC35-C49D9E552E46}"/>
              </a:ext>
            </a:extLst>
          </p:cNvPr>
          <p:cNvSpPr>
            <a:spLocks noGrp="1"/>
          </p:cNvSpPr>
          <p:nvPr>
            <p:ph type="title"/>
          </p:nvPr>
        </p:nvSpPr>
        <p:spPr>
          <a:xfrm>
            <a:off x="1593436" y="177800"/>
            <a:ext cx="9782801" cy="1239837"/>
          </a:xfrm>
        </p:spPr>
        <p:txBody>
          <a:bodyPr anchor="b">
            <a:normAutofit/>
          </a:bodyPr>
          <a:lstStyle/>
          <a:p>
            <a:r>
              <a:rPr lang="en-US" dirty="0"/>
              <a:t>Rejection Zone (T-test and Z-test)</a:t>
            </a:r>
          </a:p>
        </p:txBody>
      </p:sp>
      <p:pic>
        <p:nvPicPr>
          <p:cNvPr id="1026" name="Picture 2">
            <a:extLst>
              <a:ext uri="{FF2B5EF4-FFF2-40B4-BE49-F238E27FC236}">
                <a16:creationId xmlns:a16="http://schemas.microsoft.com/office/drawing/2014/main" id="{914C4785-1D5D-9D76-3CCB-DEB3213FCE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93436" y="1697299"/>
            <a:ext cx="9782801" cy="4377802"/>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84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B5FD8-096A-B459-B925-AE48ADFA5A8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B87C608-7DD1-03BE-2E8E-9ADBD0716AC4}"/>
                  </a:ext>
                </a:extLst>
              </p:cNvPr>
              <p:cNvSpPr>
                <a:spLocks noGrp="1"/>
              </p:cNvSpPr>
              <p:nvPr>
                <p:ph type="body" sz="half" idx="2"/>
              </p:nvPr>
            </p:nvSpPr>
            <p:spPr>
              <a:xfrm>
                <a:off x="836612" y="482600"/>
                <a:ext cx="3877172" cy="5867400"/>
              </a:xfrm>
            </p:spPr>
            <p:txBody>
              <a:bodyPr>
                <a:normAutofit/>
              </a:bodyPr>
              <a:lstStyle/>
              <a:p>
                <a:r>
                  <a:rPr lang="en-US" sz="3200" dirty="0"/>
                  <a:t>A store selling motorbikes takes an average of 68 days to sell one motorbike. Supposed that </a:t>
                </a:r>
                <a14:m>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=68</m:t>
                    </m:r>
                  </m:oMath>
                </a14:m>
                <a:r>
                  <a:rPr lang="en-US" sz="3200" dirty="0"/>
                  <a:t> and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b="0" i="1" smtClean="0">
                            <a:latin typeface="Cambria Math" panose="02040503050406030204" pitchFamily="18" charset="0"/>
                          </a:rPr>
                          <m:t>𝑎</m:t>
                        </m:r>
                      </m:sub>
                    </m:sSub>
                    <m:r>
                      <a:rPr lang="en-US" sz="3200" b="0" i="1" smtClean="0">
                        <a:latin typeface="Cambria Math" panose="02040503050406030204" pitchFamily="18" charset="0"/>
                      </a:rPr>
                      <m:t>&lt;</m:t>
                    </m:r>
                    <m:r>
                      <a:rPr lang="en-US" sz="3200" i="1">
                        <a:latin typeface="Cambria Math" panose="02040503050406030204" pitchFamily="18" charset="0"/>
                      </a:rPr>
                      <m:t>68</m:t>
                    </m:r>
                  </m:oMath>
                </a14:m>
                <a:r>
                  <a:rPr lang="en-US" sz="3200" dirty="0"/>
                  <a:t> are true, draw a normal curve and illustrate by shading the rejection zone</a:t>
                </a:r>
              </a:p>
            </p:txBody>
          </p:sp>
        </mc:Choice>
        <mc:Fallback>
          <p:sp>
            <p:nvSpPr>
              <p:cNvPr id="3" name="Content Placeholder 2">
                <a:extLst>
                  <a:ext uri="{FF2B5EF4-FFF2-40B4-BE49-F238E27FC236}">
                    <a16:creationId xmlns:a16="http://schemas.microsoft.com/office/drawing/2014/main" id="{BB87C608-7DD1-03BE-2E8E-9ADBD0716AC4}"/>
                  </a:ext>
                </a:extLst>
              </p:cNvPr>
              <p:cNvSpPr>
                <a:spLocks noGrp="1" noRot="1" noChangeAspect="1" noMove="1" noResize="1" noEditPoints="1" noAdjustHandles="1" noChangeArrowheads="1" noChangeShapeType="1" noTextEdit="1"/>
              </p:cNvSpPr>
              <p:nvPr>
                <p:ph type="body" sz="half" idx="2"/>
              </p:nvPr>
            </p:nvSpPr>
            <p:spPr>
              <a:xfrm>
                <a:off x="836612" y="482600"/>
                <a:ext cx="3877172" cy="5867400"/>
              </a:xfrm>
              <a:blipFill>
                <a:blip r:embed="rId2"/>
                <a:stretch>
                  <a:fillRect l="-3931" t="-2077" r="-8491"/>
                </a:stretch>
              </a:blipFill>
            </p:spPr>
            <p:txBody>
              <a:bodyPr/>
              <a:lstStyle/>
              <a:p>
                <a:r>
                  <a:rPr lang="en-US">
                    <a:noFill/>
                  </a:rPr>
                  <a:t> </a:t>
                </a:r>
              </a:p>
            </p:txBody>
          </p:sp>
        </mc:Fallback>
      </mc:AlternateContent>
    </p:spTree>
    <p:extLst>
      <p:ext uri="{BB962C8B-B14F-4D97-AF65-F5344CB8AC3E}">
        <p14:creationId xmlns:p14="http://schemas.microsoft.com/office/powerpoint/2010/main" val="2612649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1D961-99D7-6DE7-DD78-9701432EEEB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F061ACB-99CB-FD5F-979E-2ECB32A1A0E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58072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463B1-215A-17A2-98DB-CF6580CD59BA}"/>
            </a:ext>
          </a:extLst>
        </p:cNvPr>
        <p:cNvGrpSpPr/>
        <p:nvPr/>
      </p:nvGrpSpPr>
      <p:grpSpPr>
        <a:xfrm>
          <a:off x="0" y="0"/>
          <a:ext cx="0" cy="0"/>
          <a:chOff x="0" y="0"/>
          <a:chExt cx="0" cy="0"/>
        </a:xfrm>
      </p:grpSpPr>
      <p:pic>
        <p:nvPicPr>
          <p:cNvPr id="1030" name="Picture 6" descr="Mathematics is the language with which God has written the universe. -  Galileo - iFunny">
            <a:extLst>
              <a:ext uri="{FF2B5EF4-FFF2-40B4-BE49-F238E27FC236}">
                <a16:creationId xmlns:a16="http://schemas.microsoft.com/office/drawing/2014/main" id="{8E1FA08D-DE57-489E-4475-31D691AAA7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15" t="-426" r="370" b="3663"/>
          <a:stretch>
            <a:fillRect/>
          </a:stretch>
        </p:blipFill>
        <p:spPr bwMode="auto">
          <a:xfrm>
            <a:off x="1674812" y="723900"/>
            <a:ext cx="97536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28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F77D-57B0-58AC-1146-D72993AE0738}"/>
              </a:ext>
            </a:extLst>
          </p:cNvPr>
          <p:cNvSpPr>
            <a:spLocks noGrp="1"/>
          </p:cNvSpPr>
          <p:nvPr>
            <p:ph type="title"/>
          </p:nvPr>
        </p:nvSpPr>
        <p:spPr/>
        <p:txBody>
          <a:bodyPr/>
          <a:lstStyle/>
          <a:p>
            <a:endParaRPr lang="en-US"/>
          </a:p>
        </p:txBody>
      </p:sp>
      <p:pic>
        <p:nvPicPr>
          <p:cNvPr id="7170" name="Picture 2" descr="Send this to your friends and tell them why! 🤗">
            <a:extLst>
              <a:ext uri="{FF2B5EF4-FFF2-40B4-BE49-F238E27FC236}">
                <a16:creationId xmlns:a16="http://schemas.microsoft.com/office/drawing/2014/main" id="{1BB02CEF-E734-2E0F-398F-48E27689F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112" y="1676400"/>
            <a:ext cx="4800599" cy="4800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h education presentation with Pi  (widescreen).potx" id="{DF132673-7A8C-4FB7-A35E-0123B6C0D98B}" vid="{CCAAB50D-2EF2-4925-80C2-C83131AE58AC}"/>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Math education presentation with Pi  (widescreen)</Template>
  <TotalTime>541</TotalTime>
  <Words>1435</Words>
  <Application>Microsoft Office PowerPoint</Application>
  <PresentationFormat>Custom</PresentationFormat>
  <Paragraphs>164</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Bookman Old Style</vt:lpstr>
      <vt:lpstr>Cambria</vt:lpstr>
      <vt:lpstr>Cambria Math</vt:lpstr>
      <vt:lpstr>Euphemia</vt:lpstr>
      <vt:lpstr>Kristen ITC</vt:lpstr>
      <vt:lpstr>Math 16x9</vt:lpstr>
      <vt:lpstr>MATHEMATICS REVIEW SESSION FOR COLLEGE ENTRANCE EXAMINATIONS</vt:lpstr>
      <vt:lpstr>Effective ways to learn mathematics at home</vt:lpstr>
      <vt:lpstr>Practical tips for answering math problems during an examination.</vt:lpstr>
      <vt:lpstr>Practical tips for answering math problems during an examination.</vt:lpstr>
      <vt:lpstr>Practical tips for answering math problems during an examination.</vt:lpstr>
      <vt:lpstr>General Mathematics</vt:lpstr>
      <vt:lpstr>Problem #1 (Elimination Strategy)</vt:lpstr>
      <vt:lpstr>Problem #2 (Substitution and Check sign)</vt:lpstr>
      <vt:lpstr>Problem #3 (Same Concepts, Different Terms)</vt:lpstr>
      <vt:lpstr>Problem #4(Same Concepts, Different Terms, eliminate the obvious wrong option)</vt:lpstr>
      <vt:lpstr>Problem #5(Identifying patterns) </vt:lpstr>
      <vt:lpstr>Problem #6(Identifying patterns) </vt:lpstr>
      <vt:lpstr>Problem #6(Identifying patterns) </vt:lpstr>
      <vt:lpstr>Statistics</vt:lpstr>
      <vt:lpstr>Type I and Type II Errors</vt:lpstr>
      <vt:lpstr>Type I and Type II error </vt:lpstr>
      <vt:lpstr>Court Hearing </vt:lpstr>
      <vt:lpstr>Court Hearing </vt:lpstr>
      <vt:lpstr>Court Hearing </vt:lpstr>
      <vt:lpstr>Null and Alternative Hypothesis </vt:lpstr>
      <vt:lpstr>PowerPoint Presentation</vt:lpstr>
      <vt:lpstr>PowerPoint Presentation</vt:lpstr>
      <vt:lpstr>PowerPoint Presentation</vt:lpstr>
      <vt:lpstr>PowerPoint Presentation</vt:lpstr>
      <vt:lpstr>Rejection Zone (T-test and Z-test)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Achilles Untalasco</dc:creator>
  <cp:lastModifiedBy>Achilles Untalasco</cp:lastModifiedBy>
  <cp:revision>4</cp:revision>
  <dcterms:created xsi:type="dcterms:W3CDTF">2026-01-12T14:38:30Z</dcterms:created>
  <dcterms:modified xsi:type="dcterms:W3CDTF">2026-01-16T13:48:06Z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